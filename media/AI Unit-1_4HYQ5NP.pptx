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68"/>
  </p:notesMasterIdLst>
  <p:sldIdLst>
    <p:sldId id="256" r:id="rId2"/>
    <p:sldId id="304" r:id="rId3"/>
    <p:sldId id="257" r:id="rId4"/>
    <p:sldId id="258" r:id="rId5"/>
    <p:sldId id="272" r:id="rId6"/>
    <p:sldId id="259" r:id="rId7"/>
    <p:sldId id="305" r:id="rId8"/>
    <p:sldId id="306" r:id="rId9"/>
    <p:sldId id="307" r:id="rId10"/>
    <p:sldId id="314" r:id="rId11"/>
    <p:sldId id="315" r:id="rId12"/>
    <p:sldId id="308" r:id="rId13"/>
    <p:sldId id="309" r:id="rId14"/>
    <p:sldId id="310" r:id="rId15"/>
    <p:sldId id="311" r:id="rId16"/>
    <p:sldId id="312" r:id="rId17"/>
    <p:sldId id="313" r:id="rId18"/>
    <p:sldId id="260" r:id="rId19"/>
    <p:sldId id="316" r:id="rId20"/>
    <p:sldId id="317" r:id="rId21"/>
    <p:sldId id="319" r:id="rId22"/>
    <p:sldId id="320" r:id="rId23"/>
    <p:sldId id="321" r:id="rId24"/>
    <p:sldId id="261" r:id="rId25"/>
    <p:sldId id="262" r:id="rId26"/>
    <p:sldId id="263" r:id="rId27"/>
    <p:sldId id="264" r:id="rId28"/>
    <p:sldId id="266" r:id="rId29"/>
    <p:sldId id="267" r:id="rId30"/>
    <p:sldId id="268" r:id="rId31"/>
    <p:sldId id="269" r:id="rId32"/>
    <p:sldId id="273" r:id="rId33"/>
    <p:sldId id="270" r:id="rId34"/>
    <p:sldId id="271" r:id="rId35"/>
    <p:sldId id="274" r:id="rId36"/>
    <p:sldId id="275" r:id="rId37"/>
    <p:sldId id="276" r:id="rId38"/>
    <p:sldId id="277" r:id="rId39"/>
    <p:sldId id="278" r:id="rId40"/>
    <p:sldId id="279" r:id="rId41"/>
    <p:sldId id="280" r:id="rId42"/>
    <p:sldId id="281" r:id="rId43"/>
    <p:sldId id="282" r:id="rId44"/>
    <p:sldId id="283" r:id="rId45"/>
    <p:sldId id="303" r:id="rId46"/>
    <p:sldId id="302" r:id="rId47"/>
    <p:sldId id="322" r:id="rId48"/>
    <p:sldId id="323" r:id="rId49"/>
    <p:sldId id="324" r:id="rId50"/>
    <p:sldId id="285" r:id="rId51"/>
    <p:sldId id="286" r:id="rId52"/>
    <p:sldId id="287" r:id="rId53"/>
    <p:sldId id="288" r:id="rId54"/>
    <p:sldId id="289" r:id="rId55"/>
    <p:sldId id="290" r:id="rId56"/>
    <p:sldId id="291" r:id="rId57"/>
    <p:sldId id="292" r:id="rId58"/>
    <p:sldId id="293" r:id="rId59"/>
    <p:sldId id="294" r:id="rId60"/>
    <p:sldId id="295" r:id="rId61"/>
    <p:sldId id="296" r:id="rId62"/>
    <p:sldId id="297" r:id="rId63"/>
    <p:sldId id="298" r:id="rId64"/>
    <p:sldId id="299" r:id="rId65"/>
    <p:sldId id="300" r:id="rId66"/>
    <p:sldId id="301" r:id="rId6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CC"/>
    <a:srgbClr val="008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1594" y="62"/>
      </p:cViewPr>
      <p:guideLst>
        <p:guide orient="horz" pos="2160"/>
        <p:guide pos="2880"/>
      </p:guideLst>
    </p:cSldViewPr>
  </p:slideViewPr>
  <p:notesTextViewPr>
    <p:cViewPr>
      <p:scale>
        <a:sx n="1" d="1"/>
        <a:sy n="1" d="1"/>
      </p:scale>
      <p:origin x="0" y="0"/>
    </p:cViewPr>
  </p:notesTextViewPr>
  <p:sorterViewPr>
    <p:cViewPr varScale="1">
      <p:scale>
        <a:sx n="100" d="100"/>
        <a:sy n="100" d="100"/>
      </p:scale>
      <p:origin x="0" y="-6197"/>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5BC4CE9-0418-43BC-A741-3B74FDA97678}" type="datetimeFigureOut">
              <a:rPr lang="en-IN" smtClean="0"/>
              <a:t>08-12-2025</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4DC2D63-3451-4AB5-8029-353DE03F8540}" type="slidenum">
              <a:rPr lang="en-IN" smtClean="0"/>
              <a:t>‹#›</a:t>
            </a:fld>
            <a:endParaRPr lang="en-IN"/>
          </a:p>
        </p:txBody>
      </p:sp>
    </p:spTree>
    <p:extLst>
      <p:ext uri="{BB962C8B-B14F-4D97-AF65-F5344CB8AC3E}">
        <p14:creationId xmlns:p14="http://schemas.microsoft.com/office/powerpoint/2010/main" val="12204537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905000"/>
            <a:ext cx="7543800" cy="2593975"/>
          </a:xfrm>
        </p:spPr>
        <p:txBody>
          <a:bodyPr anchor="b"/>
          <a:lstStyle>
            <a:lvl1pPr>
              <a:defRPr sz="6600">
                <a:ln>
                  <a:noFill/>
                </a:ln>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685800" y="4572000"/>
            <a:ext cx="6461760" cy="1066800"/>
          </a:xfrm>
        </p:spPr>
        <p:txBody>
          <a:bodyPr anchor="t">
            <a:normAutofit/>
          </a:bodyPr>
          <a:lstStyle>
            <a:lvl1pPr marL="0" indent="0" algn="l">
              <a:buNone/>
              <a:defRPr sz="20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C52E73E-BAA0-4914-A871-165DF17AC615}" type="datetime1">
              <a:rPr lang="en-IN" smtClean="0"/>
              <a:t>08-12-2025</a:t>
            </a:fld>
            <a:endParaRPr lang="en-IN"/>
          </a:p>
        </p:txBody>
      </p:sp>
      <p:sp>
        <p:nvSpPr>
          <p:cNvPr id="5" name="Footer Placeholder 4"/>
          <p:cNvSpPr>
            <a:spLocks noGrp="1"/>
          </p:cNvSpPr>
          <p:nvPr>
            <p:ph type="ftr" sz="quarter" idx="11"/>
          </p:nvPr>
        </p:nvSpPr>
        <p:spPr/>
        <p:txBody>
          <a:bodyPr/>
          <a:lstStyle/>
          <a:p>
            <a:r>
              <a:rPr lang="en-IN"/>
              <a:t>UNIT I</a:t>
            </a:r>
          </a:p>
        </p:txBody>
      </p:sp>
      <p:sp>
        <p:nvSpPr>
          <p:cNvPr id="6" name="Slide Number Placeholder 5"/>
          <p:cNvSpPr>
            <a:spLocks noGrp="1"/>
          </p:cNvSpPr>
          <p:nvPr>
            <p:ph type="sldNum" sz="quarter" idx="12"/>
          </p:nvPr>
        </p:nvSpPr>
        <p:spPr/>
        <p:txBody>
          <a:bodyPr/>
          <a:lstStyle/>
          <a:p>
            <a:fld id="{3467BBCD-0D13-431F-A782-7BE6456130A5}"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CFB7FE9-506D-46F8-A455-2C392353A0AE}" type="datetime1">
              <a:rPr lang="en-IN" smtClean="0"/>
              <a:t>08-12-2025</a:t>
            </a:fld>
            <a:endParaRPr lang="en-IN"/>
          </a:p>
        </p:txBody>
      </p:sp>
      <p:sp>
        <p:nvSpPr>
          <p:cNvPr id="5" name="Footer Placeholder 4"/>
          <p:cNvSpPr>
            <a:spLocks noGrp="1"/>
          </p:cNvSpPr>
          <p:nvPr>
            <p:ph type="ftr" sz="quarter" idx="11"/>
          </p:nvPr>
        </p:nvSpPr>
        <p:spPr/>
        <p:txBody>
          <a:bodyPr/>
          <a:lstStyle/>
          <a:p>
            <a:r>
              <a:rPr lang="en-IN"/>
              <a:t>UNIT I</a:t>
            </a:r>
          </a:p>
        </p:txBody>
      </p:sp>
      <p:sp>
        <p:nvSpPr>
          <p:cNvPr id="6" name="Slide Number Placeholder 5"/>
          <p:cNvSpPr>
            <a:spLocks noGrp="1"/>
          </p:cNvSpPr>
          <p:nvPr>
            <p:ph type="sldNum" sz="quarter" idx="12"/>
          </p:nvPr>
        </p:nvSpPr>
        <p:spPr/>
        <p:txBody>
          <a:bodyPr/>
          <a:lstStyle/>
          <a:p>
            <a:fld id="{3467BBCD-0D13-431F-A782-7BE6456130A5}"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5486400"/>
            <a:ext cx="7659687" cy="1168400"/>
          </a:xfrm>
        </p:spPr>
        <p:txBody>
          <a:bodyPr anchor="t"/>
          <a:lstStyle>
            <a:lvl1pPr algn="l">
              <a:defRPr sz="3600" b="0" cap="all"/>
            </a:lvl1pPr>
          </a:lstStyle>
          <a:p>
            <a:r>
              <a:rPr lang="en-US"/>
              <a:t>Click to edit Master title style</a:t>
            </a:r>
            <a:endParaRPr lang="en-US" dirty="0"/>
          </a:p>
        </p:txBody>
      </p:sp>
      <p:sp>
        <p:nvSpPr>
          <p:cNvPr id="3" name="Text Placeholder 2"/>
          <p:cNvSpPr>
            <a:spLocks noGrp="1"/>
          </p:cNvSpPr>
          <p:nvPr>
            <p:ph type="body" idx="1"/>
          </p:nvPr>
        </p:nvSpPr>
        <p:spPr>
          <a:xfrm>
            <a:off x="722313" y="3852863"/>
            <a:ext cx="6135687" cy="1633538"/>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470F894-6B7A-48CA-AE2D-C73197FB44CB}" type="datetime1">
              <a:rPr lang="en-IN" smtClean="0"/>
              <a:t>08-12-2025</a:t>
            </a:fld>
            <a:endParaRPr lang="en-IN"/>
          </a:p>
        </p:txBody>
      </p:sp>
      <p:sp>
        <p:nvSpPr>
          <p:cNvPr id="5" name="Footer Placeholder 4"/>
          <p:cNvSpPr>
            <a:spLocks noGrp="1"/>
          </p:cNvSpPr>
          <p:nvPr>
            <p:ph type="ftr" sz="quarter" idx="11"/>
          </p:nvPr>
        </p:nvSpPr>
        <p:spPr/>
        <p:txBody>
          <a:bodyPr/>
          <a:lstStyle/>
          <a:p>
            <a:r>
              <a:rPr lang="en-IN"/>
              <a:t>UNIT I</a:t>
            </a:r>
          </a:p>
        </p:txBody>
      </p:sp>
      <p:sp>
        <p:nvSpPr>
          <p:cNvPr id="6" name="Slide Number Placeholder 5"/>
          <p:cNvSpPr>
            <a:spLocks noGrp="1"/>
          </p:cNvSpPr>
          <p:nvPr>
            <p:ph type="sldNum" sz="quarter" idx="12"/>
          </p:nvPr>
        </p:nvSpPr>
        <p:spPr/>
        <p:txBody>
          <a:bodyPr/>
          <a:lstStyle/>
          <a:p>
            <a:fld id="{3467BBCD-0D13-431F-A782-7BE6456130A5}"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9600"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6E166DC-A814-4ECC-817A-F89AC4B0686E}" type="datetime1">
              <a:rPr lang="en-IN" smtClean="0"/>
              <a:t>08-12-2025</a:t>
            </a:fld>
            <a:endParaRPr lang="en-IN"/>
          </a:p>
        </p:txBody>
      </p:sp>
      <p:sp>
        <p:nvSpPr>
          <p:cNvPr id="6" name="Footer Placeholder 5"/>
          <p:cNvSpPr>
            <a:spLocks noGrp="1"/>
          </p:cNvSpPr>
          <p:nvPr>
            <p:ph type="ftr" sz="quarter" idx="11"/>
          </p:nvPr>
        </p:nvSpPr>
        <p:spPr/>
        <p:txBody>
          <a:bodyPr/>
          <a:lstStyle/>
          <a:p>
            <a:r>
              <a:rPr lang="en-IN"/>
              <a:t>UNIT I</a:t>
            </a:r>
          </a:p>
        </p:txBody>
      </p:sp>
      <p:sp>
        <p:nvSpPr>
          <p:cNvPr id="7" name="Slide Number Placeholder 6"/>
          <p:cNvSpPr>
            <a:spLocks noGrp="1"/>
          </p:cNvSpPr>
          <p:nvPr>
            <p:ph type="sldNum" sz="quarter" idx="12"/>
          </p:nvPr>
        </p:nvSpPr>
        <p:spPr/>
        <p:txBody>
          <a:bodyPr/>
          <a:lstStyle/>
          <a:p>
            <a:fld id="{3467BBCD-0D13-431F-A782-7BE6456130A5}"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419600"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419600"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12CCBFE-F27A-462A-A6D3-340D62620E4E}" type="datetime1">
              <a:rPr lang="en-IN" smtClean="0"/>
              <a:t>08-12-2025</a:t>
            </a:fld>
            <a:endParaRPr lang="en-IN"/>
          </a:p>
        </p:txBody>
      </p:sp>
      <p:sp>
        <p:nvSpPr>
          <p:cNvPr id="8" name="Footer Placeholder 7"/>
          <p:cNvSpPr>
            <a:spLocks noGrp="1"/>
          </p:cNvSpPr>
          <p:nvPr>
            <p:ph type="ftr" sz="quarter" idx="11"/>
          </p:nvPr>
        </p:nvSpPr>
        <p:spPr/>
        <p:txBody>
          <a:bodyPr/>
          <a:lstStyle/>
          <a:p>
            <a:r>
              <a:rPr lang="en-IN"/>
              <a:t>UNIT I</a:t>
            </a:r>
          </a:p>
        </p:txBody>
      </p:sp>
      <p:sp>
        <p:nvSpPr>
          <p:cNvPr id="9" name="Slide Number Placeholder 8"/>
          <p:cNvSpPr>
            <a:spLocks noGrp="1"/>
          </p:cNvSpPr>
          <p:nvPr>
            <p:ph type="sldNum" sz="quarter" idx="12"/>
          </p:nvPr>
        </p:nvSpPr>
        <p:spPr/>
        <p:txBody>
          <a:bodyPr/>
          <a:lstStyle/>
          <a:p>
            <a:fld id="{3467BBCD-0D13-431F-A782-7BE6456130A5}"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EFA4F52-168F-4367-A99B-5D3D3D61AAA6}" type="datetime1">
              <a:rPr lang="en-IN" smtClean="0"/>
              <a:t>08-12-2025</a:t>
            </a:fld>
            <a:endParaRPr lang="en-IN"/>
          </a:p>
        </p:txBody>
      </p:sp>
      <p:sp>
        <p:nvSpPr>
          <p:cNvPr id="4" name="Footer Placeholder 3"/>
          <p:cNvSpPr>
            <a:spLocks noGrp="1"/>
          </p:cNvSpPr>
          <p:nvPr>
            <p:ph type="ftr" sz="quarter" idx="11"/>
          </p:nvPr>
        </p:nvSpPr>
        <p:spPr/>
        <p:txBody>
          <a:bodyPr/>
          <a:lstStyle/>
          <a:p>
            <a:r>
              <a:rPr lang="en-IN"/>
              <a:t>UNIT I</a:t>
            </a:r>
          </a:p>
        </p:txBody>
      </p:sp>
      <p:sp>
        <p:nvSpPr>
          <p:cNvPr id="5" name="Slide Number Placeholder 4"/>
          <p:cNvSpPr>
            <a:spLocks noGrp="1"/>
          </p:cNvSpPr>
          <p:nvPr>
            <p:ph type="sldNum" sz="quarter" idx="12"/>
          </p:nvPr>
        </p:nvSpPr>
        <p:spPr/>
        <p:txBody>
          <a:bodyPr/>
          <a:lstStyle/>
          <a:p>
            <a:fld id="{3467BBCD-0D13-431F-A782-7BE6456130A5}"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3ADAB7B-230B-4F81-8BD2-62CEB577E02B}" type="datetime1">
              <a:rPr lang="en-IN" smtClean="0"/>
              <a:t>08-12-2025</a:t>
            </a:fld>
            <a:endParaRPr lang="en-IN"/>
          </a:p>
        </p:txBody>
      </p:sp>
      <p:sp>
        <p:nvSpPr>
          <p:cNvPr id="3" name="Footer Placeholder 2"/>
          <p:cNvSpPr>
            <a:spLocks noGrp="1"/>
          </p:cNvSpPr>
          <p:nvPr>
            <p:ph type="ftr" sz="quarter" idx="11"/>
          </p:nvPr>
        </p:nvSpPr>
        <p:spPr/>
        <p:txBody>
          <a:bodyPr/>
          <a:lstStyle/>
          <a:p>
            <a:r>
              <a:rPr lang="en-IN"/>
              <a:t>UNIT I</a:t>
            </a:r>
          </a:p>
        </p:txBody>
      </p:sp>
      <p:sp>
        <p:nvSpPr>
          <p:cNvPr id="4" name="Slide Number Placeholder 3"/>
          <p:cNvSpPr>
            <a:spLocks noGrp="1"/>
          </p:cNvSpPr>
          <p:nvPr>
            <p:ph type="sldNum" sz="quarter" idx="12"/>
          </p:nvPr>
        </p:nvSpPr>
        <p:spPr/>
        <p:txBody>
          <a:bodyPr/>
          <a:lstStyle/>
          <a:p>
            <a:fld id="{3467BBCD-0D13-431F-A782-7BE6456130A5}"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1" y="5495544"/>
            <a:ext cx="7772400" cy="594360"/>
          </a:xfrm>
        </p:spPr>
        <p:txBody>
          <a:bodyPr anchor="b"/>
          <a:lstStyle>
            <a:lvl1pPr algn="ctr">
              <a:defRPr sz="2200" b="1"/>
            </a:lvl1pPr>
          </a:lstStyle>
          <a:p>
            <a:r>
              <a:rPr lang="en-US"/>
              <a:t>Click to edit Master title style</a:t>
            </a:r>
            <a:endParaRPr lang="en-US" dirty="0"/>
          </a:p>
        </p:txBody>
      </p:sp>
      <p:sp>
        <p:nvSpPr>
          <p:cNvPr id="4" name="Text Placeholder 3"/>
          <p:cNvSpPr>
            <a:spLocks noGrp="1"/>
          </p:cNvSpPr>
          <p:nvPr>
            <p:ph type="body" sz="half" idx="2"/>
          </p:nvPr>
        </p:nvSpPr>
        <p:spPr>
          <a:xfrm>
            <a:off x="304799" y="6096000"/>
            <a:ext cx="7772401" cy="6096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9BBB255-F730-48E5-99E2-6EBDB6DADEA5}" type="datetime1">
              <a:rPr lang="en-IN" smtClean="0"/>
              <a:t>08-12-2025</a:t>
            </a:fld>
            <a:endParaRPr lang="en-IN"/>
          </a:p>
        </p:txBody>
      </p:sp>
      <p:sp>
        <p:nvSpPr>
          <p:cNvPr id="6" name="Footer Placeholder 5"/>
          <p:cNvSpPr>
            <a:spLocks noGrp="1"/>
          </p:cNvSpPr>
          <p:nvPr>
            <p:ph type="ftr" sz="quarter" idx="11"/>
          </p:nvPr>
        </p:nvSpPr>
        <p:spPr/>
        <p:txBody>
          <a:bodyPr/>
          <a:lstStyle/>
          <a:p>
            <a:r>
              <a:rPr lang="en-IN"/>
              <a:t>UNIT I</a:t>
            </a:r>
          </a:p>
        </p:txBody>
      </p:sp>
      <p:sp>
        <p:nvSpPr>
          <p:cNvPr id="7" name="Slide Number Placeholder 6"/>
          <p:cNvSpPr>
            <a:spLocks noGrp="1"/>
          </p:cNvSpPr>
          <p:nvPr>
            <p:ph type="sldNum" sz="quarter" idx="12"/>
          </p:nvPr>
        </p:nvSpPr>
        <p:spPr/>
        <p:txBody>
          <a:bodyPr/>
          <a:lstStyle/>
          <a:p>
            <a:fld id="{3467BBCD-0D13-431F-A782-7BE6456130A5}" type="slidenum">
              <a:rPr lang="en-IN" smtClean="0"/>
              <a:t>‹#›</a:t>
            </a:fld>
            <a:endParaRPr lang="en-IN"/>
          </a:p>
        </p:txBody>
      </p:sp>
      <p:sp>
        <p:nvSpPr>
          <p:cNvPr id="9" name="Content Placeholder 8"/>
          <p:cNvSpPr>
            <a:spLocks noGrp="1"/>
          </p:cNvSpPr>
          <p:nvPr>
            <p:ph sz="quarter" idx="13"/>
          </p:nvPr>
        </p:nvSpPr>
        <p:spPr>
          <a:xfrm>
            <a:off x="304800" y="381000"/>
            <a:ext cx="7772400" cy="49428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1752" y="5495278"/>
            <a:ext cx="7772400" cy="594626"/>
          </a:xfrm>
        </p:spPr>
        <p:txBody>
          <a:bodyPr anchor="b"/>
          <a:lstStyle>
            <a:lvl1pPr algn="ctr">
              <a:defRPr sz="2200" b="1">
                <a:ln>
                  <a:noFill/>
                </a:ln>
                <a:solidFill>
                  <a:schemeClr val="tx2"/>
                </a:solidFill>
              </a:defRPr>
            </a:lvl1pPr>
          </a:lstStyle>
          <a:p>
            <a:r>
              <a:rPr lang="en-US"/>
              <a:t>Click to edit Master title style</a:t>
            </a:r>
            <a:endParaRPr lang="en-US" dirty="0"/>
          </a:p>
        </p:txBody>
      </p:sp>
      <p:sp>
        <p:nvSpPr>
          <p:cNvPr id="3" name="Picture Placeholder 2"/>
          <p:cNvSpPr>
            <a:spLocks noGrp="1"/>
          </p:cNvSpPr>
          <p:nvPr>
            <p:ph type="pic" idx="1"/>
          </p:nvPr>
        </p:nvSpPr>
        <p:spPr>
          <a:xfrm>
            <a:off x="0" y="0"/>
            <a:ext cx="84582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301752" y="6096000"/>
            <a:ext cx="7772400" cy="612648"/>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FEE3ACC2-EBC4-4EF7-B54E-336A123A81AF}" type="datetime1">
              <a:rPr lang="en-IN" smtClean="0"/>
              <a:t>08-12-2025</a:t>
            </a:fld>
            <a:endParaRPr lang="en-IN"/>
          </a:p>
        </p:txBody>
      </p:sp>
      <p:sp>
        <p:nvSpPr>
          <p:cNvPr id="9" name="Slide Number Placeholder 8"/>
          <p:cNvSpPr>
            <a:spLocks noGrp="1"/>
          </p:cNvSpPr>
          <p:nvPr>
            <p:ph type="sldNum" sz="quarter" idx="11"/>
          </p:nvPr>
        </p:nvSpPr>
        <p:spPr/>
        <p:txBody>
          <a:bodyPr/>
          <a:lstStyle/>
          <a:p>
            <a:fld id="{3467BBCD-0D13-431F-A782-7BE6456130A5}" type="slidenum">
              <a:rPr lang="en-IN" smtClean="0"/>
              <a:t>‹#›</a:t>
            </a:fld>
            <a:endParaRPr lang="en-IN"/>
          </a:p>
        </p:txBody>
      </p:sp>
      <p:sp>
        <p:nvSpPr>
          <p:cNvPr id="10" name="Footer Placeholder 9"/>
          <p:cNvSpPr>
            <a:spLocks noGrp="1"/>
          </p:cNvSpPr>
          <p:nvPr>
            <p:ph type="ftr" sz="quarter" idx="12"/>
          </p:nvPr>
        </p:nvSpPr>
        <p:spPr/>
        <p:txBody>
          <a:bodyPr/>
          <a:lstStyle/>
          <a:p>
            <a:r>
              <a:rPr lang="en-IN"/>
              <a:t>UNIT I</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3840753-E0B5-462E-A009-984919D1C8A0}" type="datetime1">
              <a:rPr lang="en-IN" smtClean="0"/>
              <a:t>08-12-2025</a:t>
            </a:fld>
            <a:endParaRPr lang="en-IN"/>
          </a:p>
        </p:txBody>
      </p:sp>
      <p:sp>
        <p:nvSpPr>
          <p:cNvPr id="5" name="Footer Placeholder 4"/>
          <p:cNvSpPr>
            <a:spLocks noGrp="1"/>
          </p:cNvSpPr>
          <p:nvPr>
            <p:ph type="ftr" sz="quarter" idx="11"/>
          </p:nvPr>
        </p:nvSpPr>
        <p:spPr/>
        <p:txBody>
          <a:bodyPr/>
          <a:lstStyle/>
          <a:p>
            <a:r>
              <a:rPr lang="en-IN"/>
              <a:t>UNIT I</a:t>
            </a:r>
          </a:p>
        </p:txBody>
      </p:sp>
      <p:sp>
        <p:nvSpPr>
          <p:cNvPr id="6" name="Slide Number Placeholder 5"/>
          <p:cNvSpPr>
            <a:spLocks noGrp="1"/>
          </p:cNvSpPr>
          <p:nvPr>
            <p:ph type="sldNum" sz="quarter" idx="12"/>
          </p:nvPr>
        </p:nvSpPr>
        <p:spPr/>
        <p:txBody>
          <a:bodyPr/>
          <a:lstStyle/>
          <a:p>
            <a:fld id="{3467BBCD-0D13-431F-A782-7BE6456130A5}"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1752600" cy="58515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7A6B3B9-E99A-45A3-BD78-F666F324E258}" type="datetime1">
              <a:rPr lang="en-IN" smtClean="0"/>
              <a:t>08-12-2025</a:t>
            </a:fld>
            <a:endParaRPr lang="en-IN"/>
          </a:p>
        </p:txBody>
      </p:sp>
      <p:sp>
        <p:nvSpPr>
          <p:cNvPr id="5" name="Footer Placeholder 4"/>
          <p:cNvSpPr>
            <a:spLocks noGrp="1"/>
          </p:cNvSpPr>
          <p:nvPr>
            <p:ph type="ftr" sz="quarter" idx="11"/>
          </p:nvPr>
        </p:nvSpPr>
        <p:spPr/>
        <p:txBody>
          <a:bodyPr/>
          <a:lstStyle/>
          <a:p>
            <a:r>
              <a:rPr lang="en-IN"/>
              <a:t>UNIT I</a:t>
            </a:r>
          </a:p>
        </p:txBody>
      </p:sp>
      <p:sp>
        <p:nvSpPr>
          <p:cNvPr id="6" name="Slide Number Placeholder 5"/>
          <p:cNvSpPr>
            <a:spLocks noGrp="1"/>
          </p:cNvSpPr>
          <p:nvPr>
            <p:ph type="sldNum" sz="quarter" idx="12"/>
          </p:nvPr>
        </p:nvSpPr>
        <p:spPr/>
        <p:txBody>
          <a:bodyPr/>
          <a:lstStyle/>
          <a:p>
            <a:fld id="{3467BBCD-0D13-431F-A782-7BE6456130A5}"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7620000" cy="1143000"/>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457200" y="1600200"/>
            <a:ext cx="7620000" cy="4800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p:nvSpPr>
        <p:spPr>
          <a:xfrm>
            <a:off x="8458200" y="0"/>
            <a:ext cx="6858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8458200" y="5486400"/>
            <a:ext cx="685800" cy="685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p:cNvSpPr>
            <a:spLocks noGrp="1"/>
          </p:cNvSpPr>
          <p:nvPr>
            <p:ph type="sldNum" sz="quarter" idx="4"/>
          </p:nvPr>
        </p:nvSpPr>
        <p:spPr>
          <a:xfrm>
            <a:off x="8531788" y="5648960"/>
            <a:ext cx="548640" cy="396240"/>
          </a:xfrm>
          <a:prstGeom prst="bracketPair">
            <a:avLst>
              <a:gd name="adj" fmla="val 17949"/>
            </a:avLst>
          </a:prstGeom>
          <a:ln w="19050">
            <a:solidFill>
              <a:srgbClr val="FFFFFF"/>
            </a:solidFill>
          </a:ln>
        </p:spPr>
        <p:txBody>
          <a:bodyPr vert="horz" lIns="0" tIns="0" rIns="0" bIns="0" rtlCol="0" anchor="ctr"/>
          <a:lstStyle>
            <a:lvl1pPr algn="ctr">
              <a:defRPr sz="1800">
                <a:solidFill>
                  <a:srgbClr val="FFFFFF"/>
                </a:solidFill>
              </a:defRPr>
            </a:lvl1pPr>
          </a:lstStyle>
          <a:p>
            <a:fld id="{3467BBCD-0D13-431F-A782-7BE6456130A5}" type="slidenum">
              <a:rPr lang="en-IN" smtClean="0"/>
              <a:t>‹#›</a:t>
            </a:fld>
            <a:endParaRPr lang="en-IN"/>
          </a:p>
        </p:txBody>
      </p:sp>
      <p:sp>
        <p:nvSpPr>
          <p:cNvPr id="5" name="Footer Placeholder 4"/>
          <p:cNvSpPr>
            <a:spLocks noGrp="1"/>
          </p:cNvSpPr>
          <p:nvPr>
            <p:ph type="ftr" sz="quarter" idx="3"/>
          </p:nvPr>
        </p:nvSpPr>
        <p:spPr>
          <a:xfrm rot="16200000">
            <a:off x="7586910" y="4048760"/>
            <a:ext cx="2367281" cy="365760"/>
          </a:xfrm>
          <a:prstGeom prst="rect">
            <a:avLst/>
          </a:prstGeom>
        </p:spPr>
        <p:txBody>
          <a:bodyPr vert="horz" lIns="91440" tIns="45720" rIns="91440" bIns="45720" rtlCol="0" anchor="ctr"/>
          <a:lstStyle>
            <a:lvl1pPr algn="r">
              <a:defRPr sz="1200">
                <a:solidFill>
                  <a:schemeClr val="bg2"/>
                </a:solidFill>
              </a:defRPr>
            </a:lvl1pPr>
          </a:lstStyle>
          <a:p>
            <a:r>
              <a:rPr lang="en-IN"/>
              <a:t>UNIT I</a:t>
            </a:r>
          </a:p>
        </p:txBody>
      </p:sp>
      <p:sp>
        <p:nvSpPr>
          <p:cNvPr id="4" name="Date Placeholder 3"/>
          <p:cNvSpPr>
            <a:spLocks noGrp="1"/>
          </p:cNvSpPr>
          <p:nvPr>
            <p:ph type="dt" sz="half" idx="2"/>
          </p:nvPr>
        </p:nvSpPr>
        <p:spPr>
          <a:xfrm rot="16200000">
            <a:off x="7551351" y="1645920"/>
            <a:ext cx="2438399" cy="365760"/>
          </a:xfrm>
          <a:prstGeom prst="rect">
            <a:avLst/>
          </a:prstGeom>
        </p:spPr>
        <p:txBody>
          <a:bodyPr vert="horz" lIns="91440" tIns="45720" rIns="91440" bIns="45720" rtlCol="0" anchor="ctr"/>
          <a:lstStyle>
            <a:lvl1pPr algn="l">
              <a:defRPr sz="1200">
                <a:solidFill>
                  <a:schemeClr val="bg2"/>
                </a:solidFill>
              </a:defRPr>
            </a:lvl1pPr>
          </a:lstStyle>
          <a:p>
            <a:fld id="{C2476002-1C4C-43EE-92F8-F8B7C53A799C}" type="datetime1">
              <a:rPr lang="en-IN" smtClean="0"/>
              <a:t>08-12-2025</a:t>
            </a:fld>
            <a:endParaRPr lang="en-IN"/>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dt="0"/>
  <p:txStyles>
    <p:titleStyle>
      <a:lvl1pPr algn="l" defTabSz="914400" rtl="0" eaLnBrk="1" latinLnBrk="0" hangingPunct="1">
        <a:spcBef>
          <a:spcPct val="0"/>
        </a:spcBef>
        <a:buNone/>
        <a:defRPr sz="4600" kern="1200" cap="none" spc="-100" baseline="0">
          <a:ln>
            <a:noFill/>
          </a:ln>
          <a:solidFill>
            <a:schemeClr val="tx2"/>
          </a:solidFill>
          <a:effectLst/>
          <a:latin typeface="+mj-lt"/>
          <a:ea typeface="+mj-ea"/>
          <a:cs typeface="+mj-cs"/>
        </a:defRPr>
      </a:lvl1pPr>
    </p:titleStyle>
    <p:body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Autofit/>
          </a:bodyPr>
          <a:lstStyle/>
          <a:p>
            <a:br>
              <a:rPr lang="en-IN" dirty="0"/>
            </a:br>
            <a:r>
              <a:rPr lang="en-IN" sz="3200" b="1" dirty="0"/>
              <a:t>CSEN2031 - </a:t>
            </a:r>
            <a:br>
              <a:rPr lang="en-IN" sz="3200" dirty="0"/>
            </a:br>
            <a:r>
              <a:rPr lang="en-US" sz="3200" b="1" dirty="0"/>
              <a:t>ARTIFICIAL INTELLIGENCE</a:t>
            </a:r>
            <a:br>
              <a:rPr lang="en-IN" sz="3200" dirty="0"/>
            </a:br>
            <a:r>
              <a:rPr lang="en-IN" sz="3200" dirty="0"/>
              <a:t>UNIT I</a:t>
            </a:r>
            <a:br>
              <a:rPr lang="en-IN" sz="3200" dirty="0"/>
            </a:br>
            <a:r>
              <a:rPr lang="en-IN" sz="3200" dirty="0"/>
              <a:t>INTRODUCTION</a:t>
            </a:r>
          </a:p>
        </p:txBody>
      </p:sp>
      <p:sp>
        <p:nvSpPr>
          <p:cNvPr id="3" name="Subtitle 2"/>
          <p:cNvSpPr>
            <a:spLocks noGrp="1"/>
          </p:cNvSpPr>
          <p:nvPr>
            <p:ph type="subTitle" idx="1"/>
          </p:nvPr>
        </p:nvSpPr>
        <p:spPr/>
        <p:txBody>
          <a:bodyPr/>
          <a:lstStyle/>
          <a:p>
            <a:r>
              <a:rPr lang="en-IN" dirty="0" err="1"/>
              <a:t>Dr.</a:t>
            </a:r>
            <a:r>
              <a:rPr lang="en-IN" dirty="0"/>
              <a:t> M. Subramaniam,</a:t>
            </a:r>
          </a:p>
          <a:p>
            <a:r>
              <a:rPr lang="en-IN" dirty="0"/>
              <a:t>Professor, Dept. of CSE</a:t>
            </a:r>
          </a:p>
        </p:txBody>
      </p:sp>
    </p:spTree>
    <p:extLst>
      <p:ext uri="{BB962C8B-B14F-4D97-AF65-F5344CB8AC3E}">
        <p14:creationId xmlns:p14="http://schemas.microsoft.com/office/powerpoint/2010/main" val="42758979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CDCBD-DC1A-8A37-CC7E-367B4B276E3A}"/>
              </a:ext>
            </a:extLst>
          </p:cNvPr>
          <p:cNvSpPr>
            <a:spLocks noGrp="1"/>
          </p:cNvSpPr>
          <p:nvPr>
            <p:ph type="title"/>
          </p:nvPr>
        </p:nvSpPr>
        <p:spPr/>
        <p:txBody>
          <a:bodyPr/>
          <a:lstStyle/>
          <a:p>
            <a:br>
              <a:rPr lang="en-IN" sz="3600" dirty="0"/>
            </a:br>
            <a:r>
              <a:rPr lang="en-IN" sz="3600" dirty="0"/>
              <a:t> </a:t>
            </a:r>
            <a:r>
              <a:rPr lang="en-IN" sz="3600" b="1" dirty="0"/>
              <a:t>Course Educational Objectives</a:t>
            </a:r>
            <a:endParaRPr lang="en-IN" sz="3600" dirty="0"/>
          </a:p>
        </p:txBody>
      </p:sp>
      <p:sp>
        <p:nvSpPr>
          <p:cNvPr id="3" name="Content Placeholder 2">
            <a:extLst>
              <a:ext uri="{FF2B5EF4-FFF2-40B4-BE49-F238E27FC236}">
                <a16:creationId xmlns:a16="http://schemas.microsoft.com/office/drawing/2014/main" id="{0C693C84-02F2-C967-E6FE-8BF486F6891A}"/>
              </a:ext>
            </a:extLst>
          </p:cNvPr>
          <p:cNvSpPr>
            <a:spLocks noGrp="1"/>
          </p:cNvSpPr>
          <p:nvPr>
            <p:ph idx="1"/>
          </p:nvPr>
        </p:nvSpPr>
        <p:spPr/>
        <p:txBody>
          <a:bodyPr/>
          <a:lstStyle/>
          <a:p>
            <a:pPr algn="just"/>
            <a:r>
              <a:rPr lang="en-US" dirty="0"/>
              <a:t>To understand the fundamentals of Artificial Intelligence</a:t>
            </a:r>
          </a:p>
          <a:p>
            <a:pPr algn="just"/>
            <a:r>
              <a:rPr lang="en-US" dirty="0"/>
              <a:t>To solve problems by using search algorithms</a:t>
            </a:r>
          </a:p>
          <a:p>
            <a:pPr algn="just"/>
            <a:r>
              <a:rPr lang="en-US" dirty="0"/>
              <a:t>To gain insight into competitive environments using adversarial search algorithms</a:t>
            </a:r>
          </a:p>
          <a:p>
            <a:pPr algn="just"/>
            <a:r>
              <a:rPr lang="en-US" dirty="0"/>
              <a:t>To learn knowledge representation and knowledge representation techniques</a:t>
            </a:r>
          </a:p>
          <a:p>
            <a:pPr algn="just"/>
            <a:r>
              <a:rPr lang="en-US" dirty="0"/>
              <a:t>To address the uncertainty and to learn the ways of learning</a:t>
            </a:r>
            <a:endParaRPr lang="en-IN" dirty="0"/>
          </a:p>
        </p:txBody>
      </p:sp>
      <p:sp>
        <p:nvSpPr>
          <p:cNvPr id="4" name="Footer Placeholder 3">
            <a:extLst>
              <a:ext uri="{FF2B5EF4-FFF2-40B4-BE49-F238E27FC236}">
                <a16:creationId xmlns:a16="http://schemas.microsoft.com/office/drawing/2014/main" id="{3897FEFE-164D-A9D6-63B7-2FEF229531C5}"/>
              </a:ext>
            </a:extLst>
          </p:cNvPr>
          <p:cNvSpPr>
            <a:spLocks noGrp="1"/>
          </p:cNvSpPr>
          <p:nvPr>
            <p:ph type="ftr" sz="quarter" idx="11"/>
          </p:nvPr>
        </p:nvSpPr>
        <p:spPr/>
        <p:txBody>
          <a:bodyPr/>
          <a:lstStyle/>
          <a:p>
            <a:r>
              <a:rPr lang="en-IN"/>
              <a:t>UNIT I</a:t>
            </a:r>
          </a:p>
        </p:txBody>
      </p:sp>
      <p:sp>
        <p:nvSpPr>
          <p:cNvPr id="5" name="Slide Number Placeholder 4">
            <a:extLst>
              <a:ext uri="{FF2B5EF4-FFF2-40B4-BE49-F238E27FC236}">
                <a16:creationId xmlns:a16="http://schemas.microsoft.com/office/drawing/2014/main" id="{26E55DAD-81B5-2706-D4E0-BB594C457BED}"/>
              </a:ext>
            </a:extLst>
          </p:cNvPr>
          <p:cNvSpPr>
            <a:spLocks noGrp="1"/>
          </p:cNvSpPr>
          <p:nvPr>
            <p:ph type="sldNum" sz="quarter" idx="12"/>
          </p:nvPr>
        </p:nvSpPr>
        <p:spPr/>
        <p:txBody>
          <a:bodyPr/>
          <a:lstStyle/>
          <a:p>
            <a:fld id="{3467BBCD-0D13-431F-A782-7BE6456130A5}" type="slidenum">
              <a:rPr lang="en-IN" smtClean="0"/>
              <a:t>2</a:t>
            </a:fld>
            <a:endParaRPr lang="en-IN"/>
          </a:p>
        </p:txBody>
      </p:sp>
    </p:spTree>
    <p:extLst>
      <p:ext uri="{BB962C8B-B14F-4D97-AF65-F5344CB8AC3E}">
        <p14:creationId xmlns:p14="http://schemas.microsoft.com/office/powerpoint/2010/main" val="30437081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620000" cy="922114"/>
          </a:xfrm>
        </p:spPr>
        <p:txBody>
          <a:bodyPr/>
          <a:lstStyle/>
          <a:p>
            <a:r>
              <a:rPr lang="en-IN" dirty="0"/>
              <a:t>UNIT – I</a:t>
            </a:r>
            <a:endParaRPr lang="en-IN" dirty="0">
              <a:solidFill>
                <a:srgbClr val="FF0000"/>
              </a:solidFill>
            </a:endParaRPr>
          </a:p>
        </p:txBody>
      </p:sp>
      <p:sp>
        <p:nvSpPr>
          <p:cNvPr id="3" name="Content Placeholder 2"/>
          <p:cNvSpPr>
            <a:spLocks noGrp="1"/>
          </p:cNvSpPr>
          <p:nvPr>
            <p:ph idx="1"/>
          </p:nvPr>
        </p:nvSpPr>
        <p:spPr>
          <a:xfrm>
            <a:off x="457200" y="1268760"/>
            <a:ext cx="7620000" cy="5132040"/>
          </a:xfrm>
        </p:spPr>
        <p:txBody>
          <a:bodyPr>
            <a:normAutofit/>
          </a:bodyPr>
          <a:lstStyle/>
          <a:p>
            <a:pPr algn="just"/>
            <a:r>
              <a:rPr lang="en-US" dirty="0">
                <a:solidFill>
                  <a:srgbClr val="0000CC"/>
                </a:solidFill>
                <a:effectLst>
                  <a:outerShdw blurRad="38100" dist="38100" dir="2700000" algn="tl">
                    <a:srgbClr val="000000">
                      <a:alpha val="43137"/>
                    </a:srgbClr>
                  </a:outerShdw>
                </a:effectLst>
              </a:rPr>
              <a:t>Introduction: </a:t>
            </a:r>
          </a:p>
          <a:p>
            <a:pPr lvl="1" algn="just"/>
            <a:r>
              <a:rPr lang="en-US" dirty="0">
                <a:solidFill>
                  <a:srgbClr val="0000CC"/>
                </a:solidFill>
                <a:effectLst>
                  <a:outerShdw blurRad="38100" dist="38100" dir="2700000" algn="tl">
                    <a:srgbClr val="000000">
                      <a:alpha val="43137"/>
                    </a:srgbClr>
                  </a:outerShdw>
                </a:effectLst>
              </a:rPr>
              <a:t>Introduction to AI</a:t>
            </a:r>
          </a:p>
          <a:p>
            <a:pPr lvl="1" algn="just"/>
            <a:r>
              <a:rPr lang="en-US" dirty="0">
                <a:solidFill>
                  <a:srgbClr val="0000CC"/>
                </a:solidFill>
                <a:effectLst>
                  <a:outerShdw blurRad="38100" dist="38100" dir="2700000" algn="tl">
                    <a:srgbClr val="000000">
                      <a:alpha val="43137"/>
                    </a:srgbClr>
                  </a:outerShdw>
                </a:effectLst>
              </a:rPr>
              <a:t>Concept of intelligence, </a:t>
            </a:r>
          </a:p>
          <a:p>
            <a:pPr lvl="1" algn="just"/>
            <a:r>
              <a:rPr lang="en-US" dirty="0">
                <a:solidFill>
                  <a:srgbClr val="0000CC"/>
                </a:solidFill>
                <a:effectLst>
                  <a:outerShdw blurRad="38100" dist="38100" dir="2700000" algn="tl">
                    <a:srgbClr val="000000">
                      <a:alpha val="43137"/>
                    </a:srgbClr>
                  </a:outerShdw>
                </a:effectLst>
              </a:rPr>
              <a:t>Artificial intelligence, foundational areas of AI, </a:t>
            </a:r>
          </a:p>
          <a:p>
            <a:pPr lvl="1" algn="just"/>
            <a:r>
              <a:rPr lang="en-US" dirty="0">
                <a:solidFill>
                  <a:srgbClr val="0000CC"/>
                </a:solidFill>
                <a:effectLst>
                  <a:outerShdw blurRad="38100" dist="38100" dir="2700000" algn="tl">
                    <a:srgbClr val="000000">
                      <a:alpha val="43137"/>
                    </a:srgbClr>
                  </a:outerShdw>
                </a:effectLst>
              </a:rPr>
              <a:t>Approaches to AI- rationalist, Empiricist approaches, </a:t>
            </a:r>
          </a:p>
          <a:p>
            <a:pPr lvl="1" algn="just"/>
            <a:r>
              <a:rPr lang="en-US" dirty="0">
                <a:solidFill>
                  <a:srgbClr val="0000CC"/>
                </a:solidFill>
                <a:effectLst>
                  <a:outerShdw blurRad="38100" dist="38100" dir="2700000" algn="tl">
                    <a:srgbClr val="000000">
                      <a:alpha val="43137"/>
                    </a:srgbClr>
                  </a:outerShdw>
                </a:effectLst>
              </a:rPr>
              <a:t>Applications of AI and limitations of AI </a:t>
            </a:r>
          </a:p>
          <a:p>
            <a:pPr lvl="1" algn="just"/>
            <a:r>
              <a:rPr lang="en-US" dirty="0">
                <a:solidFill>
                  <a:srgbClr val="0000CC"/>
                </a:solidFill>
                <a:effectLst>
                  <a:outerShdw blurRad="38100" dist="38100" dir="2700000" algn="tl">
                    <a:srgbClr val="000000">
                      <a:alpha val="43137"/>
                    </a:srgbClr>
                  </a:outerShdw>
                </a:effectLst>
              </a:rPr>
              <a:t>Intelligent agents: agents and environments, examples, the concept of rationality, nature of environments, the structure of agents.</a:t>
            </a:r>
          </a:p>
          <a:p>
            <a:pPr algn="just"/>
            <a:r>
              <a:rPr lang="en-IN" b="1" dirty="0">
                <a:solidFill>
                  <a:srgbClr val="FF0000"/>
                </a:solidFill>
              </a:rPr>
              <a:t>Reference Book</a:t>
            </a:r>
          </a:p>
          <a:p>
            <a:pPr lvl="1" algn="just"/>
            <a:r>
              <a:rPr lang="en-US" sz="1800" i="1" dirty="0">
                <a:solidFill>
                  <a:srgbClr val="7030A0"/>
                </a:solidFill>
                <a:effectLst>
                  <a:outerShdw blurRad="38100" dist="38100" dir="2700000" algn="tl">
                    <a:srgbClr val="000000">
                      <a:alpha val="43137"/>
                    </a:srgbClr>
                  </a:outerShdw>
                </a:effectLst>
              </a:rPr>
              <a:t>S. Russell and P. </a:t>
            </a:r>
            <a:r>
              <a:rPr lang="en-US" sz="1800" i="1" dirty="0" err="1">
                <a:solidFill>
                  <a:srgbClr val="7030A0"/>
                </a:solidFill>
                <a:effectLst>
                  <a:outerShdw blurRad="38100" dist="38100" dir="2700000" algn="tl">
                    <a:srgbClr val="000000">
                      <a:alpha val="43137"/>
                    </a:srgbClr>
                  </a:outerShdw>
                </a:effectLst>
              </a:rPr>
              <a:t>Norvig</a:t>
            </a:r>
            <a:r>
              <a:rPr lang="en-US" sz="1800" i="1" dirty="0">
                <a:solidFill>
                  <a:srgbClr val="7030A0"/>
                </a:solidFill>
                <a:effectLst>
                  <a:outerShdw blurRad="38100" dist="38100" dir="2700000" algn="tl">
                    <a:srgbClr val="000000">
                      <a:alpha val="43137"/>
                    </a:srgbClr>
                  </a:outerShdw>
                </a:effectLst>
              </a:rPr>
              <a:t>, "Artificial Intelligence: A Modern Approach‖, Prentice Hall”, Third Edition, 2009</a:t>
            </a:r>
            <a:r>
              <a:rPr lang="en-IN" sz="1800" i="1" dirty="0">
                <a:solidFill>
                  <a:srgbClr val="7030A0"/>
                </a:solidFill>
                <a:effectLst>
                  <a:outerShdw blurRad="38100" dist="38100" dir="2700000" algn="tl">
                    <a:srgbClr val="000000">
                      <a:alpha val="43137"/>
                    </a:srgbClr>
                  </a:outerShdw>
                </a:effectLst>
              </a:rPr>
              <a:t>.</a:t>
            </a:r>
          </a:p>
          <a:p>
            <a:pPr lvl="1" algn="just"/>
            <a:r>
              <a:rPr lang="en-US" sz="1800" i="1" dirty="0">
                <a:solidFill>
                  <a:srgbClr val="7030A0"/>
                </a:solidFill>
                <a:effectLst>
                  <a:outerShdw blurRad="38100" dist="38100" dir="2700000" algn="tl">
                    <a:srgbClr val="000000">
                      <a:alpha val="43137"/>
                    </a:srgbClr>
                  </a:outerShdw>
                </a:effectLst>
              </a:rPr>
              <a:t>I. </a:t>
            </a:r>
            <a:r>
              <a:rPr lang="en-US" sz="1800" i="1" dirty="0" err="1">
                <a:solidFill>
                  <a:srgbClr val="7030A0"/>
                </a:solidFill>
                <a:effectLst>
                  <a:outerShdw blurRad="38100" dist="38100" dir="2700000" algn="tl">
                    <a:srgbClr val="000000">
                      <a:alpha val="43137"/>
                    </a:srgbClr>
                  </a:outerShdw>
                </a:effectLst>
              </a:rPr>
              <a:t>Bratko</a:t>
            </a:r>
            <a:r>
              <a:rPr lang="en-US" sz="1800" i="1" dirty="0">
                <a:solidFill>
                  <a:srgbClr val="7030A0"/>
                </a:solidFill>
                <a:effectLst>
                  <a:outerShdw blurRad="38100" dist="38100" dir="2700000" algn="tl">
                    <a:srgbClr val="000000">
                      <a:alpha val="43137"/>
                    </a:srgbClr>
                  </a:outerShdw>
                </a:effectLst>
              </a:rPr>
              <a:t>, ―Prolog: Programming for Artificial Intelligence‖, Fourth edition, Addison-Wesley Educational Publishers Inc., 2011</a:t>
            </a:r>
            <a:endParaRPr lang="en-IN" dirty="0"/>
          </a:p>
          <a:p>
            <a:endParaRPr lang="en-IN" dirty="0"/>
          </a:p>
        </p:txBody>
      </p:sp>
      <p:sp>
        <p:nvSpPr>
          <p:cNvPr id="4" name="Footer Placeholder 3"/>
          <p:cNvSpPr>
            <a:spLocks noGrp="1"/>
          </p:cNvSpPr>
          <p:nvPr>
            <p:ph type="ftr" sz="quarter" idx="11"/>
          </p:nvPr>
        </p:nvSpPr>
        <p:spPr/>
        <p:txBody>
          <a:bodyPr/>
          <a:lstStyle/>
          <a:p>
            <a:r>
              <a:rPr lang="en-IN"/>
              <a:t>UNIT I</a:t>
            </a:r>
          </a:p>
        </p:txBody>
      </p:sp>
      <p:sp>
        <p:nvSpPr>
          <p:cNvPr id="5" name="Slide Number Placeholder 4"/>
          <p:cNvSpPr>
            <a:spLocks noGrp="1"/>
          </p:cNvSpPr>
          <p:nvPr>
            <p:ph type="sldNum" sz="quarter" idx="12"/>
          </p:nvPr>
        </p:nvSpPr>
        <p:spPr/>
        <p:txBody>
          <a:bodyPr/>
          <a:lstStyle/>
          <a:p>
            <a:fld id="{3467BBCD-0D13-431F-A782-7BE6456130A5}" type="slidenum">
              <a:rPr lang="en-IN" smtClean="0"/>
              <a:t>3</a:t>
            </a:fld>
            <a:endParaRPr lang="en-IN"/>
          </a:p>
        </p:txBody>
      </p:sp>
    </p:spTree>
    <p:extLst>
      <p:ext uri="{BB962C8B-B14F-4D97-AF65-F5344CB8AC3E}">
        <p14:creationId xmlns:p14="http://schemas.microsoft.com/office/powerpoint/2010/main" val="2780949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Artificial Intelligence </a:t>
            </a:r>
          </a:p>
        </p:txBody>
      </p:sp>
      <p:sp>
        <p:nvSpPr>
          <p:cNvPr id="3" name="Content Placeholder 2"/>
          <p:cNvSpPr>
            <a:spLocks noGrp="1"/>
          </p:cNvSpPr>
          <p:nvPr>
            <p:ph idx="1"/>
          </p:nvPr>
        </p:nvSpPr>
        <p:spPr/>
        <p:txBody>
          <a:bodyPr/>
          <a:lstStyle/>
          <a:p>
            <a:pPr algn="just"/>
            <a:r>
              <a:rPr lang="en-US" i="1" dirty="0">
                <a:solidFill>
                  <a:srgbClr val="C00000"/>
                </a:solidFill>
                <a:effectLst>
                  <a:outerShdw blurRad="38100" dist="38100" dir="2700000" algn="tl">
                    <a:srgbClr val="000000">
                      <a:alpha val="43137"/>
                    </a:srgbClr>
                  </a:outerShdw>
                </a:effectLst>
              </a:rPr>
              <a:t>Intelligence: </a:t>
            </a:r>
            <a:r>
              <a:rPr lang="en-US" dirty="0"/>
              <a:t>The ability to learn and solve problems.</a:t>
            </a:r>
          </a:p>
          <a:p>
            <a:pPr algn="just"/>
            <a:r>
              <a:rPr lang="en-US" dirty="0"/>
              <a:t>The most common answer that one expects is </a:t>
            </a:r>
            <a:r>
              <a:rPr lang="en-US" b="1" dirty="0"/>
              <a:t>“</a:t>
            </a:r>
            <a:r>
              <a:rPr lang="en-US" b="1" i="1" dirty="0">
                <a:solidFill>
                  <a:srgbClr val="C00000"/>
                </a:solidFill>
              </a:rPr>
              <a:t>to make computers intelligent so that they can act intelligently</a:t>
            </a:r>
            <a:r>
              <a:rPr lang="en-US" dirty="0"/>
              <a:t>…as intelligent as humans.</a:t>
            </a:r>
          </a:p>
          <a:p>
            <a:pPr algn="just"/>
            <a:r>
              <a:rPr lang="en-US" dirty="0"/>
              <a:t>Intelligence, as we know, is the ability to acquire and apply the knowledge. </a:t>
            </a:r>
          </a:p>
          <a:p>
            <a:pPr algn="just"/>
            <a:r>
              <a:rPr lang="en-US" dirty="0">
                <a:solidFill>
                  <a:srgbClr val="0000CC"/>
                </a:solidFill>
              </a:rPr>
              <a:t>Knowledge is the information acquired through experience</a:t>
            </a:r>
            <a:r>
              <a:rPr lang="en-US" dirty="0"/>
              <a:t>. Experience is the knowledge gained through exposure (training). </a:t>
            </a:r>
          </a:p>
          <a:p>
            <a:pPr algn="just"/>
            <a:r>
              <a:rPr lang="en-US" dirty="0"/>
              <a:t>Summing the terms up, we get </a:t>
            </a:r>
            <a:r>
              <a:rPr lang="en-US" b="1" dirty="0"/>
              <a:t>artificial intelligence</a:t>
            </a:r>
            <a:r>
              <a:rPr lang="en-US" dirty="0"/>
              <a:t> as the “copy of something natural (i.e., human beings) ‘WHO’ is </a:t>
            </a:r>
            <a:r>
              <a:rPr lang="en-US" i="1" dirty="0">
                <a:solidFill>
                  <a:srgbClr val="00B050"/>
                </a:solidFill>
                <a:effectLst>
                  <a:outerShdw blurRad="38100" dist="38100" dir="2700000" algn="tl">
                    <a:srgbClr val="000000">
                      <a:alpha val="43137"/>
                    </a:srgbClr>
                  </a:outerShdw>
                </a:effectLst>
              </a:rPr>
              <a:t>capable of acquiring and applying the information it has gained through exposure</a:t>
            </a:r>
            <a:r>
              <a:rPr lang="en-US" dirty="0"/>
              <a:t>.”</a:t>
            </a:r>
          </a:p>
          <a:p>
            <a:pPr algn="just"/>
            <a:endParaRPr lang="en-US" dirty="0"/>
          </a:p>
        </p:txBody>
      </p:sp>
      <p:sp>
        <p:nvSpPr>
          <p:cNvPr id="4" name="Footer Placeholder 3"/>
          <p:cNvSpPr>
            <a:spLocks noGrp="1"/>
          </p:cNvSpPr>
          <p:nvPr>
            <p:ph type="ftr" sz="quarter" idx="11"/>
          </p:nvPr>
        </p:nvSpPr>
        <p:spPr/>
        <p:txBody>
          <a:bodyPr/>
          <a:lstStyle/>
          <a:p>
            <a:r>
              <a:rPr lang="en-IN"/>
              <a:t>UNIT I</a:t>
            </a:r>
          </a:p>
        </p:txBody>
      </p:sp>
      <p:sp>
        <p:nvSpPr>
          <p:cNvPr id="5" name="Slide Number Placeholder 4"/>
          <p:cNvSpPr>
            <a:spLocks noGrp="1"/>
          </p:cNvSpPr>
          <p:nvPr>
            <p:ph type="sldNum" sz="quarter" idx="12"/>
          </p:nvPr>
        </p:nvSpPr>
        <p:spPr/>
        <p:txBody>
          <a:bodyPr/>
          <a:lstStyle/>
          <a:p>
            <a:fld id="{3467BBCD-0D13-431F-A782-7BE6456130A5}" type="slidenum">
              <a:rPr lang="en-IN" smtClean="0"/>
              <a:t>4</a:t>
            </a:fld>
            <a:endParaRPr lang="en-IN"/>
          </a:p>
        </p:txBody>
      </p:sp>
    </p:spTree>
    <p:extLst>
      <p:ext uri="{BB962C8B-B14F-4D97-AF65-F5344CB8AC3E}">
        <p14:creationId xmlns:p14="http://schemas.microsoft.com/office/powerpoint/2010/main" val="6712362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Artificial Intelligence - Classification</a:t>
            </a:r>
          </a:p>
        </p:txBody>
      </p:sp>
      <p:sp>
        <p:nvSpPr>
          <p:cNvPr id="3" name="Content Placeholder 2"/>
          <p:cNvSpPr>
            <a:spLocks noGrp="1"/>
          </p:cNvSpPr>
          <p:nvPr>
            <p:ph idx="1"/>
          </p:nvPr>
        </p:nvSpPr>
        <p:spPr/>
        <p:txBody>
          <a:bodyPr/>
          <a:lstStyle/>
          <a:p>
            <a:r>
              <a:rPr lang="en-US" b="1" i="1" dirty="0">
                <a:solidFill>
                  <a:srgbClr val="C00000"/>
                </a:solidFill>
                <a:effectLst>
                  <a:outerShdw blurRad="38100" dist="38100" dir="2700000" algn="tl">
                    <a:srgbClr val="000000">
                      <a:alpha val="43137"/>
                    </a:srgbClr>
                  </a:outerShdw>
                </a:effectLst>
              </a:rPr>
              <a:t>Analytical</a:t>
            </a:r>
          </a:p>
          <a:p>
            <a:pPr lvl="1"/>
            <a:r>
              <a:rPr lang="en-US" dirty="0">
                <a:solidFill>
                  <a:srgbClr val="00B050"/>
                </a:solidFill>
                <a:effectLst>
                  <a:outerShdw blurRad="38100" dist="38100" dir="2700000" algn="tl">
                    <a:srgbClr val="000000">
                      <a:alpha val="43137"/>
                    </a:srgbClr>
                  </a:outerShdw>
                </a:effectLst>
              </a:rPr>
              <a:t>Characteristics consistent with cognitive intelligence; generating a cognitive representation of the world and using learning based on past experience to inform future decisions.</a:t>
            </a:r>
            <a:endParaRPr lang="en-US" dirty="0">
              <a:solidFill>
                <a:srgbClr val="00B050"/>
              </a:solidFill>
            </a:endParaRPr>
          </a:p>
          <a:p>
            <a:r>
              <a:rPr lang="en-US" b="1" i="1" dirty="0">
                <a:solidFill>
                  <a:srgbClr val="C00000"/>
                </a:solidFill>
                <a:effectLst>
                  <a:outerShdw blurRad="38100" dist="38100" dir="2700000" algn="tl">
                    <a:srgbClr val="000000">
                      <a:alpha val="43137"/>
                    </a:srgbClr>
                  </a:outerShdw>
                </a:effectLst>
              </a:rPr>
              <a:t>Human Inspired</a:t>
            </a:r>
          </a:p>
          <a:p>
            <a:pPr lvl="1" algn="just"/>
            <a:r>
              <a:rPr lang="en-US" dirty="0">
                <a:solidFill>
                  <a:srgbClr val="0070C0"/>
                </a:solidFill>
                <a:effectLst>
                  <a:outerShdw blurRad="38100" dist="38100" dir="2700000" algn="tl">
                    <a:srgbClr val="000000">
                      <a:alpha val="43137"/>
                    </a:srgbClr>
                  </a:outerShdw>
                </a:effectLst>
              </a:rPr>
              <a:t>These elements form cognitive and emotional intelligence; understanding human emotions, in addition to cognitive elements, and considering them in their decision making.</a:t>
            </a:r>
          </a:p>
          <a:p>
            <a:r>
              <a:rPr lang="en-US" b="1" i="1" dirty="0">
                <a:solidFill>
                  <a:srgbClr val="C00000"/>
                </a:solidFill>
                <a:effectLst>
                  <a:outerShdw blurRad="38100" dist="38100" dir="2700000" algn="tl">
                    <a:srgbClr val="000000">
                      <a:alpha val="43137"/>
                    </a:srgbClr>
                  </a:outerShdw>
                </a:effectLst>
              </a:rPr>
              <a:t>Humanized Artificial Intelligence</a:t>
            </a:r>
          </a:p>
          <a:p>
            <a:pPr lvl="1" algn="just"/>
            <a:r>
              <a:rPr lang="en-US" dirty="0">
                <a:solidFill>
                  <a:srgbClr val="002060"/>
                </a:solidFill>
                <a:effectLst>
                  <a:outerShdw blurRad="38100" dist="38100" dir="2700000" algn="tl">
                    <a:srgbClr val="000000">
                      <a:alpha val="43137"/>
                    </a:srgbClr>
                  </a:outerShdw>
                </a:effectLst>
              </a:rPr>
              <a:t>This shows the characteristics of all types of competencies(i.e., cognitive, emotional &amp; social intelligence), is able to be self- conscious and is self-aware in interactions.</a:t>
            </a:r>
          </a:p>
        </p:txBody>
      </p:sp>
      <p:sp>
        <p:nvSpPr>
          <p:cNvPr id="4" name="Footer Placeholder 3"/>
          <p:cNvSpPr>
            <a:spLocks noGrp="1"/>
          </p:cNvSpPr>
          <p:nvPr>
            <p:ph type="ftr" sz="quarter" idx="11"/>
          </p:nvPr>
        </p:nvSpPr>
        <p:spPr/>
        <p:txBody>
          <a:bodyPr/>
          <a:lstStyle/>
          <a:p>
            <a:r>
              <a:rPr lang="en-IN"/>
              <a:t>UNIT I</a:t>
            </a:r>
          </a:p>
        </p:txBody>
      </p:sp>
      <p:sp>
        <p:nvSpPr>
          <p:cNvPr id="5" name="Slide Number Placeholder 4"/>
          <p:cNvSpPr>
            <a:spLocks noGrp="1"/>
          </p:cNvSpPr>
          <p:nvPr>
            <p:ph type="sldNum" sz="quarter" idx="12"/>
          </p:nvPr>
        </p:nvSpPr>
        <p:spPr/>
        <p:txBody>
          <a:bodyPr/>
          <a:lstStyle/>
          <a:p>
            <a:fld id="{3467BBCD-0D13-431F-A782-7BE6456130A5}" type="slidenum">
              <a:rPr lang="en-IN" smtClean="0"/>
              <a:t>5</a:t>
            </a:fld>
            <a:endParaRPr lang="en-IN"/>
          </a:p>
        </p:txBody>
      </p:sp>
    </p:spTree>
    <p:extLst>
      <p:ext uri="{BB962C8B-B14F-4D97-AF65-F5344CB8AC3E}">
        <p14:creationId xmlns:p14="http://schemas.microsoft.com/office/powerpoint/2010/main" val="11967023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Intelligence is composed of</a:t>
            </a:r>
          </a:p>
        </p:txBody>
      </p:sp>
      <p:sp>
        <p:nvSpPr>
          <p:cNvPr id="3" name="Content Placeholder 2"/>
          <p:cNvSpPr>
            <a:spLocks noGrp="1"/>
          </p:cNvSpPr>
          <p:nvPr>
            <p:ph idx="1"/>
          </p:nvPr>
        </p:nvSpPr>
        <p:spPr/>
        <p:txBody>
          <a:bodyPr/>
          <a:lstStyle/>
          <a:p>
            <a:pPr lvl="0" algn="just"/>
            <a:r>
              <a:rPr lang="en-US" dirty="0"/>
              <a:t>Reasoning</a:t>
            </a:r>
          </a:p>
          <a:p>
            <a:pPr lvl="0" algn="just"/>
            <a:r>
              <a:rPr lang="en-US" dirty="0"/>
              <a:t>Learning</a:t>
            </a:r>
          </a:p>
          <a:p>
            <a:pPr lvl="0" algn="just"/>
            <a:r>
              <a:rPr lang="en-US" dirty="0"/>
              <a:t>Problem solving</a:t>
            </a:r>
          </a:p>
          <a:p>
            <a:pPr lvl="0" algn="just"/>
            <a:r>
              <a:rPr lang="en-US" dirty="0"/>
              <a:t>Perception</a:t>
            </a:r>
          </a:p>
          <a:p>
            <a:pPr lvl="0" algn="just"/>
            <a:r>
              <a:rPr lang="en-US" dirty="0"/>
              <a:t>Linguistic intelligence</a:t>
            </a:r>
          </a:p>
          <a:p>
            <a:pPr algn="just"/>
            <a:r>
              <a:rPr lang="en-US" dirty="0"/>
              <a:t>Many tools are used in AI, including versions of </a:t>
            </a:r>
          </a:p>
          <a:p>
            <a:pPr lvl="1" algn="just"/>
            <a:r>
              <a:rPr lang="en-US" i="1" dirty="0">
                <a:solidFill>
                  <a:srgbClr val="0000CC"/>
                </a:solidFill>
              </a:rPr>
              <a:t>Search and Mathematical optimization, </a:t>
            </a:r>
          </a:p>
          <a:p>
            <a:pPr lvl="1" algn="just"/>
            <a:r>
              <a:rPr lang="en-US" i="1" dirty="0">
                <a:solidFill>
                  <a:srgbClr val="0000CC"/>
                </a:solidFill>
              </a:rPr>
              <a:t>Logic, </a:t>
            </a:r>
          </a:p>
          <a:p>
            <a:pPr lvl="1" algn="just"/>
            <a:r>
              <a:rPr lang="en-US" i="1" dirty="0">
                <a:solidFill>
                  <a:srgbClr val="0000CC"/>
                </a:solidFill>
              </a:rPr>
              <a:t>Methods based on probability and economics.</a:t>
            </a:r>
          </a:p>
          <a:p>
            <a:pPr lvl="1" algn="just"/>
            <a:r>
              <a:rPr lang="en-US" i="1" dirty="0">
                <a:solidFill>
                  <a:srgbClr val="0000CC"/>
                </a:solidFill>
              </a:rPr>
              <a:t>The AI field draws upon computer science, mathematics, psychology, linguistics, philosophy, </a:t>
            </a:r>
            <a:r>
              <a:rPr lang="en-US" i="1" dirty="0" err="1">
                <a:solidFill>
                  <a:srgbClr val="0000CC"/>
                </a:solidFill>
              </a:rPr>
              <a:t>neuro</a:t>
            </a:r>
            <a:r>
              <a:rPr lang="en-US" i="1" dirty="0">
                <a:solidFill>
                  <a:srgbClr val="0000CC"/>
                </a:solidFill>
              </a:rPr>
              <a:t>-science, artificial psychology and many others.</a:t>
            </a:r>
          </a:p>
          <a:p>
            <a:pPr algn="just"/>
            <a:endParaRPr lang="en-US" dirty="0"/>
          </a:p>
        </p:txBody>
      </p:sp>
      <p:sp>
        <p:nvSpPr>
          <p:cNvPr id="4" name="Footer Placeholder 3"/>
          <p:cNvSpPr>
            <a:spLocks noGrp="1"/>
          </p:cNvSpPr>
          <p:nvPr>
            <p:ph type="ftr" sz="quarter" idx="11"/>
          </p:nvPr>
        </p:nvSpPr>
        <p:spPr/>
        <p:txBody>
          <a:bodyPr/>
          <a:lstStyle/>
          <a:p>
            <a:r>
              <a:rPr lang="en-IN"/>
              <a:t>UNIT I</a:t>
            </a:r>
          </a:p>
        </p:txBody>
      </p:sp>
      <p:sp>
        <p:nvSpPr>
          <p:cNvPr id="5" name="Slide Number Placeholder 4"/>
          <p:cNvSpPr>
            <a:spLocks noGrp="1"/>
          </p:cNvSpPr>
          <p:nvPr>
            <p:ph type="sldNum" sz="quarter" idx="12"/>
          </p:nvPr>
        </p:nvSpPr>
        <p:spPr/>
        <p:txBody>
          <a:bodyPr/>
          <a:lstStyle/>
          <a:p>
            <a:fld id="{3467BBCD-0D13-431F-A782-7BE6456130A5}" type="slidenum">
              <a:rPr lang="en-IN" smtClean="0"/>
              <a:t>6</a:t>
            </a:fld>
            <a:endParaRPr lang="en-IN"/>
          </a:p>
        </p:txBody>
      </p:sp>
    </p:spTree>
    <p:extLst>
      <p:ext uri="{BB962C8B-B14F-4D97-AF65-F5344CB8AC3E}">
        <p14:creationId xmlns:p14="http://schemas.microsoft.com/office/powerpoint/2010/main" val="20493800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B362F4-7437-0C6E-A5EE-C267C96277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E7458C-6DFB-3EB4-A949-37C240273396}"/>
              </a:ext>
            </a:extLst>
          </p:cNvPr>
          <p:cNvSpPr>
            <a:spLocks noGrp="1"/>
          </p:cNvSpPr>
          <p:nvPr>
            <p:ph type="title"/>
          </p:nvPr>
        </p:nvSpPr>
        <p:spPr/>
        <p:txBody>
          <a:bodyPr/>
          <a:lstStyle/>
          <a:p>
            <a:r>
              <a:rPr lang="en-US" sz="3600" dirty="0"/>
              <a:t>Intelligence is composed of</a:t>
            </a:r>
          </a:p>
        </p:txBody>
      </p:sp>
      <p:sp>
        <p:nvSpPr>
          <p:cNvPr id="3" name="Content Placeholder 2">
            <a:extLst>
              <a:ext uri="{FF2B5EF4-FFF2-40B4-BE49-F238E27FC236}">
                <a16:creationId xmlns:a16="http://schemas.microsoft.com/office/drawing/2014/main" id="{0D08CC33-F52C-653F-F969-84BFFA46F05B}"/>
              </a:ext>
            </a:extLst>
          </p:cNvPr>
          <p:cNvSpPr>
            <a:spLocks noGrp="1"/>
          </p:cNvSpPr>
          <p:nvPr>
            <p:ph idx="1"/>
          </p:nvPr>
        </p:nvSpPr>
        <p:spPr/>
        <p:txBody>
          <a:bodyPr/>
          <a:lstStyle/>
          <a:p>
            <a:pPr algn="just"/>
            <a:r>
              <a:rPr lang="en-US" b="1" dirty="0"/>
              <a:t>Reasoning:</a:t>
            </a:r>
            <a:r>
              <a:rPr lang="en-US" dirty="0"/>
              <a:t> </a:t>
            </a:r>
          </a:p>
          <a:p>
            <a:pPr lvl="1" algn="just"/>
            <a:r>
              <a:rPr lang="en-US" dirty="0"/>
              <a:t>The ability to analyze information and draw logical conclusions. </a:t>
            </a:r>
          </a:p>
          <a:p>
            <a:pPr lvl="1" algn="just"/>
            <a:r>
              <a:rPr lang="en-US" dirty="0"/>
              <a:t>AI systems use reasoning to make informed decisions based on existing knowledge or learned rules.</a:t>
            </a:r>
          </a:p>
          <a:p>
            <a:pPr algn="just"/>
            <a:r>
              <a:rPr lang="en-US" b="1" dirty="0"/>
              <a:t>Learning:</a:t>
            </a:r>
            <a:r>
              <a:rPr lang="en-US" dirty="0"/>
              <a:t> </a:t>
            </a:r>
          </a:p>
          <a:p>
            <a:pPr lvl="1" algn="just"/>
            <a:r>
              <a:rPr lang="en-US" dirty="0"/>
              <a:t>The capability to acquire new data and create or refine algorithms (rules) to improve performance over time, without being explicitly programmed for every scenario. </a:t>
            </a:r>
          </a:p>
          <a:p>
            <a:pPr lvl="1" algn="just"/>
            <a:r>
              <a:rPr lang="en-US" dirty="0"/>
              <a:t>Machine learning, a core branch of AI, encompasses various techniques like supervised, unsupervised, and reinforcement learning.</a:t>
            </a:r>
          </a:p>
        </p:txBody>
      </p:sp>
      <p:sp>
        <p:nvSpPr>
          <p:cNvPr id="4" name="Footer Placeholder 3">
            <a:extLst>
              <a:ext uri="{FF2B5EF4-FFF2-40B4-BE49-F238E27FC236}">
                <a16:creationId xmlns:a16="http://schemas.microsoft.com/office/drawing/2014/main" id="{AE724943-4E89-C253-0AE4-4C9F2E09EF7E}"/>
              </a:ext>
            </a:extLst>
          </p:cNvPr>
          <p:cNvSpPr>
            <a:spLocks noGrp="1"/>
          </p:cNvSpPr>
          <p:nvPr>
            <p:ph type="ftr" sz="quarter" idx="11"/>
          </p:nvPr>
        </p:nvSpPr>
        <p:spPr/>
        <p:txBody>
          <a:bodyPr/>
          <a:lstStyle/>
          <a:p>
            <a:r>
              <a:rPr lang="en-IN"/>
              <a:t>UNIT I</a:t>
            </a:r>
          </a:p>
        </p:txBody>
      </p:sp>
      <p:sp>
        <p:nvSpPr>
          <p:cNvPr id="5" name="Slide Number Placeholder 4">
            <a:extLst>
              <a:ext uri="{FF2B5EF4-FFF2-40B4-BE49-F238E27FC236}">
                <a16:creationId xmlns:a16="http://schemas.microsoft.com/office/drawing/2014/main" id="{930F23A2-B761-0D5A-5738-5FBE5F94E39A}"/>
              </a:ext>
            </a:extLst>
          </p:cNvPr>
          <p:cNvSpPr>
            <a:spLocks noGrp="1"/>
          </p:cNvSpPr>
          <p:nvPr>
            <p:ph type="sldNum" sz="quarter" idx="12"/>
          </p:nvPr>
        </p:nvSpPr>
        <p:spPr/>
        <p:txBody>
          <a:bodyPr/>
          <a:lstStyle/>
          <a:p>
            <a:fld id="{3467BBCD-0D13-431F-A782-7BE6456130A5}" type="slidenum">
              <a:rPr lang="en-IN" smtClean="0"/>
              <a:t>7</a:t>
            </a:fld>
            <a:endParaRPr lang="en-IN"/>
          </a:p>
        </p:txBody>
      </p:sp>
    </p:spTree>
    <p:extLst>
      <p:ext uri="{BB962C8B-B14F-4D97-AF65-F5344CB8AC3E}">
        <p14:creationId xmlns:p14="http://schemas.microsoft.com/office/powerpoint/2010/main" val="1954908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C0DC1-C5CC-5628-7253-B41884DC2A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C32F1F-9FA4-8B90-7392-E17CB8CD395F}"/>
              </a:ext>
            </a:extLst>
          </p:cNvPr>
          <p:cNvSpPr>
            <a:spLocks noGrp="1"/>
          </p:cNvSpPr>
          <p:nvPr>
            <p:ph type="title"/>
          </p:nvPr>
        </p:nvSpPr>
        <p:spPr/>
        <p:txBody>
          <a:bodyPr/>
          <a:lstStyle/>
          <a:p>
            <a:r>
              <a:rPr lang="en-US" sz="3600" dirty="0"/>
              <a:t>Intelligence is composed of</a:t>
            </a:r>
          </a:p>
        </p:txBody>
      </p:sp>
      <p:sp>
        <p:nvSpPr>
          <p:cNvPr id="3" name="Content Placeholder 2">
            <a:extLst>
              <a:ext uri="{FF2B5EF4-FFF2-40B4-BE49-F238E27FC236}">
                <a16:creationId xmlns:a16="http://schemas.microsoft.com/office/drawing/2014/main" id="{D489206A-7194-E7D8-8860-6D26D80D1707}"/>
              </a:ext>
            </a:extLst>
          </p:cNvPr>
          <p:cNvSpPr>
            <a:spLocks noGrp="1"/>
          </p:cNvSpPr>
          <p:nvPr>
            <p:ph idx="1"/>
          </p:nvPr>
        </p:nvSpPr>
        <p:spPr/>
        <p:txBody>
          <a:bodyPr/>
          <a:lstStyle/>
          <a:p>
            <a:pPr algn="just"/>
            <a:r>
              <a:rPr lang="en-US" b="1" dirty="0"/>
              <a:t>Problem Solving:</a:t>
            </a:r>
            <a:r>
              <a:rPr lang="en-US" dirty="0"/>
              <a:t> </a:t>
            </a:r>
          </a:p>
          <a:p>
            <a:pPr lvl="1" algn="just"/>
            <a:r>
              <a:rPr lang="en-US" dirty="0"/>
              <a:t>The process of identifying a problem and systematically searching through a range of possible actions to reach a predefined goal or solution.</a:t>
            </a:r>
          </a:p>
          <a:p>
            <a:pPr algn="just"/>
            <a:r>
              <a:rPr lang="en-US" b="1" dirty="0"/>
              <a:t>Perception:</a:t>
            </a:r>
            <a:r>
              <a:rPr lang="en-US" dirty="0"/>
              <a:t> </a:t>
            </a:r>
          </a:p>
          <a:p>
            <a:pPr lvl="1" algn="just"/>
            <a:r>
              <a:rPr lang="en-US" dirty="0"/>
              <a:t>The ability to use sensory inputs (like data from cameras, microphones, and other sensors) to interpret and understand the surrounding environment.</a:t>
            </a:r>
          </a:p>
          <a:p>
            <a:pPr algn="just"/>
            <a:r>
              <a:rPr lang="en-US" b="1" dirty="0"/>
              <a:t>Linguistic Intelligence (Natural Language Processing):</a:t>
            </a:r>
            <a:r>
              <a:rPr lang="en-US" dirty="0"/>
              <a:t> </a:t>
            </a:r>
          </a:p>
          <a:p>
            <a:pPr lvl="1" algn="just"/>
            <a:r>
              <a:rPr lang="en-US" dirty="0"/>
              <a:t>The capacity to understand, interpret, and generate human language (both written and spoken), enabling seamless communication between humans and machines. </a:t>
            </a:r>
          </a:p>
        </p:txBody>
      </p:sp>
      <p:sp>
        <p:nvSpPr>
          <p:cNvPr id="4" name="Footer Placeholder 3">
            <a:extLst>
              <a:ext uri="{FF2B5EF4-FFF2-40B4-BE49-F238E27FC236}">
                <a16:creationId xmlns:a16="http://schemas.microsoft.com/office/drawing/2014/main" id="{719420C0-0FB9-BFA8-D7D9-641A4F5FD412}"/>
              </a:ext>
            </a:extLst>
          </p:cNvPr>
          <p:cNvSpPr>
            <a:spLocks noGrp="1"/>
          </p:cNvSpPr>
          <p:nvPr>
            <p:ph type="ftr" sz="quarter" idx="11"/>
          </p:nvPr>
        </p:nvSpPr>
        <p:spPr/>
        <p:txBody>
          <a:bodyPr/>
          <a:lstStyle/>
          <a:p>
            <a:r>
              <a:rPr lang="en-IN"/>
              <a:t>UNIT I</a:t>
            </a:r>
          </a:p>
        </p:txBody>
      </p:sp>
      <p:sp>
        <p:nvSpPr>
          <p:cNvPr id="5" name="Slide Number Placeholder 4">
            <a:extLst>
              <a:ext uri="{FF2B5EF4-FFF2-40B4-BE49-F238E27FC236}">
                <a16:creationId xmlns:a16="http://schemas.microsoft.com/office/drawing/2014/main" id="{C7A9E54D-400F-9F69-4124-D1BCB5952154}"/>
              </a:ext>
            </a:extLst>
          </p:cNvPr>
          <p:cNvSpPr>
            <a:spLocks noGrp="1"/>
          </p:cNvSpPr>
          <p:nvPr>
            <p:ph type="sldNum" sz="quarter" idx="12"/>
          </p:nvPr>
        </p:nvSpPr>
        <p:spPr/>
        <p:txBody>
          <a:bodyPr/>
          <a:lstStyle/>
          <a:p>
            <a:fld id="{3467BBCD-0D13-431F-A782-7BE6456130A5}" type="slidenum">
              <a:rPr lang="en-IN" smtClean="0"/>
              <a:t>8</a:t>
            </a:fld>
            <a:endParaRPr lang="en-IN"/>
          </a:p>
        </p:txBody>
      </p:sp>
    </p:spTree>
    <p:extLst>
      <p:ext uri="{BB962C8B-B14F-4D97-AF65-F5344CB8AC3E}">
        <p14:creationId xmlns:p14="http://schemas.microsoft.com/office/powerpoint/2010/main" val="25964772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8578AA-D53A-57B0-4A36-088F24D3A2D9}"/>
              </a:ext>
            </a:extLst>
          </p:cNvPr>
          <p:cNvSpPr>
            <a:spLocks noGrp="1"/>
          </p:cNvSpPr>
          <p:nvPr>
            <p:ph type="title"/>
          </p:nvPr>
        </p:nvSpPr>
        <p:spPr/>
        <p:txBody>
          <a:bodyPr/>
          <a:lstStyle/>
          <a:p>
            <a:r>
              <a:rPr lang="en-US" sz="3600" dirty="0"/>
              <a:t>Major tools &amp; methods used in AI</a:t>
            </a:r>
            <a:endParaRPr lang="en-IN" sz="3600" dirty="0"/>
          </a:p>
        </p:txBody>
      </p:sp>
      <p:sp>
        <p:nvSpPr>
          <p:cNvPr id="3" name="Content Placeholder 2">
            <a:extLst>
              <a:ext uri="{FF2B5EF4-FFF2-40B4-BE49-F238E27FC236}">
                <a16:creationId xmlns:a16="http://schemas.microsoft.com/office/drawing/2014/main" id="{A049FD61-EFE5-FA3F-87C2-3E75DEEFCD86}"/>
              </a:ext>
            </a:extLst>
          </p:cNvPr>
          <p:cNvSpPr>
            <a:spLocks noGrp="1"/>
          </p:cNvSpPr>
          <p:nvPr>
            <p:ph idx="1"/>
          </p:nvPr>
        </p:nvSpPr>
        <p:spPr/>
        <p:txBody>
          <a:bodyPr>
            <a:normAutofit lnSpcReduction="10000"/>
          </a:bodyPr>
          <a:lstStyle/>
          <a:p>
            <a:pPr marL="114300" indent="0" algn="just">
              <a:buNone/>
            </a:pPr>
            <a:r>
              <a:rPr lang="en-IN" b="1" dirty="0"/>
              <a:t>Search (state-space and adversarial search)</a:t>
            </a:r>
          </a:p>
          <a:p>
            <a:pPr marL="411480" lvl="1" indent="0" algn="just">
              <a:buNone/>
            </a:pPr>
            <a:r>
              <a:rPr lang="en-IN" b="1" dirty="0"/>
              <a:t>Algorithms:</a:t>
            </a:r>
            <a:r>
              <a:rPr lang="en-IN" dirty="0"/>
              <a:t> BFS, DFS, A*, Iterative Deepening A* - IDA* (for pathfinding), minimax + alpha-beta pruning (games).</a:t>
            </a:r>
          </a:p>
          <a:p>
            <a:pPr marL="411480" lvl="1" indent="0" algn="just">
              <a:buNone/>
            </a:pPr>
            <a:r>
              <a:rPr lang="en-IN" b="1" dirty="0"/>
              <a:t>Use-cases:</a:t>
            </a:r>
            <a:r>
              <a:rPr lang="en-IN" dirty="0"/>
              <a:t> path planning for robots, GPS and Route Planning, puzzle solvers (Rubik’s cube solvers), game playing (chess, Go).</a:t>
            </a:r>
          </a:p>
          <a:p>
            <a:pPr marL="114300" indent="0" algn="just">
              <a:buNone/>
            </a:pPr>
            <a:r>
              <a:rPr lang="en-IN" b="1" dirty="0"/>
              <a:t>Mathematical optimization</a:t>
            </a:r>
          </a:p>
          <a:p>
            <a:pPr marL="411480" lvl="1" indent="0" algn="just">
              <a:buNone/>
            </a:pPr>
            <a:r>
              <a:rPr lang="en-IN" b="1" dirty="0"/>
              <a:t>Continuous:</a:t>
            </a:r>
            <a:r>
              <a:rPr lang="en-IN" dirty="0"/>
              <a:t> gradient descent, stochastic gradient descent (SGD), Adam — used to train neural networks.</a:t>
            </a:r>
          </a:p>
          <a:p>
            <a:pPr marL="411480" lvl="1" indent="0" algn="just">
              <a:buNone/>
            </a:pPr>
            <a:r>
              <a:rPr lang="en-IN" b="1" dirty="0"/>
              <a:t>Constrained / combinatorial:</a:t>
            </a:r>
            <a:r>
              <a:rPr lang="en-IN" dirty="0"/>
              <a:t> linear programming, integer programming, convex optimization, </a:t>
            </a:r>
            <a:r>
              <a:rPr lang="en-IN" dirty="0" err="1"/>
              <a:t>Lagrangian</a:t>
            </a:r>
            <a:r>
              <a:rPr lang="en-IN" dirty="0"/>
              <a:t> methods.</a:t>
            </a:r>
          </a:p>
          <a:p>
            <a:pPr marL="411480" lvl="1" indent="0" algn="just">
              <a:buNone/>
            </a:pPr>
            <a:r>
              <a:rPr lang="en-IN" b="1" dirty="0"/>
              <a:t>Metaheuristics:</a:t>
            </a:r>
            <a:r>
              <a:rPr lang="en-IN" dirty="0"/>
              <a:t> genetic algorithms, simulated annealing, particle swarm optimization for non-convex or discrete problems.</a:t>
            </a:r>
          </a:p>
          <a:p>
            <a:pPr marL="411480" lvl="1" indent="0" algn="just">
              <a:buNone/>
            </a:pPr>
            <a:r>
              <a:rPr lang="en-IN" b="1" dirty="0"/>
              <a:t>Use-cases:</a:t>
            </a:r>
            <a:r>
              <a:rPr lang="en-IN" dirty="0"/>
              <a:t> training models, hyperparameter tuning, resource allocation, route/schedule optimization.</a:t>
            </a:r>
          </a:p>
          <a:p>
            <a:pPr marL="114300" indent="0" algn="just">
              <a:buNone/>
            </a:pPr>
            <a:endParaRPr lang="en-IN" dirty="0"/>
          </a:p>
        </p:txBody>
      </p:sp>
      <p:sp>
        <p:nvSpPr>
          <p:cNvPr id="4" name="Footer Placeholder 3">
            <a:extLst>
              <a:ext uri="{FF2B5EF4-FFF2-40B4-BE49-F238E27FC236}">
                <a16:creationId xmlns:a16="http://schemas.microsoft.com/office/drawing/2014/main" id="{7035B147-E17E-A59B-AE0F-D77849E87D20}"/>
              </a:ext>
            </a:extLst>
          </p:cNvPr>
          <p:cNvSpPr>
            <a:spLocks noGrp="1"/>
          </p:cNvSpPr>
          <p:nvPr>
            <p:ph type="ftr" sz="quarter" idx="11"/>
          </p:nvPr>
        </p:nvSpPr>
        <p:spPr/>
        <p:txBody>
          <a:bodyPr/>
          <a:lstStyle/>
          <a:p>
            <a:r>
              <a:rPr lang="en-IN"/>
              <a:t>UNIT I</a:t>
            </a:r>
          </a:p>
        </p:txBody>
      </p:sp>
      <p:sp>
        <p:nvSpPr>
          <p:cNvPr id="5" name="Slide Number Placeholder 4">
            <a:extLst>
              <a:ext uri="{FF2B5EF4-FFF2-40B4-BE49-F238E27FC236}">
                <a16:creationId xmlns:a16="http://schemas.microsoft.com/office/drawing/2014/main" id="{3F7AD85B-634F-1868-8B02-5CAA12297BC6}"/>
              </a:ext>
            </a:extLst>
          </p:cNvPr>
          <p:cNvSpPr>
            <a:spLocks noGrp="1"/>
          </p:cNvSpPr>
          <p:nvPr>
            <p:ph type="sldNum" sz="quarter" idx="12"/>
          </p:nvPr>
        </p:nvSpPr>
        <p:spPr/>
        <p:txBody>
          <a:bodyPr/>
          <a:lstStyle/>
          <a:p>
            <a:fld id="{3467BBCD-0D13-431F-A782-7BE6456130A5}" type="slidenum">
              <a:rPr lang="en-IN" smtClean="0"/>
              <a:t>9</a:t>
            </a:fld>
            <a:endParaRPr lang="en-IN"/>
          </a:p>
        </p:txBody>
      </p:sp>
    </p:spTree>
    <p:extLst>
      <p:ext uri="{BB962C8B-B14F-4D97-AF65-F5344CB8AC3E}">
        <p14:creationId xmlns:p14="http://schemas.microsoft.com/office/powerpoint/2010/main" val="9749132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D1B35-7DE7-909D-BBB8-011A735F0154}"/>
              </a:ext>
            </a:extLst>
          </p:cNvPr>
          <p:cNvSpPr>
            <a:spLocks noGrp="1"/>
          </p:cNvSpPr>
          <p:nvPr>
            <p:ph type="title"/>
          </p:nvPr>
        </p:nvSpPr>
        <p:spPr/>
        <p:txBody>
          <a:bodyPr/>
          <a:lstStyle/>
          <a:p>
            <a:r>
              <a:rPr lang="en-IN" sz="4000" dirty="0"/>
              <a:t>Mathematical optimization</a:t>
            </a:r>
          </a:p>
        </p:txBody>
      </p:sp>
      <p:sp>
        <p:nvSpPr>
          <p:cNvPr id="3" name="Content Placeholder 2">
            <a:extLst>
              <a:ext uri="{FF2B5EF4-FFF2-40B4-BE49-F238E27FC236}">
                <a16:creationId xmlns:a16="http://schemas.microsoft.com/office/drawing/2014/main" id="{B4775CEE-484E-6638-9D6D-60560388358F}"/>
              </a:ext>
            </a:extLst>
          </p:cNvPr>
          <p:cNvSpPr>
            <a:spLocks noGrp="1"/>
          </p:cNvSpPr>
          <p:nvPr>
            <p:ph idx="1"/>
          </p:nvPr>
        </p:nvSpPr>
        <p:spPr/>
        <p:txBody>
          <a:bodyPr>
            <a:normAutofit fontScale="85000" lnSpcReduction="20000"/>
          </a:bodyPr>
          <a:lstStyle/>
          <a:p>
            <a:pPr marL="114300" indent="0" algn="just">
              <a:buNone/>
            </a:pPr>
            <a:r>
              <a:rPr lang="en-US" dirty="0"/>
              <a:t>1. </a:t>
            </a:r>
            <a:r>
              <a:rPr lang="en-US" b="1" dirty="0">
                <a:solidFill>
                  <a:srgbClr val="FF0000"/>
                </a:solidFill>
              </a:rPr>
              <a:t>Linear Programming (LP):</a:t>
            </a:r>
          </a:p>
          <a:p>
            <a:pPr marL="411480" lvl="1" indent="0" algn="just">
              <a:buNone/>
            </a:pPr>
            <a:r>
              <a:rPr lang="en-US" b="1" dirty="0"/>
              <a:t>Resource Allocation</a:t>
            </a:r>
            <a:r>
              <a:rPr lang="en-US" dirty="0"/>
              <a:t>: Optimizing the distribution of limited resources (e.g., labor, materials, budget) to maximize output or minimize costs in manufacturing, agriculture, or project management.</a:t>
            </a:r>
          </a:p>
          <a:p>
            <a:pPr marL="411480" lvl="1" indent="0" algn="just">
              <a:buNone/>
            </a:pPr>
            <a:r>
              <a:rPr lang="en-US" b="1" dirty="0"/>
              <a:t>Production Planning</a:t>
            </a:r>
            <a:r>
              <a:rPr lang="en-US" dirty="0"/>
              <a:t>: Determining optimal production schedules and quantities to meet demand while minimizing inventory costs and maximizing profit.</a:t>
            </a:r>
          </a:p>
          <a:p>
            <a:pPr marL="411480" lvl="1" indent="0" algn="just">
              <a:buNone/>
            </a:pPr>
            <a:r>
              <a:rPr lang="en-US" b="1" dirty="0"/>
              <a:t>Transportation and Logistics</a:t>
            </a:r>
            <a:r>
              <a:rPr lang="en-US" dirty="0"/>
              <a:t>: Optimizing delivery routes, scheduling freight, and managing supply chains to reduce shipping costs and improve efficiency.</a:t>
            </a:r>
          </a:p>
          <a:p>
            <a:pPr marL="411480" lvl="1" indent="0" algn="just">
              <a:buNone/>
            </a:pPr>
            <a:r>
              <a:rPr lang="en-US" b="1" dirty="0"/>
              <a:t>Diet Planning</a:t>
            </a:r>
            <a:r>
              <a:rPr lang="en-US" dirty="0"/>
              <a:t>: Formulating diets that meet nutritional requirements at minimal cost.</a:t>
            </a:r>
          </a:p>
          <a:p>
            <a:pPr marL="114300" indent="0" algn="just">
              <a:buNone/>
            </a:pPr>
            <a:r>
              <a:rPr lang="en-US" dirty="0"/>
              <a:t>2. </a:t>
            </a:r>
            <a:r>
              <a:rPr lang="en-US" b="1" dirty="0">
                <a:solidFill>
                  <a:srgbClr val="FF0000"/>
                </a:solidFill>
              </a:rPr>
              <a:t>Integer Programming (IP):</a:t>
            </a:r>
          </a:p>
          <a:p>
            <a:pPr marL="411480" lvl="1" indent="0" algn="just">
              <a:buNone/>
            </a:pPr>
            <a:r>
              <a:rPr lang="en-US" b="1" dirty="0"/>
              <a:t>Scheduling</a:t>
            </a:r>
            <a:r>
              <a:rPr lang="en-US" dirty="0"/>
              <a:t>: Creating optimal schedules for tasks, employees, or machines where decisions are discrete (e.g., assigning a specific task to a specific person).</a:t>
            </a:r>
          </a:p>
          <a:p>
            <a:pPr marL="411480" lvl="1" indent="0" algn="just">
              <a:buNone/>
            </a:pPr>
            <a:r>
              <a:rPr lang="en-US" b="1" dirty="0"/>
              <a:t>Network Design:</a:t>
            </a:r>
            <a:r>
              <a:rPr lang="en-US" dirty="0"/>
              <a:t> Designing communication networks, transportation networks, or facility layouts where components are discrete units (e.g., number of routers, location of warehouses).</a:t>
            </a:r>
          </a:p>
          <a:p>
            <a:pPr marL="411480" lvl="1" indent="0" algn="just">
              <a:buNone/>
            </a:pPr>
            <a:r>
              <a:rPr lang="en-US" b="1" dirty="0"/>
              <a:t>Capital Budgeting</a:t>
            </a:r>
            <a:r>
              <a:rPr lang="en-US" dirty="0"/>
              <a:t>: Selecting investment projects from a set of options to maximize returns within budget constraints.</a:t>
            </a:r>
          </a:p>
          <a:p>
            <a:pPr marL="411480" lvl="1" indent="0" algn="just">
              <a:buNone/>
            </a:pPr>
            <a:r>
              <a:rPr lang="en-US" b="1" dirty="0"/>
              <a:t>Cutting Stock Problems</a:t>
            </a:r>
            <a:r>
              <a:rPr lang="en-US" dirty="0"/>
              <a:t>: Minimizing waste when cutting materials (e.g., paper, fabric, metal) into smaller pieces of specified sizes.</a:t>
            </a:r>
            <a:endParaRPr lang="en-IN" dirty="0"/>
          </a:p>
        </p:txBody>
      </p:sp>
      <p:sp>
        <p:nvSpPr>
          <p:cNvPr id="4" name="Footer Placeholder 3">
            <a:extLst>
              <a:ext uri="{FF2B5EF4-FFF2-40B4-BE49-F238E27FC236}">
                <a16:creationId xmlns:a16="http://schemas.microsoft.com/office/drawing/2014/main" id="{9DD4132C-AF9D-C662-BB86-A077E131D6C3}"/>
              </a:ext>
            </a:extLst>
          </p:cNvPr>
          <p:cNvSpPr>
            <a:spLocks noGrp="1"/>
          </p:cNvSpPr>
          <p:nvPr>
            <p:ph type="ftr" sz="quarter" idx="11"/>
          </p:nvPr>
        </p:nvSpPr>
        <p:spPr/>
        <p:txBody>
          <a:bodyPr/>
          <a:lstStyle/>
          <a:p>
            <a:r>
              <a:rPr lang="en-IN"/>
              <a:t>UNIT I</a:t>
            </a:r>
          </a:p>
        </p:txBody>
      </p:sp>
      <p:sp>
        <p:nvSpPr>
          <p:cNvPr id="5" name="Slide Number Placeholder 4">
            <a:extLst>
              <a:ext uri="{FF2B5EF4-FFF2-40B4-BE49-F238E27FC236}">
                <a16:creationId xmlns:a16="http://schemas.microsoft.com/office/drawing/2014/main" id="{E489F249-1732-54BB-E615-34076796A289}"/>
              </a:ext>
            </a:extLst>
          </p:cNvPr>
          <p:cNvSpPr>
            <a:spLocks noGrp="1"/>
          </p:cNvSpPr>
          <p:nvPr>
            <p:ph type="sldNum" sz="quarter" idx="12"/>
          </p:nvPr>
        </p:nvSpPr>
        <p:spPr/>
        <p:txBody>
          <a:bodyPr/>
          <a:lstStyle/>
          <a:p>
            <a:fld id="{3467BBCD-0D13-431F-A782-7BE6456130A5}" type="slidenum">
              <a:rPr lang="en-IN" smtClean="0"/>
              <a:t>10</a:t>
            </a:fld>
            <a:endParaRPr lang="en-IN"/>
          </a:p>
        </p:txBody>
      </p:sp>
    </p:spTree>
    <p:extLst>
      <p:ext uri="{BB962C8B-B14F-4D97-AF65-F5344CB8AC3E}">
        <p14:creationId xmlns:p14="http://schemas.microsoft.com/office/powerpoint/2010/main" val="38387687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FB0CEC-90A7-9CEE-067F-CDBA019B1F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BAE99B-F5B5-229C-F94A-16EEC6AB130D}"/>
              </a:ext>
            </a:extLst>
          </p:cNvPr>
          <p:cNvSpPr>
            <a:spLocks noGrp="1"/>
          </p:cNvSpPr>
          <p:nvPr>
            <p:ph type="title"/>
          </p:nvPr>
        </p:nvSpPr>
        <p:spPr/>
        <p:txBody>
          <a:bodyPr/>
          <a:lstStyle/>
          <a:p>
            <a:r>
              <a:rPr lang="en-IN" sz="4000" dirty="0"/>
              <a:t>Mathematical optimization</a:t>
            </a:r>
          </a:p>
        </p:txBody>
      </p:sp>
      <p:sp>
        <p:nvSpPr>
          <p:cNvPr id="3" name="Content Placeholder 2">
            <a:extLst>
              <a:ext uri="{FF2B5EF4-FFF2-40B4-BE49-F238E27FC236}">
                <a16:creationId xmlns:a16="http://schemas.microsoft.com/office/drawing/2014/main" id="{22EDBDAF-43B0-A70D-D0BB-74FBD7A7D4B1}"/>
              </a:ext>
            </a:extLst>
          </p:cNvPr>
          <p:cNvSpPr>
            <a:spLocks noGrp="1"/>
          </p:cNvSpPr>
          <p:nvPr>
            <p:ph idx="1"/>
          </p:nvPr>
        </p:nvSpPr>
        <p:spPr/>
        <p:txBody>
          <a:bodyPr>
            <a:normAutofit fontScale="77500" lnSpcReduction="20000"/>
          </a:bodyPr>
          <a:lstStyle/>
          <a:p>
            <a:pPr marL="114300" indent="0" algn="just">
              <a:buNone/>
            </a:pPr>
            <a:r>
              <a:rPr lang="en-US" dirty="0"/>
              <a:t>3. </a:t>
            </a:r>
            <a:r>
              <a:rPr lang="en-US" b="1" dirty="0">
                <a:solidFill>
                  <a:srgbClr val="FF0000"/>
                </a:solidFill>
              </a:rPr>
              <a:t>Convex Optimization:</a:t>
            </a:r>
          </a:p>
          <a:p>
            <a:pPr marL="411480" lvl="1" indent="0" algn="just">
              <a:buNone/>
            </a:pPr>
            <a:r>
              <a:rPr lang="en-US" b="1" dirty="0"/>
              <a:t>Machine Learning</a:t>
            </a:r>
            <a:r>
              <a:rPr lang="en-US" dirty="0"/>
              <a:t>: Training models such as Support Vector Machines (SVMs) and logistic regression, where the optimization problem is typically convex.</a:t>
            </a:r>
          </a:p>
          <a:p>
            <a:pPr marL="411480" lvl="1" indent="0" algn="just">
              <a:buNone/>
            </a:pPr>
            <a:r>
              <a:rPr lang="en-US" b="1" dirty="0"/>
              <a:t>Signal Processing</a:t>
            </a:r>
            <a:r>
              <a:rPr lang="en-US" dirty="0"/>
              <a:t>: Designing filters, compressing signals, and recovering signals from noisy data.</a:t>
            </a:r>
          </a:p>
          <a:p>
            <a:pPr marL="411480" lvl="1" indent="0" algn="just">
              <a:buNone/>
            </a:pPr>
            <a:r>
              <a:rPr lang="en-US" b="1" dirty="0"/>
              <a:t>Control Systems</a:t>
            </a:r>
            <a:r>
              <a:rPr lang="en-US" dirty="0"/>
              <a:t>: Designing optimal controllers for dynamic systems, ensuring stability and performance.</a:t>
            </a:r>
          </a:p>
          <a:p>
            <a:pPr marL="411480" lvl="1" indent="0" algn="just">
              <a:buNone/>
            </a:pPr>
            <a:r>
              <a:rPr lang="en-US" b="1" dirty="0"/>
              <a:t>Finance: </a:t>
            </a:r>
            <a:r>
              <a:rPr lang="en-US" dirty="0"/>
              <a:t>Portfolio optimization, risk management, and option pricing.</a:t>
            </a:r>
          </a:p>
          <a:p>
            <a:pPr marL="114300" indent="0" algn="just">
              <a:buNone/>
            </a:pPr>
            <a:r>
              <a:rPr lang="en-US" dirty="0"/>
              <a:t>4. </a:t>
            </a:r>
            <a:r>
              <a:rPr lang="en-US" b="1" dirty="0" err="1">
                <a:solidFill>
                  <a:srgbClr val="FF0000"/>
                </a:solidFill>
              </a:rPr>
              <a:t>Lagrangian</a:t>
            </a:r>
            <a:r>
              <a:rPr lang="en-US" b="1" dirty="0">
                <a:solidFill>
                  <a:srgbClr val="FF0000"/>
                </a:solidFill>
              </a:rPr>
              <a:t> Methods (</a:t>
            </a:r>
            <a:r>
              <a:rPr lang="en-US" b="1" dirty="0" err="1">
                <a:solidFill>
                  <a:srgbClr val="FF0000"/>
                </a:solidFill>
              </a:rPr>
              <a:t>Lagrangian</a:t>
            </a:r>
            <a:r>
              <a:rPr lang="en-US" b="1" dirty="0">
                <a:solidFill>
                  <a:srgbClr val="FF0000"/>
                </a:solidFill>
              </a:rPr>
              <a:t> Relaxation and Duality):</a:t>
            </a:r>
          </a:p>
          <a:p>
            <a:pPr marL="411480" lvl="1" indent="0" algn="just">
              <a:buNone/>
            </a:pPr>
            <a:r>
              <a:rPr lang="en-US" b="1" dirty="0"/>
              <a:t>Decomposition Techniques</a:t>
            </a:r>
            <a:r>
              <a:rPr lang="en-US" dirty="0"/>
              <a:t>: Solving large-scale, complex optimization problems by breaking them down into smaller, more manageable subproblems, often used in conjunction with other methods like branch and bound for integer programming.</a:t>
            </a:r>
          </a:p>
          <a:p>
            <a:pPr marL="411480" lvl="1" indent="0" algn="just">
              <a:buNone/>
            </a:pPr>
            <a:r>
              <a:rPr lang="en-US" b="1" dirty="0"/>
              <a:t>Resource Allocation with Hard Constraints</a:t>
            </a:r>
            <a:r>
              <a:rPr lang="en-US" dirty="0"/>
              <a:t>: Relaxing "hard" constraints in optimization problems to obtain lower bounds on the optimal solution, particularly useful in integer programming where finding exact solutions can be computationally expensive.</a:t>
            </a:r>
          </a:p>
          <a:p>
            <a:pPr marL="411480" lvl="1" indent="0" algn="just">
              <a:buNone/>
            </a:pPr>
            <a:r>
              <a:rPr lang="en-US" b="1" dirty="0"/>
              <a:t>Network Optimization</a:t>
            </a:r>
            <a:r>
              <a:rPr lang="en-US" dirty="0"/>
              <a:t>: Applying </a:t>
            </a:r>
            <a:r>
              <a:rPr lang="en-US" dirty="0" err="1"/>
              <a:t>Lagrangian</a:t>
            </a:r>
            <a:r>
              <a:rPr lang="en-US" dirty="0"/>
              <a:t> relaxation to problems like network flow, shortest path, and minimum spanning tree problems to find efficient solutions.</a:t>
            </a:r>
          </a:p>
          <a:p>
            <a:pPr marL="411480" lvl="1" indent="0" algn="just">
              <a:buNone/>
            </a:pPr>
            <a:r>
              <a:rPr lang="en-US" b="1" dirty="0"/>
              <a:t>Distributed Optimization</a:t>
            </a:r>
            <a:r>
              <a:rPr lang="en-US" dirty="0"/>
              <a:t>: Enabling optimization in decentralized systems where different parts of the problem are handled by separate entities.</a:t>
            </a:r>
            <a:endParaRPr lang="en-IN" dirty="0"/>
          </a:p>
        </p:txBody>
      </p:sp>
      <p:sp>
        <p:nvSpPr>
          <p:cNvPr id="4" name="Footer Placeholder 3">
            <a:extLst>
              <a:ext uri="{FF2B5EF4-FFF2-40B4-BE49-F238E27FC236}">
                <a16:creationId xmlns:a16="http://schemas.microsoft.com/office/drawing/2014/main" id="{5F600523-3A3C-4BAD-F31C-BCAD6AB8DBB9}"/>
              </a:ext>
            </a:extLst>
          </p:cNvPr>
          <p:cNvSpPr>
            <a:spLocks noGrp="1"/>
          </p:cNvSpPr>
          <p:nvPr>
            <p:ph type="ftr" sz="quarter" idx="11"/>
          </p:nvPr>
        </p:nvSpPr>
        <p:spPr/>
        <p:txBody>
          <a:bodyPr/>
          <a:lstStyle/>
          <a:p>
            <a:r>
              <a:rPr lang="en-IN"/>
              <a:t>UNIT I</a:t>
            </a:r>
          </a:p>
        </p:txBody>
      </p:sp>
      <p:sp>
        <p:nvSpPr>
          <p:cNvPr id="5" name="Slide Number Placeholder 4">
            <a:extLst>
              <a:ext uri="{FF2B5EF4-FFF2-40B4-BE49-F238E27FC236}">
                <a16:creationId xmlns:a16="http://schemas.microsoft.com/office/drawing/2014/main" id="{8BB0E90C-0A5A-3076-385E-443A54FA90A8}"/>
              </a:ext>
            </a:extLst>
          </p:cNvPr>
          <p:cNvSpPr>
            <a:spLocks noGrp="1"/>
          </p:cNvSpPr>
          <p:nvPr>
            <p:ph type="sldNum" sz="quarter" idx="12"/>
          </p:nvPr>
        </p:nvSpPr>
        <p:spPr/>
        <p:txBody>
          <a:bodyPr/>
          <a:lstStyle/>
          <a:p>
            <a:fld id="{3467BBCD-0D13-431F-A782-7BE6456130A5}" type="slidenum">
              <a:rPr lang="en-IN" smtClean="0"/>
              <a:t>11</a:t>
            </a:fld>
            <a:endParaRPr lang="en-IN"/>
          </a:p>
        </p:txBody>
      </p:sp>
    </p:spTree>
    <p:extLst>
      <p:ext uri="{BB962C8B-B14F-4D97-AF65-F5344CB8AC3E}">
        <p14:creationId xmlns:p14="http://schemas.microsoft.com/office/powerpoint/2010/main" val="38696086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3E008B-C382-4845-CF69-2AF0B4C7E1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C8AE82-1274-FBAD-C920-4165F9774CA4}"/>
              </a:ext>
            </a:extLst>
          </p:cNvPr>
          <p:cNvSpPr>
            <a:spLocks noGrp="1"/>
          </p:cNvSpPr>
          <p:nvPr>
            <p:ph type="title"/>
          </p:nvPr>
        </p:nvSpPr>
        <p:spPr/>
        <p:txBody>
          <a:bodyPr/>
          <a:lstStyle/>
          <a:p>
            <a:r>
              <a:rPr lang="en-US" sz="3600" dirty="0"/>
              <a:t>Major tools &amp; methods used in AI</a:t>
            </a:r>
            <a:endParaRPr lang="en-IN" sz="3600" dirty="0"/>
          </a:p>
        </p:txBody>
      </p:sp>
      <p:sp>
        <p:nvSpPr>
          <p:cNvPr id="3" name="Content Placeholder 2">
            <a:extLst>
              <a:ext uri="{FF2B5EF4-FFF2-40B4-BE49-F238E27FC236}">
                <a16:creationId xmlns:a16="http://schemas.microsoft.com/office/drawing/2014/main" id="{6A5662CA-EBB5-03A9-4E68-231FFBDBCA57}"/>
              </a:ext>
            </a:extLst>
          </p:cNvPr>
          <p:cNvSpPr>
            <a:spLocks noGrp="1"/>
          </p:cNvSpPr>
          <p:nvPr>
            <p:ph idx="1"/>
          </p:nvPr>
        </p:nvSpPr>
        <p:spPr/>
        <p:txBody>
          <a:bodyPr>
            <a:normAutofit lnSpcReduction="10000"/>
          </a:bodyPr>
          <a:lstStyle/>
          <a:p>
            <a:pPr algn="just"/>
            <a:r>
              <a:rPr lang="en-IN" b="1" dirty="0"/>
              <a:t>Logic (symbolic methods)</a:t>
            </a:r>
          </a:p>
          <a:p>
            <a:pPr lvl="1" algn="just"/>
            <a:r>
              <a:rPr lang="en-IN" b="1" dirty="0"/>
              <a:t>Propositional / First-order logic:</a:t>
            </a:r>
            <a:r>
              <a:rPr lang="en-IN" dirty="0"/>
              <a:t> rule-based expert systems, theorem provers.</a:t>
            </a:r>
          </a:p>
          <a:p>
            <a:pPr lvl="1" algn="just"/>
            <a:r>
              <a:rPr lang="en-IN" b="1" dirty="0"/>
              <a:t>Description logics / ontologies:</a:t>
            </a:r>
            <a:r>
              <a:rPr lang="en-IN" dirty="0"/>
              <a:t> semantic web, knowledge representation (OWL).</a:t>
            </a:r>
          </a:p>
          <a:p>
            <a:pPr lvl="1" algn="just"/>
            <a:r>
              <a:rPr lang="en-IN" b="1" dirty="0"/>
              <a:t>Use-cases:</a:t>
            </a:r>
            <a:r>
              <a:rPr lang="en-IN" dirty="0"/>
              <a:t> explainable reasoning, knowledge bases, program verification.</a:t>
            </a:r>
          </a:p>
          <a:p>
            <a:pPr algn="just"/>
            <a:r>
              <a:rPr lang="en-IN" b="1" dirty="0"/>
              <a:t>Probability &amp; statistics</a:t>
            </a:r>
          </a:p>
          <a:p>
            <a:pPr lvl="1" algn="just"/>
            <a:r>
              <a:rPr lang="en-IN" b="1" dirty="0"/>
              <a:t>Bayesian methods:</a:t>
            </a:r>
            <a:r>
              <a:rPr lang="en-IN" dirty="0"/>
              <a:t> Bayesian networks, hidden Markov models (HMMs), Kalman filters.</a:t>
            </a:r>
          </a:p>
          <a:p>
            <a:pPr lvl="1" algn="just"/>
            <a:r>
              <a:rPr lang="en-IN" b="1" dirty="0"/>
              <a:t>Probabilistic inference:</a:t>
            </a:r>
            <a:r>
              <a:rPr lang="en-IN" dirty="0"/>
              <a:t> (Markov Chain Monte Carlo) MCMC, variational inference.</a:t>
            </a:r>
          </a:p>
          <a:p>
            <a:pPr lvl="1" algn="just"/>
            <a:r>
              <a:rPr lang="en-IN" b="1" dirty="0"/>
              <a:t>Use-cases:</a:t>
            </a:r>
            <a:r>
              <a:rPr lang="en-IN" dirty="0"/>
              <a:t> sensor fusion, uncertainty </a:t>
            </a:r>
            <a:r>
              <a:rPr lang="en-IN" dirty="0" err="1"/>
              <a:t>modeling</a:t>
            </a:r>
            <a:r>
              <a:rPr lang="en-IN" dirty="0"/>
              <a:t>, probabilistic reasoning (diagnosis, forecasting).</a:t>
            </a:r>
          </a:p>
        </p:txBody>
      </p:sp>
      <p:sp>
        <p:nvSpPr>
          <p:cNvPr id="4" name="Footer Placeholder 3">
            <a:extLst>
              <a:ext uri="{FF2B5EF4-FFF2-40B4-BE49-F238E27FC236}">
                <a16:creationId xmlns:a16="http://schemas.microsoft.com/office/drawing/2014/main" id="{66179B33-F327-2FBF-BE3F-CFCF041BD337}"/>
              </a:ext>
            </a:extLst>
          </p:cNvPr>
          <p:cNvSpPr>
            <a:spLocks noGrp="1"/>
          </p:cNvSpPr>
          <p:nvPr>
            <p:ph type="ftr" sz="quarter" idx="11"/>
          </p:nvPr>
        </p:nvSpPr>
        <p:spPr/>
        <p:txBody>
          <a:bodyPr/>
          <a:lstStyle/>
          <a:p>
            <a:r>
              <a:rPr lang="en-IN"/>
              <a:t>UNIT I</a:t>
            </a:r>
          </a:p>
        </p:txBody>
      </p:sp>
      <p:sp>
        <p:nvSpPr>
          <p:cNvPr id="5" name="Slide Number Placeholder 4">
            <a:extLst>
              <a:ext uri="{FF2B5EF4-FFF2-40B4-BE49-F238E27FC236}">
                <a16:creationId xmlns:a16="http://schemas.microsoft.com/office/drawing/2014/main" id="{6F86BB9B-C477-D327-44E3-44C4E66E4555}"/>
              </a:ext>
            </a:extLst>
          </p:cNvPr>
          <p:cNvSpPr>
            <a:spLocks noGrp="1"/>
          </p:cNvSpPr>
          <p:nvPr>
            <p:ph type="sldNum" sz="quarter" idx="12"/>
          </p:nvPr>
        </p:nvSpPr>
        <p:spPr/>
        <p:txBody>
          <a:bodyPr/>
          <a:lstStyle/>
          <a:p>
            <a:fld id="{3467BBCD-0D13-431F-A782-7BE6456130A5}" type="slidenum">
              <a:rPr lang="en-IN" smtClean="0"/>
              <a:t>12</a:t>
            </a:fld>
            <a:endParaRPr lang="en-IN"/>
          </a:p>
        </p:txBody>
      </p:sp>
    </p:spTree>
    <p:extLst>
      <p:ext uri="{BB962C8B-B14F-4D97-AF65-F5344CB8AC3E}">
        <p14:creationId xmlns:p14="http://schemas.microsoft.com/office/powerpoint/2010/main" val="12457132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5C5FDC-1A5F-E0B1-9AB4-AB92ADBA31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53EF91-BBB4-9DD0-EB28-0A5913307464}"/>
              </a:ext>
            </a:extLst>
          </p:cNvPr>
          <p:cNvSpPr>
            <a:spLocks noGrp="1"/>
          </p:cNvSpPr>
          <p:nvPr>
            <p:ph type="title"/>
          </p:nvPr>
        </p:nvSpPr>
        <p:spPr/>
        <p:txBody>
          <a:bodyPr/>
          <a:lstStyle/>
          <a:p>
            <a:r>
              <a:rPr lang="en-US" sz="3600" dirty="0"/>
              <a:t>Major tools &amp; methods used in AI</a:t>
            </a:r>
            <a:endParaRPr lang="en-IN" sz="3600" dirty="0"/>
          </a:p>
        </p:txBody>
      </p:sp>
      <p:sp>
        <p:nvSpPr>
          <p:cNvPr id="3" name="Content Placeholder 2">
            <a:extLst>
              <a:ext uri="{FF2B5EF4-FFF2-40B4-BE49-F238E27FC236}">
                <a16:creationId xmlns:a16="http://schemas.microsoft.com/office/drawing/2014/main" id="{54A964AE-2550-D8B4-4411-6083A5B3C5F3}"/>
              </a:ext>
            </a:extLst>
          </p:cNvPr>
          <p:cNvSpPr>
            <a:spLocks noGrp="1"/>
          </p:cNvSpPr>
          <p:nvPr>
            <p:ph idx="1"/>
          </p:nvPr>
        </p:nvSpPr>
        <p:spPr/>
        <p:txBody>
          <a:bodyPr>
            <a:normAutofit lnSpcReduction="10000"/>
          </a:bodyPr>
          <a:lstStyle/>
          <a:p>
            <a:pPr algn="just"/>
            <a:r>
              <a:rPr lang="en-IN" b="1" dirty="0"/>
              <a:t>Economical / game-theoretic methods</a:t>
            </a:r>
          </a:p>
          <a:p>
            <a:pPr lvl="1" algn="just"/>
            <a:r>
              <a:rPr lang="en-IN" b="1" dirty="0"/>
              <a:t>Game theory:</a:t>
            </a:r>
            <a:r>
              <a:rPr lang="en-IN" dirty="0"/>
              <a:t> Nash equilibria, mechanism design — </a:t>
            </a:r>
            <a:r>
              <a:rPr lang="en-IN" dirty="0" err="1"/>
              <a:t>modeling</a:t>
            </a:r>
            <a:r>
              <a:rPr lang="en-IN" dirty="0"/>
              <a:t> multi-agent strategic interactions.</a:t>
            </a:r>
          </a:p>
          <a:p>
            <a:pPr lvl="1" algn="just"/>
            <a:r>
              <a:rPr lang="en-IN" b="1" dirty="0"/>
              <a:t>Auctions &amp; incentives:</a:t>
            </a:r>
            <a:r>
              <a:rPr lang="en-IN" dirty="0"/>
              <a:t> used in resource allocation (e.g., ad auctions) and mechanism design for truthful reporting.</a:t>
            </a:r>
          </a:p>
          <a:p>
            <a:pPr lvl="1" algn="just"/>
            <a:r>
              <a:rPr lang="en-IN" b="1" dirty="0"/>
              <a:t>Reinforcement learning &amp; decision theory:</a:t>
            </a:r>
            <a:r>
              <a:rPr lang="en-IN" dirty="0"/>
              <a:t> expected utility, inverse reinforcement learning (understanding preferences).</a:t>
            </a:r>
          </a:p>
          <a:p>
            <a:pPr lvl="1" algn="just"/>
            <a:r>
              <a:rPr lang="en-IN" b="1" dirty="0"/>
              <a:t>Use-cases:</a:t>
            </a:r>
            <a:r>
              <a:rPr lang="en-IN" dirty="0"/>
              <a:t> multi-agent systems, auctions, market simulations, negotiation agents.</a:t>
            </a:r>
          </a:p>
          <a:p>
            <a:pPr algn="just"/>
            <a:r>
              <a:rPr lang="en-IN" b="1" dirty="0"/>
              <a:t>Linear algebra &amp; numerical methods</a:t>
            </a:r>
          </a:p>
          <a:p>
            <a:pPr lvl="1" algn="just"/>
            <a:r>
              <a:rPr lang="en-IN" b="1" dirty="0"/>
              <a:t>Core to ML</a:t>
            </a:r>
            <a:r>
              <a:rPr lang="en-IN" dirty="0"/>
              <a:t>: matrix operations, SVD, </a:t>
            </a:r>
            <a:r>
              <a:rPr lang="en-IN" dirty="0" err="1"/>
              <a:t>eigenanalysis</a:t>
            </a:r>
            <a:r>
              <a:rPr lang="en-IN" dirty="0"/>
              <a:t> — implemented efficiently on hardware (GPUs/TPUs).</a:t>
            </a:r>
          </a:p>
          <a:p>
            <a:pPr lvl="1" algn="just"/>
            <a:r>
              <a:rPr lang="en-IN" b="1" dirty="0"/>
              <a:t>Use-cases:</a:t>
            </a:r>
            <a:r>
              <a:rPr lang="en-IN" dirty="0"/>
              <a:t> embeddings, PCA, spectral clustering, training neural networks.</a:t>
            </a:r>
          </a:p>
        </p:txBody>
      </p:sp>
      <p:sp>
        <p:nvSpPr>
          <p:cNvPr id="4" name="Footer Placeholder 3">
            <a:extLst>
              <a:ext uri="{FF2B5EF4-FFF2-40B4-BE49-F238E27FC236}">
                <a16:creationId xmlns:a16="http://schemas.microsoft.com/office/drawing/2014/main" id="{111D517A-FFCA-33C1-24BA-ECAD939B32A2}"/>
              </a:ext>
            </a:extLst>
          </p:cNvPr>
          <p:cNvSpPr>
            <a:spLocks noGrp="1"/>
          </p:cNvSpPr>
          <p:nvPr>
            <p:ph type="ftr" sz="quarter" idx="11"/>
          </p:nvPr>
        </p:nvSpPr>
        <p:spPr/>
        <p:txBody>
          <a:bodyPr/>
          <a:lstStyle/>
          <a:p>
            <a:r>
              <a:rPr lang="en-IN"/>
              <a:t>UNIT I</a:t>
            </a:r>
          </a:p>
        </p:txBody>
      </p:sp>
      <p:sp>
        <p:nvSpPr>
          <p:cNvPr id="5" name="Slide Number Placeholder 4">
            <a:extLst>
              <a:ext uri="{FF2B5EF4-FFF2-40B4-BE49-F238E27FC236}">
                <a16:creationId xmlns:a16="http://schemas.microsoft.com/office/drawing/2014/main" id="{52209A46-506D-BE32-FF34-5358DAEA100F}"/>
              </a:ext>
            </a:extLst>
          </p:cNvPr>
          <p:cNvSpPr>
            <a:spLocks noGrp="1"/>
          </p:cNvSpPr>
          <p:nvPr>
            <p:ph type="sldNum" sz="quarter" idx="12"/>
          </p:nvPr>
        </p:nvSpPr>
        <p:spPr/>
        <p:txBody>
          <a:bodyPr/>
          <a:lstStyle/>
          <a:p>
            <a:fld id="{3467BBCD-0D13-431F-A782-7BE6456130A5}" type="slidenum">
              <a:rPr lang="en-IN" smtClean="0"/>
              <a:t>13</a:t>
            </a:fld>
            <a:endParaRPr lang="en-IN"/>
          </a:p>
        </p:txBody>
      </p:sp>
    </p:spTree>
    <p:extLst>
      <p:ext uri="{BB962C8B-B14F-4D97-AF65-F5344CB8AC3E}">
        <p14:creationId xmlns:p14="http://schemas.microsoft.com/office/powerpoint/2010/main" val="26032982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374A6B-E049-8965-3674-46E3BC412F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7A4278-3BE8-A405-BF58-F7AE6D5EE4BD}"/>
              </a:ext>
            </a:extLst>
          </p:cNvPr>
          <p:cNvSpPr>
            <a:spLocks noGrp="1"/>
          </p:cNvSpPr>
          <p:nvPr>
            <p:ph type="title"/>
          </p:nvPr>
        </p:nvSpPr>
        <p:spPr/>
        <p:txBody>
          <a:bodyPr/>
          <a:lstStyle/>
          <a:p>
            <a:r>
              <a:rPr lang="en-US" sz="3600" dirty="0"/>
              <a:t>Major tools &amp; methods used in AI</a:t>
            </a:r>
            <a:endParaRPr lang="en-IN" sz="3600" dirty="0"/>
          </a:p>
        </p:txBody>
      </p:sp>
      <p:sp>
        <p:nvSpPr>
          <p:cNvPr id="3" name="Content Placeholder 2">
            <a:extLst>
              <a:ext uri="{FF2B5EF4-FFF2-40B4-BE49-F238E27FC236}">
                <a16:creationId xmlns:a16="http://schemas.microsoft.com/office/drawing/2014/main" id="{D6D17118-E3EC-D498-A903-6B41A82A3CD5}"/>
              </a:ext>
            </a:extLst>
          </p:cNvPr>
          <p:cNvSpPr>
            <a:spLocks noGrp="1"/>
          </p:cNvSpPr>
          <p:nvPr>
            <p:ph idx="1"/>
          </p:nvPr>
        </p:nvSpPr>
        <p:spPr/>
        <p:txBody>
          <a:bodyPr>
            <a:normAutofit/>
          </a:bodyPr>
          <a:lstStyle/>
          <a:p>
            <a:pPr algn="just"/>
            <a:r>
              <a:rPr lang="en-US" b="1" dirty="0"/>
              <a:t>Information theory</a:t>
            </a:r>
          </a:p>
          <a:p>
            <a:pPr lvl="1" algn="just"/>
            <a:r>
              <a:rPr lang="en-US" b="1" dirty="0"/>
              <a:t>Concepts:</a:t>
            </a:r>
            <a:r>
              <a:rPr lang="en-US" dirty="0"/>
              <a:t> entropy, </a:t>
            </a:r>
            <a:r>
              <a:rPr lang="en-IN" dirty="0"/>
              <a:t>Kullback-Leibler (</a:t>
            </a:r>
            <a:r>
              <a:rPr lang="en-US" dirty="0"/>
              <a:t>KL) divergence, mutual information — used to measure uncertainty, regularization, representation learning objectives.</a:t>
            </a:r>
          </a:p>
          <a:p>
            <a:pPr algn="just"/>
            <a:r>
              <a:rPr lang="en-US" b="1" dirty="0"/>
              <a:t>Control theory</a:t>
            </a:r>
          </a:p>
          <a:p>
            <a:pPr lvl="1" algn="just"/>
            <a:r>
              <a:rPr lang="en-US" b="1" dirty="0"/>
              <a:t>PID controllers, model predictive control (MPC), robust control.</a:t>
            </a:r>
            <a:endParaRPr lang="en-US" dirty="0"/>
          </a:p>
          <a:p>
            <a:pPr lvl="1" algn="just"/>
            <a:r>
              <a:rPr lang="en-US" b="1" dirty="0"/>
              <a:t>Use-cases:</a:t>
            </a:r>
            <a:r>
              <a:rPr lang="en-US" dirty="0"/>
              <a:t> robotics, autonomous vehicles, stabilizing dynamic systems.</a:t>
            </a:r>
          </a:p>
          <a:p>
            <a:pPr algn="just"/>
            <a:r>
              <a:rPr lang="en-US" b="1" dirty="0"/>
              <a:t>Heuristics &amp; knowledge engineering</a:t>
            </a:r>
          </a:p>
          <a:p>
            <a:pPr lvl="1" algn="just"/>
            <a:r>
              <a:rPr lang="en-US" b="1" dirty="0"/>
              <a:t>Human-crafted heuristics and domain knowledge</a:t>
            </a:r>
            <a:r>
              <a:rPr lang="en-US" dirty="0"/>
              <a:t> to speed search or improve interpretations in low-data regimes.</a:t>
            </a:r>
          </a:p>
        </p:txBody>
      </p:sp>
      <p:sp>
        <p:nvSpPr>
          <p:cNvPr id="4" name="Footer Placeholder 3">
            <a:extLst>
              <a:ext uri="{FF2B5EF4-FFF2-40B4-BE49-F238E27FC236}">
                <a16:creationId xmlns:a16="http://schemas.microsoft.com/office/drawing/2014/main" id="{ED0F550A-57FC-94DB-DE6D-4E1F3AB8CE7B}"/>
              </a:ext>
            </a:extLst>
          </p:cNvPr>
          <p:cNvSpPr>
            <a:spLocks noGrp="1"/>
          </p:cNvSpPr>
          <p:nvPr>
            <p:ph type="ftr" sz="quarter" idx="11"/>
          </p:nvPr>
        </p:nvSpPr>
        <p:spPr/>
        <p:txBody>
          <a:bodyPr/>
          <a:lstStyle/>
          <a:p>
            <a:r>
              <a:rPr lang="en-IN"/>
              <a:t>UNIT I</a:t>
            </a:r>
          </a:p>
        </p:txBody>
      </p:sp>
      <p:sp>
        <p:nvSpPr>
          <p:cNvPr id="5" name="Slide Number Placeholder 4">
            <a:extLst>
              <a:ext uri="{FF2B5EF4-FFF2-40B4-BE49-F238E27FC236}">
                <a16:creationId xmlns:a16="http://schemas.microsoft.com/office/drawing/2014/main" id="{E6A9A949-2859-48CC-B2DC-FC43C3B9A941}"/>
              </a:ext>
            </a:extLst>
          </p:cNvPr>
          <p:cNvSpPr>
            <a:spLocks noGrp="1"/>
          </p:cNvSpPr>
          <p:nvPr>
            <p:ph type="sldNum" sz="quarter" idx="12"/>
          </p:nvPr>
        </p:nvSpPr>
        <p:spPr/>
        <p:txBody>
          <a:bodyPr/>
          <a:lstStyle/>
          <a:p>
            <a:fld id="{3467BBCD-0D13-431F-A782-7BE6456130A5}" type="slidenum">
              <a:rPr lang="en-IN" smtClean="0"/>
              <a:t>14</a:t>
            </a:fld>
            <a:endParaRPr lang="en-IN"/>
          </a:p>
        </p:txBody>
      </p:sp>
    </p:spTree>
    <p:extLst>
      <p:ext uri="{BB962C8B-B14F-4D97-AF65-F5344CB8AC3E}">
        <p14:creationId xmlns:p14="http://schemas.microsoft.com/office/powerpoint/2010/main" val="35532786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D3A19B-6CB2-889F-32F9-DE19E5D0A7AC}"/>
              </a:ext>
            </a:extLst>
          </p:cNvPr>
          <p:cNvSpPr>
            <a:spLocks noGrp="1"/>
          </p:cNvSpPr>
          <p:nvPr>
            <p:ph type="title"/>
          </p:nvPr>
        </p:nvSpPr>
        <p:spPr/>
        <p:txBody>
          <a:bodyPr/>
          <a:lstStyle/>
          <a:p>
            <a:r>
              <a:rPr lang="en-US" sz="2800" dirty="0"/>
              <a:t>Disciplines AI draws upon — what each brings</a:t>
            </a:r>
            <a:endParaRPr lang="en-IN" sz="2800" dirty="0"/>
          </a:p>
        </p:txBody>
      </p:sp>
      <p:sp>
        <p:nvSpPr>
          <p:cNvPr id="3" name="Content Placeholder 2">
            <a:extLst>
              <a:ext uri="{FF2B5EF4-FFF2-40B4-BE49-F238E27FC236}">
                <a16:creationId xmlns:a16="http://schemas.microsoft.com/office/drawing/2014/main" id="{640BC162-70DB-F597-BD53-2FF3ED3C4F3C}"/>
              </a:ext>
            </a:extLst>
          </p:cNvPr>
          <p:cNvSpPr>
            <a:spLocks noGrp="1"/>
          </p:cNvSpPr>
          <p:nvPr>
            <p:ph idx="1"/>
          </p:nvPr>
        </p:nvSpPr>
        <p:spPr/>
        <p:txBody>
          <a:bodyPr>
            <a:normAutofit fontScale="92500" lnSpcReduction="20000"/>
          </a:bodyPr>
          <a:lstStyle/>
          <a:p>
            <a:pPr algn="just"/>
            <a:r>
              <a:rPr lang="en-IN" b="1" dirty="0"/>
              <a:t>Computer Science</a:t>
            </a:r>
          </a:p>
          <a:p>
            <a:pPr lvl="1" algn="just"/>
            <a:r>
              <a:rPr lang="en-IN" dirty="0"/>
              <a:t>Algorithms, data structures, complexity, distributed systems, software engineering.</a:t>
            </a:r>
          </a:p>
          <a:p>
            <a:pPr algn="just"/>
            <a:r>
              <a:rPr lang="en-IN" dirty="0"/>
              <a:t>Implements models efficiently and scales systems to production.</a:t>
            </a:r>
          </a:p>
          <a:p>
            <a:pPr algn="just"/>
            <a:r>
              <a:rPr lang="en-IN" b="1" dirty="0"/>
              <a:t>Mathematics</a:t>
            </a:r>
          </a:p>
          <a:p>
            <a:pPr lvl="1" algn="just"/>
            <a:r>
              <a:rPr lang="en-IN" dirty="0"/>
              <a:t>Linear algebra, probability, statistics, optimization, graph theory — the formal backbone of models and proofs.</a:t>
            </a:r>
          </a:p>
          <a:p>
            <a:pPr algn="just"/>
            <a:r>
              <a:rPr lang="en-IN" b="1" dirty="0"/>
              <a:t>Psychology &amp; Cognitive Science</a:t>
            </a:r>
          </a:p>
          <a:p>
            <a:pPr lvl="1" algn="just"/>
            <a:r>
              <a:rPr lang="en-IN" dirty="0"/>
              <a:t>Models of human learning and reasoning, cognitive architectures (Soar, ACT-R), human-computer interaction.</a:t>
            </a:r>
          </a:p>
          <a:p>
            <a:pPr lvl="1" algn="just"/>
            <a:r>
              <a:rPr lang="en-IN" dirty="0"/>
              <a:t>Inspire architectures and evaluation methods; inform usability and human-</a:t>
            </a:r>
            <a:r>
              <a:rPr lang="en-IN" dirty="0" err="1"/>
              <a:t>centered</a:t>
            </a:r>
            <a:r>
              <a:rPr lang="en-IN" dirty="0"/>
              <a:t> design.</a:t>
            </a:r>
          </a:p>
          <a:p>
            <a:pPr algn="just"/>
            <a:r>
              <a:rPr lang="en-IN" b="1" dirty="0"/>
              <a:t>Linguistics</a:t>
            </a:r>
          </a:p>
          <a:p>
            <a:pPr lvl="1" algn="just"/>
            <a:r>
              <a:rPr lang="en-IN" dirty="0"/>
              <a:t>Syntax, semantics, pragmatics inform NLP models, grammar formalisms, discourse </a:t>
            </a:r>
            <a:r>
              <a:rPr lang="en-IN" dirty="0" err="1"/>
              <a:t>modeling</a:t>
            </a:r>
            <a:r>
              <a:rPr lang="en-IN" dirty="0"/>
              <a:t>, and evaluation of language understanding.</a:t>
            </a:r>
          </a:p>
          <a:p>
            <a:pPr algn="just"/>
            <a:endParaRPr lang="en-IN" dirty="0"/>
          </a:p>
        </p:txBody>
      </p:sp>
      <p:sp>
        <p:nvSpPr>
          <p:cNvPr id="4" name="Footer Placeholder 3">
            <a:extLst>
              <a:ext uri="{FF2B5EF4-FFF2-40B4-BE49-F238E27FC236}">
                <a16:creationId xmlns:a16="http://schemas.microsoft.com/office/drawing/2014/main" id="{4E573621-8611-9DE4-42E3-05A7B73E2950}"/>
              </a:ext>
            </a:extLst>
          </p:cNvPr>
          <p:cNvSpPr>
            <a:spLocks noGrp="1"/>
          </p:cNvSpPr>
          <p:nvPr>
            <p:ph type="ftr" sz="quarter" idx="11"/>
          </p:nvPr>
        </p:nvSpPr>
        <p:spPr/>
        <p:txBody>
          <a:bodyPr/>
          <a:lstStyle/>
          <a:p>
            <a:r>
              <a:rPr lang="en-IN"/>
              <a:t>UNIT I</a:t>
            </a:r>
          </a:p>
        </p:txBody>
      </p:sp>
      <p:sp>
        <p:nvSpPr>
          <p:cNvPr id="5" name="Slide Number Placeholder 4">
            <a:extLst>
              <a:ext uri="{FF2B5EF4-FFF2-40B4-BE49-F238E27FC236}">
                <a16:creationId xmlns:a16="http://schemas.microsoft.com/office/drawing/2014/main" id="{737698E6-D8FF-86BB-A788-D04582D7F4A1}"/>
              </a:ext>
            </a:extLst>
          </p:cNvPr>
          <p:cNvSpPr>
            <a:spLocks noGrp="1"/>
          </p:cNvSpPr>
          <p:nvPr>
            <p:ph type="sldNum" sz="quarter" idx="12"/>
          </p:nvPr>
        </p:nvSpPr>
        <p:spPr/>
        <p:txBody>
          <a:bodyPr/>
          <a:lstStyle/>
          <a:p>
            <a:fld id="{3467BBCD-0D13-431F-A782-7BE6456130A5}" type="slidenum">
              <a:rPr lang="en-IN" smtClean="0"/>
              <a:t>15</a:t>
            </a:fld>
            <a:endParaRPr lang="en-IN"/>
          </a:p>
        </p:txBody>
      </p:sp>
    </p:spTree>
    <p:extLst>
      <p:ext uri="{BB962C8B-B14F-4D97-AF65-F5344CB8AC3E}">
        <p14:creationId xmlns:p14="http://schemas.microsoft.com/office/powerpoint/2010/main" val="6132077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BBEE5A-4E0F-D67A-8825-1EF5D9E5C4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2A7D92-B781-C234-F275-22D6395F749C}"/>
              </a:ext>
            </a:extLst>
          </p:cNvPr>
          <p:cNvSpPr>
            <a:spLocks noGrp="1"/>
          </p:cNvSpPr>
          <p:nvPr>
            <p:ph type="title"/>
          </p:nvPr>
        </p:nvSpPr>
        <p:spPr/>
        <p:txBody>
          <a:bodyPr/>
          <a:lstStyle/>
          <a:p>
            <a:r>
              <a:rPr lang="en-US" sz="2800" dirty="0"/>
              <a:t>Disciplines AI draws upon — what each brings</a:t>
            </a:r>
            <a:endParaRPr lang="en-IN" sz="2800" dirty="0"/>
          </a:p>
        </p:txBody>
      </p:sp>
      <p:sp>
        <p:nvSpPr>
          <p:cNvPr id="3" name="Content Placeholder 2">
            <a:extLst>
              <a:ext uri="{FF2B5EF4-FFF2-40B4-BE49-F238E27FC236}">
                <a16:creationId xmlns:a16="http://schemas.microsoft.com/office/drawing/2014/main" id="{32F80330-6921-0FDD-298F-339FC0E57EE8}"/>
              </a:ext>
            </a:extLst>
          </p:cNvPr>
          <p:cNvSpPr>
            <a:spLocks noGrp="1"/>
          </p:cNvSpPr>
          <p:nvPr>
            <p:ph idx="1"/>
          </p:nvPr>
        </p:nvSpPr>
        <p:spPr/>
        <p:txBody>
          <a:bodyPr>
            <a:normAutofit fontScale="92500" lnSpcReduction="10000"/>
          </a:bodyPr>
          <a:lstStyle/>
          <a:p>
            <a:pPr algn="just"/>
            <a:r>
              <a:rPr lang="en-US" b="1" dirty="0"/>
              <a:t>Philosophy</a:t>
            </a:r>
          </a:p>
          <a:p>
            <a:pPr lvl="1" algn="just"/>
            <a:r>
              <a:rPr lang="en-US" dirty="0"/>
              <a:t>Epistemology (what is knowledge?), logic, ethics — informs interpretability, fairness, and conceptual foundations (what is intelligence?).</a:t>
            </a:r>
          </a:p>
          <a:p>
            <a:pPr algn="just"/>
            <a:r>
              <a:rPr lang="en-US" b="1" dirty="0"/>
              <a:t>Neuroscience</a:t>
            </a:r>
          </a:p>
          <a:p>
            <a:pPr lvl="1" algn="just"/>
            <a:r>
              <a:rPr lang="en-US" dirty="0"/>
              <a:t>Insights into how biological brains learn and represent information (spiking neurons, hierarchical processing) inspire algorithms and architectures.</a:t>
            </a:r>
          </a:p>
          <a:p>
            <a:pPr algn="just"/>
            <a:r>
              <a:rPr lang="en-US" b="1" dirty="0"/>
              <a:t>Economics</a:t>
            </a:r>
          </a:p>
          <a:p>
            <a:pPr lvl="1" algn="just"/>
            <a:r>
              <a:rPr lang="en-US" dirty="0"/>
              <a:t>Decision theory, incentives, auctions, mechanism design guide design for multi-agent environments and marketplace systems (ads, marketplaces).</a:t>
            </a:r>
          </a:p>
          <a:p>
            <a:pPr algn="just"/>
            <a:r>
              <a:rPr lang="en-US" b="1" dirty="0"/>
              <a:t>Statistics</a:t>
            </a:r>
          </a:p>
          <a:p>
            <a:pPr lvl="1" algn="just"/>
            <a:r>
              <a:rPr lang="en-US" dirty="0"/>
              <a:t>Experimental design, inference, hypothesis testing — necessary for validating models and understanding uncertainty.</a:t>
            </a:r>
          </a:p>
        </p:txBody>
      </p:sp>
      <p:sp>
        <p:nvSpPr>
          <p:cNvPr id="4" name="Footer Placeholder 3">
            <a:extLst>
              <a:ext uri="{FF2B5EF4-FFF2-40B4-BE49-F238E27FC236}">
                <a16:creationId xmlns:a16="http://schemas.microsoft.com/office/drawing/2014/main" id="{06C84FA0-D272-A6CF-9949-C60211B706BE}"/>
              </a:ext>
            </a:extLst>
          </p:cNvPr>
          <p:cNvSpPr>
            <a:spLocks noGrp="1"/>
          </p:cNvSpPr>
          <p:nvPr>
            <p:ph type="ftr" sz="quarter" idx="11"/>
          </p:nvPr>
        </p:nvSpPr>
        <p:spPr/>
        <p:txBody>
          <a:bodyPr/>
          <a:lstStyle/>
          <a:p>
            <a:r>
              <a:rPr lang="en-IN"/>
              <a:t>UNIT I</a:t>
            </a:r>
          </a:p>
        </p:txBody>
      </p:sp>
      <p:sp>
        <p:nvSpPr>
          <p:cNvPr id="5" name="Slide Number Placeholder 4">
            <a:extLst>
              <a:ext uri="{FF2B5EF4-FFF2-40B4-BE49-F238E27FC236}">
                <a16:creationId xmlns:a16="http://schemas.microsoft.com/office/drawing/2014/main" id="{E7C7D008-2B51-68ED-48FE-82A516F53AD4}"/>
              </a:ext>
            </a:extLst>
          </p:cNvPr>
          <p:cNvSpPr>
            <a:spLocks noGrp="1"/>
          </p:cNvSpPr>
          <p:nvPr>
            <p:ph type="sldNum" sz="quarter" idx="12"/>
          </p:nvPr>
        </p:nvSpPr>
        <p:spPr/>
        <p:txBody>
          <a:bodyPr/>
          <a:lstStyle/>
          <a:p>
            <a:fld id="{3467BBCD-0D13-431F-A782-7BE6456130A5}" type="slidenum">
              <a:rPr lang="en-IN" smtClean="0"/>
              <a:t>16</a:t>
            </a:fld>
            <a:endParaRPr lang="en-IN"/>
          </a:p>
        </p:txBody>
      </p:sp>
    </p:spTree>
    <p:extLst>
      <p:ext uri="{BB962C8B-B14F-4D97-AF65-F5344CB8AC3E}">
        <p14:creationId xmlns:p14="http://schemas.microsoft.com/office/powerpoint/2010/main" val="27022257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240519-DC8C-E531-FBB7-FC636A06EA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A404C9-99D8-2A52-89A7-4F2E4DCD918B}"/>
              </a:ext>
            </a:extLst>
          </p:cNvPr>
          <p:cNvSpPr>
            <a:spLocks noGrp="1"/>
          </p:cNvSpPr>
          <p:nvPr>
            <p:ph type="title"/>
          </p:nvPr>
        </p:nvSpPr>
        <p:spPr/>
        <p:txBody>
          <a:bodyPr/>
          <a:lstStyle/>
          <a:p>
            <a:r>
              <a:rPr lang="en-US" sz="2800" dirty="0"/>
              <a:t>Disciplines AI draws upon — what each brings</a:t>
            </a:r>
            <a:endParaRPr lang="en-IN" sz="2800" dirty="0"/>
          </a:p>
        </p:txBody>
      </p:sp>
      <p:sp>
        <p:nvSpPr>
          <p:cNvPr id="3" name="Content Placeholder 2">
            <a:extLst>
              <a:ext uri="{FF2B5EF4-FFF2-40B4-BE49-F238E27FC236}">
                <a16:creationId xmlns:a16="http://schemas.microsoft.com/office/drawing/2014/main" id="{C965C513-5842-3D36-BBFA-A58FC92E129D}"/>
              </a:ext>
            </a:extLst>
          </p:cNvPr>
          <p:cNvSpPr>
            <a:spLocks noGrp="1"/>
          </p:cNvSpPr>
          <p:nvPr>
            <p:ph idx="1"/>
          </p:nvPr>
        </p:nvSpPr>
        <p:spPr/>
        <p:txBody>
          <a:bodyPr>
            <a:normAutofit/>
          </a:bodyPr>
          <a:lstStyle/>
          <a:p>
            <a:r>
              <a:rPr lang="en-US" b="1" dirty="0"/>
              <a:t>Control &amp; Robotics / Electrical Engineering</a:t>
            </a:r>
          </a:p>
          <a:p>
            <a:pPr lvl="1"/>
            <a:r>
              <a:rPr lang="en-US" dirty="0"/>
              <a:t>Sensors, actuators, control loops, embedded systems — enable real-world autonomous agents.</a:t>
            </a:r>
          </a:p>
          <a:p>
            <a:r>
              <a:rPr lang="en-US" b="1" dirty="0"/>
              <a:t>Other fields</a:t>
            </a:r>
          </a:p>
          <a:p>
            <a:pPr lvl="1"/>
            <a:r>
              <a:rPr lang="en-US" b="1" dirty="0"/>
              <a:t>Operations research:</a:t>
            </a:r>
            <a:r>
              <a:rPr lang="en-US" dirty="0"/>
              <a:t> optimization for logistics and scheduling.</a:t>
            </a:r>
          </a:p>
          <a:p>
            <a:pPr lvl="1"/>
            <a:r>
              <a:rPr lang="en-US" b="1" dirty="0"/>
              <a:t>Ethics &amp; law:</a:t>
            </a:r>
            <a:r>
              <a:rPr lang="en-US" dirty="0"/>
              <a:t> regulation, accountability, privacy-preserving techniques.</a:t>
            </a:r>
          </a:p>
          <a:p>
            <a:pPr lvl="1"/>
            <a:r>
              <a:rPr lang="en-US" b="1" dirty="0"/>
              <a:t>Domain fields (medicine, finance, biology, etc.):</a:t>
            </a:r>
            <a:r>
              <a:rPr lang="en-US" dirty="0"/>
              <a:t> provide domain knowledge and evaluation criteria.</a:t>
            </a:r>
          </a:p>
        </p:txBody>
      </p:sp>
      <p:sp>
        <p:nvSpPr>
          <p:cNvPr id="4" name="Footer Placeholder 3">
            <a:extLst>
              <a:ext uri="{FF2B5EF4-FFF2-40B4-BE49-F238E27FC236}">
                <a16:creationId xmlns:a16="http://schemas.microsoft.com/office/drawing/2014/main" id="{434B6DA9-2BAD-23D2-9DBF-B4F2BA0AD0D9}"/>
              </a:ext>
            </a:extLst>
          </p:cNvPr>
          <p:cNvSpPr>
            <a:spLocks noGrp="1"/>
          </p:cNvSpPr>
          <p:nvPr>
            <p:ph type="ftr" sz="quarter" idx="11"/>
          </p:nvPr>
        </p:nvSpPr>
        <p:spPr/>
        <p:txBody>
          <a:bodyPr/>
          <a:lstStyle/>
          <a:p>
            <a:r>
              <a:rPr lang="en-IN"/>
              <a:t>UNIT I</a:t>
            </a:r>
          </a:p>
        </p:txBody>
      </p:sp>
      <p:sp>
        <p:nvSpPr>
          <p:cNvPr id="5" name="Slide Number Placeholder 4">
            <a:extLst>
              <a:ext uri="{FF2B5EF4-FFF2-40B4-BE49-F238E27FC236}">
                <a16:creationId xmlns:a16="http://schemas.microsoft.com/office/drawing/2014/main" id="{364700E2-2FFA-2A40-2F79-6C72003E76E3}"/>
              </a:ext>
            </a:extLst>
          </p:cNvPr>
          <p:cNvSpPr>
            <a:spLocks noGrp="1"/>
          </p:cNvSpPr>
          <p:nvPr>
            <p:ph type="sldNum" sz="quarter" idx="12"/>
          </p:nvPr>
        </p:nvSpPr>
        <p:spPr/>
        <p:txBody>
          <a:bodyPr/>
          <a:lstStyle/>
          <a:p>
            <a:fld id="{3467BBCD-0D13-431F-A782-7BE6456130A5}" type="slidenum">
              <a:rPr lang="en-IN" smtClean="0"/>
              <a:t>17</a:t>
            </a:fld>
            <a:endParaRPr lang="en-IN"/>
          </a:p>
        </p:txBody>
      </p:sp>
    </p:spTree>
    <p:extLst>
      <p:ext uri="{BB962C8B-B14F-4D97-AF65-F5344CB8AC3E}">
        <p14:creationId xmlns:p14="http://schemas.microsoft.com/office/powerpoint/2010/main" val="28343631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t>Need for Artificial Intelligence</a:t>
            </a:r>
          </a:p>
        </p:txBody>
      </p:sp>
      <p:sp>
        <p:nvSpPr>
          <p:cNvPr id="3" name="Content Placeholder 2"/>
          <p:cNvSpPr>
            <a:spLocks noGrp="1"/>
          </p:cNvSpPr>
          <p:nvPr>
            <p:ph idx="1"/>
          </p:nvPr>
        </p:nvSpPr>
        <p:spPr/>
        <p:txBody>
          <a:bodyPr/>
          <a:lstStyle/>
          <a:p>
            <a:pPr lvl="0" algn="just"/>
            <a:r>
              <a:rPr lang="en-US" dirty="0">
                <a:latin typeface="+mj-lt"/>
              </a:rPr>
              <a:t>To create expert systems which exhibit intelligent behavior with the capability to learn, demonstrate, explain and advice its users.</a:t>
            </a:r>
          </a:p>
          <a:p>
            <a:pPr lvl="0" algn="just"/>
            <a:r>
              <a:rPr lang="en-US" dirty="0">
                <a:latin typeface="+mj-lt"/>
              </a:rPr>
              <a:t>Helping machines find solutions to complex problems like humans do and applying them as algorithms in a computer-friendly manner.</a:t>
            </a:r>
          </a:p>
          <a:p>
            <a:pPr algn="just"/>
            <a:endParaRPr lang="en-US" dirty="0">
              <a:latin typeface="+mj-lt"/>
            </a:endParaRPr>
          </a:p>
        </p:txBody>
      </p:sp>
      <p:sp>
        <p:nvSpPr>
          <p:cNvPr id="4" name="Footer Placeholder 3"/>
          <p:cNvSpPr>
            <a:spLocks noGrp="1"/>
          </p:cNvSpPr>
          <p:nvPr>
            <p:ph type="ftr" sz="quarter" idx="11"/>
          </p:nvPr>
        </p:nvSpPr>
        <p:spPr/>
        <p:txBody>
          <a:bodyPr/>
          <a:lstStyle/>
          <a:p>
            <a:r>
              <a:rPr lang="en-IN"/>
              <a:t>UNIT I</a:t>
            </a:r>
          </a:p>
        </p:txBody>
      </p:sp>
      <p:sp>
        <p:nvSpPr>
          <p:cNvPr id="5" name="Slide Number Placeholder 4"/>
          <p:cNvSpPr>
            <a:spLocks noGrp="1"/>
          </p:cNvSpPr>
          <p:nvPr>
            <p:ph type="sldNum" sz="quarter" idx="12"/>
          </p:nvPr>
        </p:nvSpPr>
        <p:spPr/>
        <p:txBody>
          <a:bodyPr/>
          <a:lstStyle/>
          <a:p>
            <a:fld id="{3467BBCD-0D13-431F-A782-7BE6456130A5}" type="slidenum">
              <a:rPr lang="en-IN" smtClean="0"/>
              <a:t>18</a:t>
            </a:fld>
            <a:endParaRPr lang="en-IN"/>
          </a:p>
        </p:txBody>
      </p:sp>
    </p:spTree>
    <p:extLst>
      <p:ext uri="{BB962C8B-B14F-4D97-AF65-F5344CB8AC3E}">
        <p14:creationId xmlns:p14="http://schemas.microsoft.com/office/powerpoint/2010/main" val="16465124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D4A7B5-A622-22F6-D884-080408E0F6EA}"/>
              </a:ext>
            </a:extLst>
          </p:cNvPr>
          <p:cNvSpPr>
            <a:spLocks noGrp="1"/>
          </p:cNvSpPr>
          <p:nvPr>
            <p:ph type="title"/>
          </p:nvPr>
        </p:nvSpPr>
        <p:spPr/>
        <p:txBody>
          <a:bodyPr/>
          <a:lstStyle/>
          <a:p>
            <a:r>
              <a:rPr lang="en-IN" dirty="0"/>
              <a:t>Approaches to AI</a:t>
            </a:r>
          </a:p>
        </p:txBody>
      </p:sp>
      <p:sp>
        <p:nvSpPr>
          <p:cNvPr id="3" name="Content Placeholder 2">
            <a:extLst>
              <a:ext uri="{FF2B5EF4-FFF2-40B4-BE49-F238E27FC236}">
                <a16:creationId xmlns:a16="http://schemas.microsoft.com/office/drawing/2014/main" id="{EA340F81-9FE9-A7BB-174B-5839222BD232}"/>
              </a:ext>
            </a:extLst>
          </p:cNvPr>
          <p:cNvSpPr>
            <a:spLocks noGrp="1"/>
          </p:cNvSpPr>
          <p:nvPr>
            <p:ph idx="1"/>
          </p:nvPr>
        </p:nvSpPr>
        <p:spPr/>
        <p:txBody>
          <a:bodyPr/>
          <a:lstStyle/>
          <a:p>
            <a:r>
              <a:rPr lang="en-US" dirty="0"/>
              <a:t>Artificial Intelligence has two fundamental philosophical foundations:</a:t>
            </a:r>
          </a:p>
          <a:p>
            <a:pPr lvl="1"/>
            <a:r>
              <a:rPr lang="en-US" b="1" dirty="0"/>
              <a:t>Rationalist Approach (Knowledge-based / Logic-based)</a:t>
            </a:r>
            <a:endParaRPr lang="en-US" dirty="0"/>
          </a:p>
          <a:p>
            <a:pPr lvl="1"/>
            <a:r>
              <a:rPr lang="en-US" b="1" dirty="0"/>
              <a:t>Empiricist Approach (Experience-based / Learning-based)</a:t>
            </a:r>
            <a:endParaRPr lang="en-US" dirty="0"/>
          </a:p>
          <a:p>
            <a:r>
              <a:rPr lang="en-US" dirty="0"/>
              <a:t>Both approaches differ in </a:t>
            </a:r>
            <a:r>
              <a:rPr lang="en-US" b="1" dirty="0"/>
              <a:t>how intelligence is acquired</a:t>
            </a:r>
            <a:r>
              <a:rPr lang="en-US" dirty="0"/>
              <a:t> and </a:t>
            </a:r>
            <a:r>
              <a:rPr lang="en-US" b="1" dirty="0"/>
              <a:t>how AI systems solve problems</a:t>
            </a:r>
            <a:r>
              <a:rPr lang="en-US" dirty="0"/>
              <a:t>.</a:t>
            </a:r>
          </a:p>
          <a:p>
            <a:endParaRPr lang="en-IN" dirty="0"/>
          </a:p>
        </p:txBody>
      </p:sp>
      <p:sp>
        <p:nvSpPr>
          <p:cNvPr id="4" name="Footer Placeholder 3">
            <a:extLst>
              <a:ext uri="{FF2B5EF4-FFF2-40B4-BE49-F238E27FC236}">
                <a16:creationId xmlns:a16="http://schemas.microsoft.com/office/drawing/2014/main" id="{6CE2FE1C-4985-89EF-A563-64CE16483A80}"/>
              </a:ext>
            </a:extLst>
          </p:cNvPr>
          <p:cNvSpPr>
            <a:spLocks noGrp="1"/>
          </p:cNvSpPr>
          <p:nvPr>
            <p:ph type="ftr" sz="quarter" idx="11"/>
          </p:nvPr>
        </p:nvSpPr>
        <p:spPr/>
        <p:txBody>
          <a:bodyPr/>
          <a:lstStyle/>
          <a:p>
            <a:r>
              <a:rPr lang="en-IN"/>
              <a:t>UNIT I</a:t>
            </a:r>
          </a:p>
        </p:txBody>
      </p:sp>
      <p:sp>
        <p:nvSpPr>
          <p:cNvPr id="5" name="Slide Number Placeholder 4">
            <a:extLst>
              <a:ext uri="{FF2B5EF4-FFF2-40B4-BE49-F238E27FC236}">
                <a16:creationId xmlns:a16="http://schemas.microsoft.com/office/drawing/2014/main" id="{C644F397-F2C1-063D-F4EE-388A09E93C03}"/>
              </a:ext>
            </a:extLst>
          </p:cNvPr>
          <p:cNvSpPr>
            <a:spLocks noGrp="1"/>
          </p:cNvSpPr>
          <p:nvPr>
            <p:ph type="sldNum" sz="quarter" idx="12"/>
          </p:nvPr>
        </p:nvSpPr>
        <p:spPr/>
        <p:txBody>
          <a:bodyPr/>
          <a:lstStyle/>
          <a:p>
            <a:fld id="{3467BBCD-0D13-431F-A782-7BE6456130A5}" type="slidenum">
              <a:rPr lang="en-IN" smtClean="0"/>
              <a:t>19</a:t>
            </a:fld>
            <a:endParaRPr lang="en-IN"/>
          </a:p>
        </p:txBody>
      </p:sp>
    </p:spTree>
    <p:extLst>
      <p:ext uri="{BB962C8B-B14F-4D97-AF65-F5344CB8AC3E}">
        <p14:creationId xmlns:p14="http://schemas.microsoft.com/office/powerpoint/2010/main" val="1053119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2BEA54-7D05-6CAC-9D67-C94DFF8476FD}"/>
              </a:ext>
            </a:extLst>
          </p:cNvPr>
          <p:cNvSpPr>
            <a:spLocks noGrp="1"/>
          </p:cNvSpPr>
          <p:nvPr>
            <p:ph type="title"/>
          </p:nvPr>
        </p:nvSpPr>
        <p:spPr/>
        <p:txBody>
          <a:bodyPr/>
          <a:lstStyle/>
          <a:p>
            <a:r>
              <a:rPr lang="en-IN" sz="3200" dirty="0"/>
              <a:t>Rationalist Approach (Rationalism)</a:t>
            </a:r>
          </a:p>
        </p:txBody>
      </p:sp>
      <p:sp>
        <p:nvSpPr>
          <p:cNvPr id="3" name="Content Placeholder 2">
            <a:extLst>
              <a:ext uri="{FF2B5EF4-FFF2-40B4-BE49-F238E27FC236}">
                <a16:creationId xmlns:a16="http://schemas.microsoft.com/office/drawing/2014/main" id="{5E5B8351-E034-B64F-2D4E-C57BC36DEB81}"/>
              </a:ext>
            </a:extLst>
          </p:cNvPr>
          <p:cNvSpPr>
            <a:spLocks noGrp="1"/>
          </p:cNvSpPr>
          <p:nvPr>
            <p:ph idx="1"/>
          </p:nvPr>
        </p:nvSpPr>
        <p:spPr/>
        <p:txBody>
          <a:bodyPr>
            <a:normAutofit fontScale="92500" lnSpcReduction="10000"/>
          </a:bodyPr>
          <a:lstStyle/>
          <a:p>
            <a:r>
              <a:rPr lang="en-US" dirty="0"/>
              <a:t>Knowledge and intelligence come from </a:t>
            </a:r>
            <a:r>
              <a:rPr lang="en-US" b="1" dirty="0"/>
              <a:t>reasoning</a:t>
            </a:r>
            <a:r>
              <a:rPr lang="en-US" dirty="0"/>
              <a:t>, </a:t>
            </a:r>
            <a:r>
              <a:rPr lang="en-US" b="1" dirty="0"/>
              <a:t>logic</a:t>
            </a:r>
            <a:r>
              <a:rPr lang="en-US" dirty="0"/>
              <a:t>, and </a:t>
            </a:r>
            <a:r>
              <a:rPr lang="en-US" b="1" dirty="0"/>
              <a:t>innate principles</a:t>
            </a:r>
            <a:r>
              <a:rPr lang="en-US" dirty="0"/>
              <a:t>, not from direct experience.</a:t>
            </a:r>
          </a:p>
          <a:p>
            <a:r>
              <a:rPr lang="en-US" dirty="0"/>
              <a:t>The system is built using </a:t>
            </a:r>
            <a:r>
              <a:rPr lang="en-US" b="1" dirty="0"/>
              <a:t>explicit knowledge</a:t>
            </a:r>
            <a:r>
              <a:rPr lang="en-US" dirty="0"/>
              <a:t> and </a:t>
            </a:r>
            <a:r>
              <a:rPr lang="en-US" b="1" dirty="0"/>
              <a:t>logical rules</a:t>
            </a:r>
            <a:r>
              <a:rPr lang="en-US" dirty="0"/>
              <a:t>.</a:t>
            </a:r>
          </a:p>
          <a:p>
            <a:r>
              <a:rPr lang="en-US" b="1" dirty="0"/>
              <a:t>How it works:</a:t>
            </a:r>
          </a:p>
          <a:p>
            <a:pPr lvl="1"/>
            <a:r>
              <a:rPr lang="en-US" dirty="0"/>
              <a:t>Human experts provide knowledge</a:t>
            </a:r>
          </a:p>
          <a:p>
            <a:pPr lvl="1"/>
            <a:r>
              <a:rPr lang="en-US" dirty="0"/>
              <a:t>Problem is converted into </a:t>
            </a:r>
            <a:r>
              <a:rPr lang="en-US" b="1" dirty="0"/>
              <a:t>rules</a:t>
            </a:r>
            <a:r>
              <a:rPr lang="en-US" dirty="0"/>
              <a:t>, </a:t>
            </a:r>
            <a:r>
              <a:rPr lang="en-US" b="1" dirty="0"/>
              <a:t>logic statements</a:t>
            </a:r>
            <a:r>
              <a:rPr lang="en-US" dirty="0"/>
              <a:t>, or </a:t>
            </a:r>
            <a:r>
              <a:rPr lang="en-US" b="1" dirty="0"/>
              <a:t>mathematical reasoning</a:t>
            </a:r>
            <a:endParaRPr lang="en-US" dirty="0"/>
          </a:p>
          <a:p>
            <a:pPr lvl="1"/>
            <a:r>
              <a:rPr lang="en-US" dirty="0"/>
              <a:t>AI system uses </a:t>
            </a:r>
            <a:r>
              <a:rPr lang="en-US" b="1" dirty="0"/>
              <a:t>deduction</a:t>
            </a:r>
            <a:r>
              <a:rPr lang="en-US" dirty="0"/>
              <a:t>, </a:t>
            </a:r>
            <a:r>
              <a:rPr lang="en-US" b="1" dirty="0"/>
              <a:t>inference</a:t>
            </a:r>
            <a:r>
              <a:rPr lang="en-US" dirty="0"/>
              <a:t>, and </a:t>
            </a:r>
            <a:r>
              <a:rPr lang="en-US" b="1" dirty="0"/>
              <a:t>symbolic reasoning</a:t>
            </a:r>
            <a:endParaRPr lang="en-US" dirty="0"/>
          </a:p>
          <a:p>
            <a:r>
              <a:rPr lang="en-US" b="1" dirty="0"/>
              <a:t>Techniques Include:</a:t>
            </a:r>
          </a:p>
          <a:p>
            <a:pPr lvl="1"/>
            <a:r>
              <a:rPr lang="en-US" dirty="0"/>
              <a:t>Rule-based systems</a:t>
            </a:r>
          </a:p>
          <a:p>
            <a:pPr lvl="1"/>
            <a:r>
              <a:rPr lang="en-US" dirty="0"/>
              <a:t>Expert systems</a:t>
            </a:r>
          </a:p>
          <a:p>
            <a:pPr lvl="1"/>
            <a:r>
              <a:rPr lang="en-US" dirty="0"/>
              <a:t>Logic programming (Prolog)</a:t>
            </a:r>
          </a:p>
          <a:p>
            <a:pPr lvl="1"/>
            <a:r>
              <a:rPr lang="en-US" dirty="0"/>
              <a:t>Knowledge graphs</a:t>
            </a:r>
          </a:p>
          <a:p>
            <a:pPr lvl="1"/>
            <a:r>
              <a:rPr lang="en-US" dirty="0"/>
              <a:t>Ontologies</a:t>
            </a:r>
          </a:p>
          <a:p>
            <a:pPr lvl="1"/>
            <a:r>
              <a:rPr lang="en-US" dirty="0"/>
              <a:t>Planning and search algorithms</a:t>
            </a:r>
          </a:p>
          <a:p>
            <a:endParaRPr lang="en-IN" dirty="0"/>
          </a:p>
        </p:txBody>
      </p:sp>
      <p:sp>
        <p:nvSpPr>
          <p:cNvPr id="4" name="Footer Placeholder 3">
            <a:extLst>
              <a:ext uri="{FF2B5EF4-FFF2-40B4-BE49-F238E27FC236}">
                <a16:creationId xmlns:a16="http://schemas.microsoft.com/office/drawing/2014/main" id="{EF15EF55-6D3F-016D-DF49-78A6D41BD152}"/>
              </a:ext>
            </a:extLst>
          </p:cNvPr>
          <p:cNvSpPr>
            <a:spLocks noGrp="1"/>
          </p:cNvSpPr>
          <p:nvPr>
            <p:ph type="ftr" sz="quarter" idx="11"/>
          </p:nvPr>
        </p:nvSpPr>
        <p:spPr/>
        <p:txBody>
          <a:bodyPr/>
          <a:lstStyle/>
          <a:p>
            <a:r>
              <a:rPr lang="en-IN" dirty="0"/>
              <a:t>UNIT I</a:t>
            </a:r>
          </a:p>
        </p:txBody>
      </p:sp>
      <p:sp>
        <p:nvSpPr>
          <p:cNvPr id="5" name="Slide Number Placeholder 4">
            <a:extLst>
              <a:ext uri="{FF2B5EF4-FFF2-40B4-BE49-F238E27FC236}">
                <a16:creationId xmlns:a16="http://schemas.microsoft.com/office/drawing/2014/main" id="{0CE9B4D3-E03A-1CC2-F9A6-F21EF52AEB6E}"/>
              </a:ext>
            </a:extLst>
          </p:cNvPr>
          <p:cNvSpPr>
            <a:spLocks noGrp="1"/>
          </p:cNvSpPr>
          <p:nvPr>
            <p:ph type="sldNum" sz="quarter" idx="12"/>
          </p:nvPr>
        </p:nvSpPr>
        <p:spPr/>
        <p:txBody>
          <a:bodyPr/>
          <a:lstStyle/>
          <a:p>
            <a:fld id="{3467BBCD-0D13-431F-A782-7BE6456130A5}" type="slidenum">
              <a:rPr lang="en-IN" smtClean="0"/>
              <a:t>20</a:t>
            </a:fld>
            <a:endParaRPr lang="en-IN"/>
          </a:p>
        </p:txBody>
      </p:sp>
    </p:spTree>
    <p:extLst>
      <p:ext uri="{BB962C8B-B14F-4D97-AF65-F5344CB8AC3E}">
        <p14:creationId xmlns:p14="http://schemas.microsoft.com/office/powerpoint/2010/main" val="38666273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5AFD8C-36F5-7314-700A-F3681C03C72B}"/>
              </a:ext>
            </a:extLst>
          </p:cNvPr>
          <p:cNvSpPr>
            <a:spLocks noGrp="1"/>
          </p:cNvSpPr>
          <p:nvPr>
            <p:ph type="title"/>
          </p:nvPr>
        </p:nvSpPr>
        <p:spPr/>
        <p:txBody>
          <a:bodyPr/>
          <a:lstStyle/>
          <a:p>
            <a:r>
              <a:rPr lang="en-IN" sz="3200" dirty="0"/>
              <a:t>Rationalist Approach</a:t>
            </a:r>
          </a:p>
        </p:txBody>
      </p:sp>
      <p:sp>
        <p:nvSpPr>
          <p:cNvPr id="3" name="Content Placeholder 2">
            <a:extLst>
              <a:ext uri="{FF2B5EF4-FFF2-40B4-BE49-F238E27FC236}">
                <a16:creationId xmlns:a16="http://schemas.microsoft.com/office/drawing/2014/main" id="{0F127FED-2205-7C13-6E07-191F442CD52E}"/>
              </a:ext>
            </a:extLst>
          </p:cNvPr>
          <p:cNvSpPr>
            <a:spLocks noGrp="1"/>
          </p:cNvSpPr>
          <p:nvPr>
            <p:ph sz="half" idx="1"/>
          </p:nvPr>
        </p:nvSpPr>
        <p:spPr/>
        <p:txBody>
          <a:bodyPr>
            <a:normAutofit lnSpcReduction="10000"/>
          </a:bodyPr>
          <a:lstStyle/>
          <a:p>
            <a:pPr algn="just"/>
            <a:r>
              <a:rPr lang="en-US" sz="2400" b="1" dirty="0"/>
              <a:t>Advantages:</a:t>
            </a:r>
          </a:p>
          <a:p>
            <a:pPr lvl="1" algn="just"/>
            <a:r>
              <a:rPr lang="en-US" sz="2000" dirty="0"/>
              <a:t>Transparent and explainable</a:t>
            </a:r>
          </a:p>
          <a:p>
            <a:pPr lvl="1" algn="just"/>
            <a:r>
              <a:rPr lang="en-US" sz="2000" dirty="0"/>
              <a:t>Works well for structured problems</a:t>
            </a:r>
          </a:p>
          <a:p>
            <a:pPr lvl="1" algn="just"/>
            <a:r>
              <a:rPr lang="en-US" sz="2000" dirty="0"/>
              <a:t>Easy to debug because rules are explicit</a:t>
            </a:r>
          </a:p>
          <a:p>
            <a:pPr algn="just"/>
            <a:r>
              <a:rPr lang="en-US" sz="2400" b="1" dirty="0"/>
              <a:t>Limitations:</a:t>
            </a:r>
          </a:p>
          <a:p>
            <a:pPr lvl="1" algn="just"/>
            <a:r>
              <a:rPr lang="en-US" sz="2000" dirty="0"/>
              <a:t>Requires a lot of manual knowledge engineering</a:t>
            </a:r>
          </a:p>
          <a:p>
            <a:pPr lvl="1" algn="just"/>
            <a:r>
              <a:rPr lang="en-US" sz="2000" dirty="0"/>
              <a:t>Cannot handle noise or uncertainty well</a:t>
            </a:r>
          </a:p>
          <a:p>
            <a:pPr lvl="1" algn="just"/>
            <a:r>
              <a:rPr lang="en-US" sz="2000" dirty="0"/>
              <a:t>Not suitable for learning from large data</a:t>
            </a:r>
          </a:p>
          <a:p>
            <a:pPr algn="just"/>
            <a:endParaRPr lang="en-IN" sz="2400" dirty="0"/>
          </a:p>
        </p:txBody>
      </p:sp>
      <p:sp>
        <p:nvSpPr>
          <p:cNvPr id="4" name="Content Placeholder 3">
            <a:extLst>
              <a:ext uri="{FF2B5EF4-FFF2-40B4-BE49-F238E27FC236}">
                <a16:creationId xmlns:a16="http://schemas.microsoft.com/office/drawing/2014/main" id="{BF14458C-57EE-4572-F38F-DEF616A5074D}"/>
              </a:ext>
            </a:extLst>
          </p:cNvPr>
          <p:cNvSpPr>
            <a:spLocks noGrp="1"/>
          </p:cNvSpPr>
          <p:nvPr>
            <p:ph sz="half" idx="2"/>
          </p:nvPr>
        </p:nvSpPr>
        <p:spPr/>
        <p:txBody>
          <a:bodyPr>
            <a:normAutofit lnSpcReduction="10000"/>
          </a:bodyPr>
          <a:lstStyle/>
          <a:p>
            <a:r>
              <a:rPr lang="en-US" sz="2400" b="1" dirty="0"/>
              <a:t>Real-Time Example:</a:t>
            </a:r>
          </a:p>
          <a:p>
            <a:pPr lvl="1"/>
            <a:r>
              <a:rPr lang="en-US" sz="2000" dirty="0"/>
              <a:t>A medical diagnosis expert system with rules like:</a:t>
            </a:r>
            <a:br>
              <a:rPr lang="en-US" sz="2000" dirty="0"/>
            </a:br>
            <a:r>
              <a:rPr lang="en-US" sz="2000" i="1" dirty="0"/>
              <a:t>IF fever AND cough THEN suspect flu</a:t>
            </a:r>
            <a:endParaRPr lang="en-US" sz="2000" dirty="0"/>
          </a:p>
          <a:p>
            <a:pPr lvl="1"/>
            <a:r>
              <a:rPr lang="en-US" sz="2000" dirty="0"/>
              <a:t>Chess programs using logical search</a:t>
            </a:r>
          </a:p>
          <a:p>
            <a:pPr lvl="1"/>
            <a:r>
              <a:rPr lang="en-US" sz="2000" dirty="0"/>
              <a:t>Debuggers/Compilers using logical rule sets</a:t>
            </a:r>
          </a:p>
          <a:p>
            <a:endParaRPr lang="en-IN" sz="2400" dirty="0"/>
          </a:p>
        </p:txBody>
      </p:sp>
      <p:sp>
        <p:nvSpPr>
          <p:cNvPr id="5" name="Footer Placeholder 4">
            <a:extLst>
              <a:ext uri="{FF2B5EF4-FFF2-40B4-BE49-F238E27FC236}">
                <a16:creationId xmlns:a16="http://schemas.microsoft.com/office/drawing/2014/main" id="{D35DFFFF-D247-4854-F1ED-E6FD870162CD}"/>
              </a:ext>
            </a:extLst>
          </p:cNvPr>
          <p:cNvSpPr>
            <a:spLocks noGrp="1"/>
          </p:cNvSpPr>
          <p:nvPr>
            <p:ph type="ftr" sz="quarter" idx="11"/>
          </p:nvPr>
        </p:nvSpPr>
        <p:spPr/>
        <p:txBody>
          <a:bodyPr/>
          <a:lstStyle/>
          <a:p>
            <a:r>
              <a:rPr lang="en-IN"/>
              <a:t>UNIT I</a:t>
            </a:r>
          </a:p>
        </p:txBody>
      </p:sp>
      <p:sp>
        <p:nvSpPr>
          <p:cNvPr id="6" name="Slide Number Placeholder 5">
            <a:extLst>
              <a:ext uri="{FF2B5EF4-FFF2-40B4-BE49-F238E27FC236}">
                <a16:creationId xmlns:a16="http://schemas.microsoft.com/office/drawing/2014/main" id="{3ED0F79E-A1B0-21FD-C65E-0EA1A5997681}"/>
              </a:ext>
            </a:extLst>
          </p:cNvPr>
          <p:cNvSpPr>
            <a:spLocks noGrp="1"/>
          </p:cNvSpPr>
          <p:nvPr>
            <p:ph type="sldNum" sz="quarter" idx="12"/>
          </p:nvPr>
        </p:nvSpPr>
        <p:spPr/>
        <p:txBody>
          <a:bodyPr/>
          <a:lstStyle/>
          <a:p>
            <a:fld id="{3467BBCD-0D13-431F-A782-7BE6456130A5}" type="slidenum">
              <a:rPr lang="en-IN" smtClean="0"/>
              <a:t>21</a:t>
            </a:fld>
            <a:endParaRPr lang="en-IN"/>
          </a:p>
        </p:txBody>
      </p:sp>
    </p:spTree>
    <p:extLst>
      <p:ext uri="{BB962C8B-B14F-4D97-AF65-F5344CB8AC3E}">
        <p14:creationId xmlns:p14="http://schemas.microsoft.com/office/powerpoint/2010/main" val="32089591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2946D7-6EAA-84B1-93CD-BE7C0F0B8B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119745-548F-E954-1FEF-F0DED56B99B1}"/>
              </a:ext>
            </a:extLst>
          </p:cNvPr>
          <p:cNvSpPr>
            <a:spLocks noGrp="1"/>
          </p:cNvSpPr>
          <p:nvPr>
            <p:ph type="title"/>
          </p:nvPr>
        </p:nvSpPr>
        <p:spPr/>
        <p:txBody>
          <a:bodyPr/>
          <a:lstStyle/>
          <a:p>
            <a:r>
              <a:rPr lang="en-IN" sz="3200" dirty="0"/>
              <a:t>Empiricist Approach (Empiricism)</a:t>
            </a:r>
          </a:p>
        </p:txBody>
      </p:sp>
      <p:sp>
        <p:nvSpPr>
          <p:cNvPr id="3" name="Content Placeholder 2">
            <a:extLst>
              <a:ext uri="{FF2B5EF4-FFF2-40B4-BE49-F238E27FC236}">
                <a16:creationId xmlns:a16="http://schemas.microsoft.com/office/drawing/2014/main" id="{4247758C-2B36-B5D3-2140-136FD1E0F77A}"/>
              </a:ext>
            </a:extLst>
          </p:cNvPr>
          <p:cNvSpPr>
            <a:spLocks noGrp="1"/>
          </p:cNvSpPr>
          <p:nvPr>
            <p:ph idx="1"/>
          </p:nvPr>
        </p:nvSpPr>
        <p:spPr/>
        <p:txBody>
          <a:bodyPr>
            <a:normAutofit lnSpcReduction="10000"/>
          </a:bodyPr>
          <a:lstStyle/>
          <a:p>
            <a:r>
              <a:rPr lang="en-US" dirty="0"/>
              <a:t>Knowledge comes from </a:t>
            </a:r>
            <a:r>
              <a:rPr lang="en-US" b="1" dirty="0"/>
              <a:t>experience</a:t>
            </a:r>
            <a:r>
              <a:rPr lang="en-US" dirty="0"/>
              <a:t>, </a:t>
            </a:r>
            <a:r>
              <a:rPr lang="en-US" b="1" dirty="0"/>
              <a:t>observation</a:t>
            </a:r>
            <a:r>
              <a:rPr lang="en-US" dirty="0"/>
              <a:t>, and </a:t>
            </a:r>
            <a:r>
              <a:rPr lang="en-US" b="1" dirty="0"/>
              <a:t>data</a:t>
            </a:r>
            <a:r>
              <a:rPr lang="en-US" dirty="0"/>
              <a:t>.</a:t>
            </a:r>
          </a:p>
          <a:p>
            <a:r>
              <a:rPr lang="en-US" dirty="0"/>
              <a:t>The system </a:t>
            </a:r>
            <a:r>
              <a:rPr lang="en-US" b="1" dirty="0"/>
              <a:t>learns patterns</a:t>
            </a:r>
            <a:r>
              <a:rPr lang="en-US" dirty="0"/>
              <a:t> from examples rather than from manually coded rules.</a:t>
            </a:r>
          </a:p>
          <a:p>
            <a:r>
              <a:rPr lang="en-US" b="1" dirty="0"/>
              <a:t>How it works:</a:t>
            </a:r>
          </a:p>
          <a:p>
            <a:pPr lvl="1"/>
            <a:r>
              <a:rPr lang="en-US" dirty="0"/>
              <a:t>Large dataset is provided</a:t>
            </a:r>
          </a:p>
          <a:p>
            <a:pPr lvl="1"/>
            <a:r>
              <a:rPr lang="en-US" dirty="0"/>
              <a:t>Statistical/machine learning models extract patterns</a:t>
            </a:r>
          </a:p>
          <a:p>
            <a:pPr lvl="1"/>
            <a:r>
              <a:rPr lang="en-US" dirty="0"/>
              <a:t>System improves performance with more training data</a:t>
            </a:r>
          </a:p>
          <a:p>
            <a:r>
              <a:rPr lang="en-US" b="1" dirty="0"/>
              <a:t>Techniques Include:</a:t>
            </a:r>
          </a:p>
          <a:p>
            <a:pPr lvl="1"/>
            <a:r>
              <a:rPr lang="en-US" dirty="0"/>
              <a:t>Machine Learning (ML)</a:t>
            </a:r>
          </a:p>
          <a:p>
            <a:pPr lvl="1"/>
            <a:r>
              <a:rPr lang="en-US" dirty="0"/>
              <a:t>Deep Learning</a:t>
            </a:r>
          </a:p>
          <a:p>
            <a:pPr lvl="1"/>
            <a:r>
              <a:rPr lang="en-US" dirty="0"/>
              <a:t>Neural Networks</a:t>
            </a:r>
          </a:p>
          <a:p>
            <a:pPr lvl="1"/>
            <a:r>
              <a:rPr lang="en-US" dirty="0"/>
              <a:t>Reinforcement Learning</a:t>
            </a:r>
          </a:p>
          <a:p>
            <a:pPr lvl="1"/>
            <a:r>
              <a:rPr lang="en-US" dirty="0"/>
              <a:t>Probabilistic models (Bayesian networks) </a:t>
            </a:r>
          </a:p>
          <a:p>
            <a:endParaRPr lang="en-IN" dirty="0"/>
          </a:p>
        </p:txBody>
      </p:sp>
      <p:sp>
        <p:nvSpPr>
          <p:cNvPr id="4" name="Footer Placeholder 3">
            <a:extLst>
              <a:ext uri="{FF2B5EF4-FFF2-40B4-BE49-F238E27FC236}">
                <a16:creationId xmlns:a16="http://schemas.microsoft.com/office/drawing/2014/main" id="{0D63C1D4-D592-7B13-EF65-A61E032F6A01}"/>
              </a:ext>
            </a:extLst>
          </p:cNvPr>
          <p:cNvSpPr>
            <a:spLocks noGrp="1"/>
          </p:cNvSpPr>
          <p:nvPr>
            <p:ph type="ftr" sz="quarter" idx="11"/>
          </p:nvPr>
        </p:nvSpPr>
        <p:spPr/>
        <p:txBody>
          <a:bodyPr/>
          <a:lstStyle/>
          <a:p>
            <a:r>
              <a:rPr lang="en-IN" dirty="0"/>
              <a:t>UNIT I</a:t>
            </a:r>
          </a:p>
        </p:txBody>
      </p:sp>
      <p:sp>
        <p:nvSpPr>
          <p:cNvPr id="5" name="Slide Number Placeholder 4">
            <a:extLst>
              <a:ext uri="{FF2B5EF4-FFF2-40B4-BE49-F238E27FC236}">
                <a16:creationId xmlns:a16="http://schemas.microsoft.com/office/drawing/2014/main" id="{4283AF24-9393-4AB3-7146-9AA58F7F1E49}"/>
              </a:ext>
            </a:extLst>
          </p:cNvPr>
          <p:cNvSpPr>
            <a:spLocks noGrp="1"/>
          </p:cNvSpPr>
          <p:nvPr>
            <p:ph type="sldNum" sz="quarter" idx="12"/>
          </p:nvPr>
        </p:nvSpPr>
        <p:spPr/>
        <p:txBody>
          <a:bodyPr/>
          <a:lstStyle/>
          <a:p>
            <a:fld id="{3467BBCD-0D13-431F-A782-7BE6456130A5}" type="slidenum">
              <a:rPr lang="en-IN" smtClean="0"/>
              <a:t>22</a:t>
            </a:fld>
            <a:endParaRPr lang="en-IN"/>
          </a:p>
        </p:txBody>
      </p:sp>
    </p:spTree>
    <p:extLst>
      <p:ext uri="{BB962C8B-B14F-4D97-AF65-F5344CB8AC3E}">
        <p14:creationId xmlns:p14="http://schemas.microsoft.com/office/powerpoint/2010/main" val="20967993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257F11-B570-69AC-AF77-BE533BE75B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3D2000-2375-26E0-3995-A85FAD3B707C}"/>
              </a:ext>
            </a:extLst>
          </p:cNvPr>
          <p:cNvSpPr>
            <a:spLocks noGrp="1"/>
          </p:cNvSpPr>
          <p:nvPr>
            <p:ph type="title"/>
          </p:nvPr>
        </p:nvSpPr>
        <p:spPr/>
        <p:txBody>
          <a:bodyPr/>
          <a:lstStyle/>
          <a:p>
            <a:r>
              <a:rPr lang="en-IN" sz="3200" dirty="0"/>
              <a:t>Empiricist Approach (Empiricism)</a:t>
            </a:r>
          </a:p>
        </p:txBody>
      </p:sp>
      <p:sp>
        <p:nvSpPr>
          <p:cNvPr id="3" name="Content Placeholder 2">
            <a:extLst>
              <a:ext uri="{FF2B5EF4-FFF2-40B4-BE49-F238E27FC236}">
                <a16:creationId xmlns:a16="http://schemas.microsoft.com/office/drawing/2014/main" id="{B825D1E9-03EA-B5E9-9D21-09A34FFB9A95}"/>
              </a:ext>
            </a:extLst>
          </p:cNvPr>
          <p:cNvSpPr>
            <a:spLocks noGrp="1"/>
          </p:cNvSpPr>
          <p:nvPr>
            <p:ph sz="half" idx="1"/>
          </p:nvPr>
        </p:nvSpPr>
        <p:spPr/>
        <p:txBody>
          <a:bodyPr>
            <a:normAutofit fontScale="92500" lnSpcReduction="10000"/>
          </a:bodyPr>
          <a:lstStyle/>
          <a:p>
            <a:pPr algn="just"/>
            <a:r>
              <a:rPr lang="en-US" sz="2400" b="1" dirty="0"/>
              <a:t>Advantages:</a:t>
            </a:r>
          </a:p>
          <a:p>
            <a:pPr lvl="1" algn="just"/>
            <a:r>
              <a:rPr lang="en-US" sz="2000" dirty="0"/>
              <a:t>Learns automatically from data</a:t>
            </a:r>
          </a:p>
          <a:p>
            <a:pPr lvl="1" algn="just"/>
            <a:r>
              <a:rPr lang="en-US" sz="2000" dirty="0"/>
              <a:t>Can handle noise, uncertainty, and complex patterns</a:t>
            </a:r>
          </a:p>
          <a:p>
            <a:pPr lvl="1" algn="just"/>
            <a:r>
              <a:rPr lang="en-US" sz="2000" dirty="0"/>
              <a:t>Very powerful for vision, speech, NLP</a:t>
            </a:r>
          </a:p>
          <a:p>
            <a:pPr algn="just"/>
            <a:r>
              <a:rPr lang="en-US" sz="2400" b="1" dirty="0"/>
              <a:t>Limitations:</a:t>
            </a:r>
          </a:p>
          <a:p>
            <a:pPr lvl="1" algn="just"/>
            <a:r>
              <a:rPr lang="en-US" sz="2000" dirty="0"/>
              <a:t>Needs large datasets</a:t>
            </a:r>
          </a:p>
          <a:p>
            <a:pPr lvl="1" algn="just"/>
            <a:r>
              <a:rPr lang="en-US" sz="2000" dirty="0"/>
              <a:t>Less interpretable (“black-box”)</a:t>
            </a:r>
          </a:p>
          <a:p>
            <a:pPr lvl="1" algn="just"/>
            <a:r>
              <a:rPr lang="en-US" sz="2000" dirty="0"/>
              <a:t>Performance depends on data quality</a:t>
            </a:r>
          </a:p>
        </p:txBody>
      </p:sp>
      <p:sp>
        <p:nvSpPr>
          <p:cNvPr id="4" name="Content Placeholder 3">
            <a:extLst>
              <a:ext uri="{FF2B5EF4-FFF2-40B4-BE49-F238E27FC236}">
                <a16:creationId xmlns:a16="http://schemas.microsoft.com/office/drawing/2014/main" id="{37338926-D083-58C3-F682-D98B2884D264}"/>
              </a:ext>
            </a:extLst>
          </p:cNvPr>
          <p:cNvSpPr>
            <a:spLocks noGrp="1"/>
          </p:cNvSpPr>
          <p:nvPr>
            <p:ph sz="half" idx="2"/>
          </p:nvPr>
        </p:nvSpPr>
        <p:spPr/>
        <p:txBody>
          <a:bodyPr>
            <a:normAutofit fontScale="92500" lnSpcReduction="10000"/>
          </a:bodyPr>
          <a:lstStyle/>
          <a:p>
            <a:pPr algn="just"/>
            <a:r>
              <a:rPr lang="en-US" sz="2400" b="1" dirty="0"/>
              <a:t>Real-Time Example:</a:t>
            </a:r>
          </a:p>
          <a:p>
            <a:pPr lvl="1" algn="just"/>
            <a:r>
              <a:rPr lang="en-US" sz="2000" dirty="0"/>
              <a:t>Facebook/Instagram recognizing faces from photos</a:t>
            </a:r>
          </a:p>
          <a:p>
            <a:pPr lvl="1" algn="just"/>
            <a:r>
              <a:rPr lang="en-US" sz="2000" dirty="0"/>
              <a:t>Google predicting traffic using past data</a:t>
            </a:r>
          </a:p>
          <a:p>
            <a:pPr lvl="1" algn="just"/>
            <a:r>
              <a:rPr lang="en-US" sz="2000" dirty="0"/>
              <a:t>Voice assistants learning speech patterns (Siri, Alexa)</a:t>
            </a:r>
            <a:endParaRPr lang="en-IN" sz="2400" dirty="0"/>
          </a:p>
        </p:txBody>
      </p:sp>
      <p:sp>
        <p:nvSpPr>
          <p:cNvPr id="5" name="Footer Placeholder 4">
            <a:extLst>
              <a:ext uri="{FF2B5EF4-FFF2-40B4-BE49-F238E27FC236}">
                <a16:creationId xmlns:a16="http://schemas.microsoft.com/office/drawing/2014/main" id="{512605A8-F577-0E3C-2F69-D034A0F0A334}"/>
              </a:ext>
            </a:extLst>
          </p:cNvPr>
          <p:cNvSpPr>
            <a:spLocks noGrp="1"/>
          </p:cNvSpPr>
          <p:nvPr>
            <p:ph type="ftr" sz="quarter" idx="11"/>
          </p:nvPr>
        </p:nvSpPr>
        <p:spPr/>
        <p:txBody>
          <a:bodyPr/>
          <a:lstStyle/>
          <a:p>
            <a:r>
              <a:rPr lang="en-IN"/>
              <a:t>UNIT I</a:t>
            </a:r>
          </a:p>
        </p:txBody>
      </p:sp>
      <p:sp>
        <p:nvSpPr>
          <p:cNvPr id="6" name="Slide Number Placeholder 5">
            <a:extLst>
              <a:ext uri="{FF2B5EF4-FFF2-40B4-BE49-F238E27FC236}">
                <a16:creationId xmlns:a16="http://schemas.microsoft.com/office/drawing/2014/main" id="{896E3DB3-6E46-F79F-5C89-9150F462D018}"/>
              </a:ext>
            </a:extLst>
          </p:cNvPr>
          <p:cNvSpPr>
            <a:spLocks noGrp="1"/>
          </p:cNvSpPr>
          <p:nvPr>
            <p:ph type="sldNum" sz="quarter" idx="12"/>
          </p:nvPr>
        </p:nvSpPr>
        <p:spPr/>
        <p:txBody>
          <a:bodyPr/>
          <a:lstStyle/>
          <a:p>
            <a:fld id="{3467BBCD-0D13-431F-A782-7BE6456130A5}" type="slidenum">
              <a:rPr lang="en-IN" smtClean="0"/>
              <a:t>23</a:t>
            </a:fld>
            <a:endParaRPr lang="en-IN"/>
          </a:p>
        </p:txBody>
      </p:sp>
    </p:spTree>
    <p:extLst>
      <p:ext uri="{BB962C8B-B14F-4D97-AF65-F5344CB8AC3E}">
        <p14:creationId xmlns:p14="http://schemas.microsoft.com/office/powerpoint/2010/main" val="27338178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Applications of AI</a:t>
            </a:r>
          </a:p>
        </p:txBody>
      </p:sp>
      <p:sp>
        <p:nvSpPr>
          <p:cNvPr id="3" name="Content Placeholder 2"/>
          <p:cNvSpPr>
            <a:spLocks noGrp="1"/>
          </p:cNvSpPr>
          <p:nvPr>
            <p:ph idx="1"/>
          </p:nvPr>
        </p:nvSpPr>
        <p:spPr/>
        <p:txBody>
          <a:bodyPr/>
          <a:lstStyle/>
          <a:p>
            <a:r>
              <a:rPr lang="en-US" i="1" dirty="0">
                <a:solidFill>
                  <a:srgbClr val="C00000"/>
                </a:solidFill>
                <a:effectLst>
                  <a:outerShdw blurRad="38100" dist="38100" dir="2700000" algn="tl">
                    <a:srgbClr val="000000">
                      <a:alpha val="43137"/>
                    </a:srgbClr>
                  </a:outerShdw>
                </a:effectLst>
              </a:rPr>
              <a:t>Natural Language Processing </a:t>
            </a:r>
          </a:p>
          <a:p>
            <a:r>
              <a:rPr lang="en-US" i="1" dirty="0">
                <a:solidFill>
                  <a:srgbClr val="C00000"/>
                </a:solidFill>
                <a:effectLst>
                  <a:outerShdw blurRad="38100" dist="38100" dir="2700000" algn="tl">
                    <a:srgbClr val="000000">
                      <a:alpha val="43137"/>
                    </a:srgbClr>
                  </a:outerShdw>
                </a:effectLst>
              </a:rPr>
              <a:t>Gaming</a:t>
            </a:r>
          </a:p>
          <a:p>
            <a:r>
              <a:rPr lang="en-US" i="1" dirty="0">
                <a:solidFill>
                  <a:srgbClr val="C00000"/>
                </a:solidFill>
                <a:effectLst>
                  <a:outerShdw blurRad="38100" dist="38100" dir="2700000" algn="tl">
                    <a:srgbClr val="000000">
                      <a:alpha val="43137"/>
                    </a:srgbClr>
                  </a:outerShdw>
                </a:effectLst>
              </a:rPr>
              <a:t>Speech Recognition </a:t>
            </a:r>
          </a:p>
          <a:p>
            <a:r>
              <a:rPr lang="en-US" i="1" dirty="0">
                <a:solidFill>
                  <a:srgbClr val="C00000"/>
                </a:solidFill>
                <a:effectLst>
                  <a:outerShdw blurRad="38100" dist="38100" dir="2700000" algn="tl">
                    <a:srgbClr val="000000">
                      <a:alpha val="43137"/>
                    </a:srgbClr>
                  </a:outerShdw>
                </a:effectLst>
              </a:rPr>
              <a:t>Vision Systems </a:t>
            </a:r>
          </a:p>
          <a:p>
            <a:r>
              <a:rPr lang="en-US" i="1" dirty="0">
                <a:solidFill>
                  <a:srgbClr val="C00000"/>
                </a:solidFill>
                <a:effectLst>
                  <a:outerShdw blurRad="38100" dist="38100" dir="2700000" algn="tl">
                    <a:srgbClr val="000000">
                      <a:alpha val="43137"/>
                    </a:srgbClr>
                  </a:outerShdw>
                </a:effectLst>
              </a:rPr>
              <a:t>Healthcare </a:t>
            </a:r>
          </a:p>
          <a:p>
            <a:r>
              <a:rPr lang="en-US" i="1" dirty="0">
                <a:solidFill>
                  <a:srgbClr val="C00000"/>
                </a:solidFill>
                <a:effectLst>
                  <a:outerShdw blurRad="38100" dist="38100" dir="2700000" algn="tl">
                    <a:srgbClr val="000000">
                      <a:alpha val="43137"/>
                    </a:srgbClr>
                  </a:outerShdw>
                </a:effectLst>
              </a:rPr>
              <a:t>Automotive </a:t>
            </a:r>
          </a:p>
        </p:txBody>
      </p:sp>
      <p:sp>
        <p:nvSpPr>
          <p:cNvPr id="4" name="Footer Placeholder 3"/>
          <p:cNvSpPr>
            <a:spLocks noGrp="1"/>
          </p:cNvSpPr>
          <p:nvPr>
            <p:ph type="ftr" sz="quarter" idx="11"/>
          </p:nvPr>
        </p:nvSpPr>
        <p:spPr/>
        <p:txBody>
          <a:bodyPr/>
          <a:lstStyle/>
          <a:p>
            <a:r>
              <a:rPr lang="en-IN"/>
              <a:t>UNIT I</a:t>
            </a:r>
          </a:p>
        </p:txBody>
      </p:sp>
      <p:sp>
        <p:nvSpPr>
          <p:cNvPr id="5" name="Slide Number Placeholder 4"/>
          <p:cNvSpPr>
            <a:spLocks noGrp="1"/>
          </p:cNvSpPr>
          <p:nvPr>
            <p:ph type="sldNum" sz="quarter" idx="12"/>
          </p:nvPr>
        </p:nvSpPr>
        <p:spPr/>
        <p:txBody>
          <a:bodyPr/>
          <a:lstStyle/>
          <a:p>
            <a:fld id="{3467BBCD-0D13-431F-A782-7BE6456130A5}" type="slidenum">
              <a:rPr lang="en-IN" smtClean="0"/>
              <a:t>24</a:t>
            </a:fld>
            <a:endParaRPr lang="en-IN"/>
          </a:p>
        </p:txBody>
      </p:sp>
    </p:spTree>
    <p:extLst>
      <p:ext uri="{BB962C8B-B14F-4D97-AF65-F5344CB8AC3E}">
        <p14:creationId xmlns:p14="http://schemas.microsoft.com/office/powerpoint/2010/main" val="27900533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Artificial Intelligence</a:t>
            </a:r>
          </a:p>
        </p:txBody>
      </p:sp>
      <p:sp>
        <p:nvSpPr>
          <p:cNvPr id="3" name="Content Placeholder 2"/>
          <p:cNvSpPr>
            <a:spLocks noGrp="1"/>
          </p:cNvSpPr>
          <p:nvPr>
            <p:ph idx="1"/>
          </p:nvPr>
        </p:nvSpPr>
        <p:spPr/>
        <p:txBody>
          <a:bodyPr>
            <a:normAutofit/>
          </a:bodyPr>
          <a:lstStyle/>
          <a:p>
            <a:pPr algn="just"/>
            <a:r>
              <a:rPr lang="en-US" dirty="0"/>
              <a:t>An AI system is composed of an agent and its environment. </a:t>
            </a:r>
          </a:p>
          <a:p>
            <a:pPr algn="just"/>
            <a:r>
              <a:rPr lang="en-US" dirty="0"/>
              <a:t>An agent(e.g., human or robot) is anything that can perceive its environment through sensors and acts upon that environment through effectors. </a:t>
            </a:r>
          </a:p>
          <a:p>
            <a:pPr algn="just"/>
            <a:r>
              <a:rPr lang="en-US" dirty="0"/>
              <a:t>Intelligent agents must be able to set goals and achieve them.</a:t>
            </a:r>
          </a:p>
          <a:p>
            <a:pPr algn="just"/>
            <a:r>
              <a:rPr lang="en-US" dirty="0"/>
              <a:t>Natural language processing gives machines the ability to read and understand human language, includes information retrieval, text mining, question answering and machine translation. </a:t>
            </a:r>
          </a:p>
        </p:txBody>
      </p:sp>
      <p:sp>
        <p:nvSpPr>
          <p:cNvPr id="4" name="Footer Placeholder 3"/>
          <p:cNvSpPr>
            <a:spLocks noGrp="1"/>
          </p:cNvSpPr>
          <p:nvPr>
            <p:ph type="ftr" sz="quarter" idx="11"/>
          </p:nvPr>
        </p:nvSpPr>
        <p:spPr/>
        <p:txBody>
          <a:bodyPr/>
          <a:lstStyle/>
          <a:p>
            <a:r>
              <a:rPr lang="en-IN"/>
              <a:t>UNIT I</a:t>
            </a:r>
          </a:p>
        </p:txBody>
      </p:sp>
      <p:sp>
        <p:nvSpPr>
          <p:cNvPr id="5" name="Slide Number Placeholder 4"/>
          <p:cNvSpPr>
            <a:spLocks noGrp="1"/>
          </p:cNvSpPr>
          <p:nvPr>
            <p:ph type="sldNum" sz="quarter" idx="12"/>
          </p:nvPr>
        </p:nvSpPr>
        <p:spPr/>
        <p:txBody>
          <a:bodyPr/>
          <a:lstStyle/>
          <a:p>
            <a:fld id="{3467BBCD-0D13-431F-A782-7BE6456130A5}" type="slidenum">
              <a:rPr lang="en-IN" smtClean="0"/>
              <a:t>25</a:t>
            </a:fld>
            <a:endParaRPr lang="en-IN"/>
          </a:p>
        </p:txBody>
      </p:sp>
    </p:spTree>
    <p:extLst>
      <p:ext uri="{BB962C8B-B14F-4D97-AF65-F5344CB8AC3E}">
        <p14:creationId xmlns:p14="http://schemas.microsoft.com/office/powerpoint/2010/main" val="223531170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Artificial Intelligence</a:t>
            </a:r>
          </a:p>
        </p:txBody>
      </p:sp>
      <p:sp>
        <p:nvSpPr>
          <p:cNvPr id="3" name="Content Placeholder 2"/>
          <p:cNvSpPr>
            <a:spLocks noGrp="1"/>
          </p:cNvSpPr>
          <p:nvPr>
            <p:ph idx="1"/>
          </p:nvPr>
        </p:nvSpPr>
        <p:spPr/>
        <p:txBody>
          <a:bodyPr>
            <a:normAutofit/>
          </a:bodyPr>
          <a:lstStyle/>
          <a:p>
            <a:pPr algn="just"/>
            <a:r>
              <a:rPr lang="en-US" dirty="0"/>
              <a:t>Machine perception is the ability to use input from sensors (such as cameras, microphones, sensors etc.) to deduce aspects of the world. e.g., Computer Vision. </a:t>
            </a:r>
          </a:p>
          <a:p>
            <a:pPr algn="just"/>
            <a:r>
              <a:rPr lang="en-US" dirty="0"/>
              <a:t>Concepts such as game theory, decision theory, necessitate that an agent be able to detect and model human emotions.</a:t>
            </a:r>
          </a:p>
          <a:p>
            <a:pPr algn="just"/>
            <a:endParaRPr lang="en-US" dirty="0"/>
          </a:p>
        </p:txBody>
      </p:sp>
      <p:sp>
        <p:nvSpPr>
          <p:cNvPr id="4" name="Footer Placeholder 3"/>
          <p:cNvSpPr>
            <a:spLocks noGrp="1"/>
          </p:cNvSpPr>
          <p:nvPr>
            <p:ph type="ftr" sz="quarter" idx="11"/>
          </p:nvPr>
        </p:nvSpPr>
        <p:spPr/>
        <p:txBody>
          <a:bodyPr/>
          <a:lstStyle/>
          <a:p>
            <a:r>
              <a:rPr lang="en-IN"/>
              <a:t>UNIT I</a:t>
            </a:r>
          </a:p>
        </p:txBody>
      </p:sp>
      <p:sp>
        <p:nvSpPr>
          <p:cNvPr id="5" name="Slide Number Placeholder 4"/>
          <p:cNvSpPr>
            <a:spLocks noGrp="1"/>
          </p:cNvSpPr>
          <p:nvPr>
            <p:ph type="sldNum" sz="quarter" idx="12"/>
          </p:nvPr>
        </p:nvSpPr>
        <p:spPr/>
        <p:txBody>
          <a:bodyPr/>
          <a:lstStyle/>
          <a:p>
            <a:fld id="{3467BBCD-0D13-431F-A782-7BE6456130A5}" type="slidenum">
              <a:rPr lang="en-IN" smtClean="0"/>
              <a:t>26</a:t>
            </a:fld>
            <a:endParaRPr lang="en-IN"/>
          </a:p>
        </p:txBody>
      </p:sp>
    </p:spTree>
    <p:extLst>
      <p:ext uri="{BB962C8B-B14F-4D97-AF65-F5344CB8AC3E}">
        <p14:creationId xmlns:p14="http://schemas.microsoft.com/office/powerpoint/2010/main" val="15663937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Goals of AI Research</a:t>
            </a:r>
          </a:p>
        </p:txBody>
      </p:sp>
      <p:sp>
        <p:nvSpPr>
          <p:cNvPr id="3" name="Content Placeholder 2"/>
          <p:cNvSpPr>
            <a:spLocks noGrp="1"/>
          </p:cNvSpPr>
          <p:nvPr>
            <p:ph idx="1"/>
          </p:nvPr>
        </p:nvSpPr>
        <p:spPr/>
        <p:txBody>
          <a:bodyPr>
            <a:normAutofit/>
          </a:bodyPr>
          <a:lstStyle/>
          <a:p>
            <a:r>
              <a:rPr lang="en-US" dirty="0"/>
              <a:t>Reasoning</a:t>
            </a:r>
          </a:p>
          <a:p>
            <a:r>
              <a:rPr lang="en-US" dirty="0"/>
              <a:t>Knowledge representation</a:t>
            </a:r>
          </a:p>
          <a:p>
            <a:r>
              <a:rPr lang="en-US" dirty="0"/>
              <a:t>Planning</a:t>
            </a:r>
          </a:p>
          <a:p>
            <a:r>
              <a:rPr lang="en-US" dirty="0"/>
              <a:t>Learning</a:t>
            </a:r>
          </a:p>
          <a:p>
            <a:r>
              <a:rPr lang="en-US" dirty="0"/>
              <a:t>Natural language processing</a:t>
            </a:r>
          </a:p>
          <a:p>
            <a:r>
              <a:rPr lang="en-US" dirty="0"/>
              <a:t>Perception and the ability to move and manipulate objects.</a:t>
            </a:r>
          </a:p>
        </p:txBody>
      </p:sp>
      <p:sp>
        <p:nvSpPr>
          <p:cNvPr id="4" name="Footer Placeholder 3"/>
          <p:cNvSpPr>
            <a:spLocks noGrp="1"/>
          </p:cNvSpPr>
          <p:nvPr>
            <p:ph type="ftr" sz="quarter" idx="11"/>
          </p:nvPr>
        </p:nvSpPr>
        <p:spPr/>
        <p:txBody>
          <a:bodyPr/>
          <a:lstStyle/>
          <a:p>
            <a:r>
              <a:rPr lang="en-IN"/>
              <a:t>UNIT I</a:t>
            </a:r>
          </a:p>
        </p:txBody>
      </p:sp>
      <p:sp>
        <p:nvSpPr>
          <p:cNvPr id="5" name="Slide Number Placeholder 4"/>
          <p:cNvSpPr>
            <a:spLocks noGrp="1"/>
          </p:cNvSpPr>
          <p:nvPr>
            <p:ph type="sldNum" sz="quarter" idx="12"/>
          </p:nvPr>
        </p:nvSpPr>
        <p:spPr/>
        <p:txBody>
          <a:bodyPr/>
          <a:lstStyle/>
          <a:p>
            <a:fld id="{3467BBCD-0D13-431F-A782-7BE6456130A5}" type="slidenum">
              <a:rPr lang="en-IN" smtClean="0"/>
              <a:t>27</a:t>
            </a:fld>
            <a:endParaRPr lang="en-IN"/>
          </a:p>
        </p:txBody>
      </p:sp>
    </p:spTree>
    <p:extLst>
      <p:ext uri="{BB962C8B-B14F-4D97-AF65-F5344CB8AC3E}">
        <p14:creationId xmlns:p14="http://schemas.microsoft.com/office/powerpoint/2010/main" val="33909317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Challenges of AI</a:t>
            </a:r>
          </a:p>
        </p:txBody>
      </p:sp>
      <p:sp>
        <p:nvSpPr>
          <p:cNvPr id="3" name="Content Placeholder 2"/>
          <p:cNvSpPr>
            <a:spLocks noGrp="1"/>
          </p:cNvSpPr>
          <p:nvPr>
            <p:ph idx="1"/>
          </p:nvPr>
        </p:nvSpPr>
        <p:spPr/>
        <p:txBody>
          <a:bodyPr/>
          <a:lstStyle/>
          <a:p>
            <a:pPr algn="just"/>
            <a:r>
              <a:rPr lang="en-US" dirty="0"/>
              <a:t>The overall research goal of artificial intelligence is to create technology that allows computers and machines to function in an intelligent manner. </a:t>
            </a:r>
          </a:p>
          <a:p>
            <a:pPr algn="just"/>
            <a:r>
              <a:rPr lang="en-US" dirty="0"/>
              <a:t>The general problem of simulating (or creating) intelligence has been broken down into sub-problems. </a:t>
            </a:r>
          </a:p>
          <a:p>
            <a:pPr algn="just"/>
            <a:r>
              <a:rPr lang="en-US" dirty="0"/>
              <a:t>These consist of particular capabilities that researchers expect an intelligent system to display</a:t>
            </a:r>
          </a:p>
        </p:txBody>
      </p:sp>
      <p:sp>
        <p:nvSpPr>
          <p:cNvPr id="4" name="Footer Placeholder 3"/>
          <p:cNvSpPr>
            <a:spLocks noGrp="1"/>
          </p:cNvSpPr>
          <p:nvPr>
            <p:ph type="ftr" sz="quarter" idx="11"/>
          </p:nvPr>
        </p:nvSpPr>
        <p:spPr/>
        <p:txBody>
          <a:bodyPr/>
          <a:lstStyle/>
          <a:p>
            <a:r>
              <a:rPr lang="en-IN"/>
              <a:t>UNIT I</a:t>
            </a:r>
          </a:p>
        </p:txBody>
      </p:sp>
      <p:sp>
        <p:nvSpPr>
          <p:cNvPr id="5" name="Slide Number Placeholder 4"/>
          <p:cNvSpPr>
            <a:spLocks noGrp="1"/>
          </p:cNvSpPr>
          <p:nvPr>
            <p:ph type="sldNum" sz="quarter" idx="12"/>
          </p:nvPr>
        </p:nvSpPr>
        <p:spPr/>
        <p:txBody>
          <a:bodyPr/>
          <a:lstStyle/>
          <a:p>
            <a:fld id="{3467BBCD-0D13-431F-A782-7BE6456130A5}" type="slidenum">
              <a:rPr lang="en-IN" smtClean="0"/>
              <a:t>28</a:t>
            </a:fld>
            <a:endParaRPr lang="en-IN"/>
          </a:p>
        </p:txBody>
      </p:sp>
    </p:spTree>
    <p:extLst>
      <p:ext uri="{BB962C8B-B14F-4D97-AF65-F5344CB8AC3E}">
        <p14:creationId xmlns:p14="http://schemas.microsoft.com/office/powerpoint/2010/main" val="9681901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t>Reasoning, problem solving</a:t>
            </a:r>
          </a:p>
        </p:txBody>
      </p:sp>
      <p:sp>
        <p:nvSpPr>
          <p:cNvPr id="3" name="Content Placeholder 2"/>
          <p:cNvSpPr>
            <a:spLocks noGrp="1"/>
          </p:cNvSpPr>
          <p:nvPr>
            <p:ph idx="1"/>
          </p:nvPr>
        </p:nvSpPr>
        <p:spPr/>
        <p:txBody>
          <a:bodyPr/>
          <a:lstStyle/>
          <a:p>
            <a:pPr algn="just"/>
            <a:r>
              <a:rPr lang="en-US" dirty="0"/>
              <a:t>Problem solving refers to cognitive processing directed at achieving a goal when the problem solver does not initially know a solution method. </a:t>
            </a:r>
          </a:p>
          <a:p>
            <a:pPr algn="just"/>
            <a:r>
              <a:rPr lang="en-US" dirty="0"/>
              <a:t>A problem exists when someone has a goal but does not know how to achieve it. </a:t>
            </a:r>
          </a:p>
          <a:p>
            <a:pPr algn="just"/>
            <a:r>
              <a:rPr lang="en-US" dirty="0"/>
              <a:t>Problems can be classified as routine or non-routine, and as well defined or ill defined.</a:t>
            </a:r>
          </a:p>
          <a:p>
            <a:pPr algn="just"/>
            <a:r>
              <a:rPr lang="en-US" dirty="0"/>
              <a:t> It is a mental process in psychology and a computerized process in computer science. </a:t>
            </a:r>
          </a:p>
          <a:p>
            <a:pPr lvl="1" algn="just"/>
            <a:r>
              <a:rPr lang="en-US" dirty="0"/>
              <a:t>Well-defined problems have specific end goals and clear expected solutions, while ill-defined problems do not. </a:t>
            </a:r>
          </a:p>
          <a:p>
            <a:pPr lvl="1" algn="just"/>
            <a:r>
              <a:rPr lang="en-US" dirty="0"/>
              <a:t>Well-defined problems allow for more initial planning than ill-defined problems</a:t>
            </a:r>
          </a:p>
        </p:txBody>
      </p:sp>
      <p:sp>
        <p:nvSpPr>
          <p:cNvPr id="4" name="Footer Placeholder 3"/>
          <p:cNvSpPr>
            <a:spLocks noGrp="1"/>
          </p:cNvSpPr>
          <p:nvPr>
            <p:ph type="ftr" sz="quarter" idx="11"/>
          </p:nvPr>
        </p:nvSpPr>
        <p:spPr/>
        <p:txBody>
          <a:bodyPr/>
          <a:lstStyle/>
          <a:p>
            <a:r>
              <a:rPr lang="en-IN"/>
              <a:t>UNIT I</a:t>
            </a:r>
          </a:p>
        </p:txBody>
      </p:sp>
      <p:sp>
        <p:nvSpPr>
          <p:cNvPr id="5" name="Slide Number Placeholder 4"/>
          <p:cNvSpPr>
            <a:spLocks noGrp="1"/>
          </p:cNvSpPr>
          <p:nvPr>
            <p:ph type="sldNum" sz="quarter" idx="12"/>
          </p:nvPr>
        </p:nvSpPr>
        <p:spPr/>
        <p:txBody>
          <a:bodyPr/>
          <a:lstStyle/>
          <a:p>
            <a:fld id="{3467BBCD-0D13-431F-A782-7BE6456130A5}" type="slidenum">
              <a:rPr lang="en-IN" smtClean="0"/>
              <a:t>29</a:t>
            </a:fld>
            <a:endParaRPr lang="en-IN"/>
          </a:p>
        </p:txBody>
      </p:sp>
    </p:spTree>
    <p:extLst>
      <p:ext uri="{BB962C8B-B14F-4D97-AF65-F5344CB8AC3E}">
        <p14:creationId xmlns:p14="http://schemas.microsoft.com/office/powerpoint/2010/main" val="16302725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t>Knowledge representation</a:t>
            </a:r>
          </a:p>
        </p:txBody>
      </p:sp>
      <p:sp>
        <p:nvSpPr>
          <p:cNvPr id="3" name="Content Placeholder 2"/>
          <p:cNvSpPr>
            <a:spLocks noGrp="1"/>
          </p:cNvSpPr>
          <p:nvPr>
            <p:ph idx="1"/>
          </p:nvPr>
        </p:nvSpPr>
        <p:spPr/>
        <p:txBody>
          <a:bodyPr>
            <a:normAutofit/>
          </a:bodyPr>
          <a:lstStyle/>
          <a:p>
            <a:pPr algn="just"/>
            <a:r>
              <a:rPr lang="en-US" dirty="0"/>
              <a:t>Knowledge-representation(KR) is a field of artificial intelligence that focuses on designing </a:t>
            </a:r>
            <a:r>
              <a:rPr lang="en-US" i="1" dirty="0">
                <a:solidFill>
                  <a:srgbClr val="0000CC"/>
                </a:solidFill>
              </a:rPr>
              <a:t>computer representations that </a:t>
            </a:r>
            <a:r>
              <a:rPr lang="en-US" dirty="0"/>
              <a:t>capture information about the world that </a:t>
            </a:r>
            <a:r>
              <a:rPr lang="en-US" i="1" dirty="0">
                <a:solidFill>
                  <a:srgbClr val="C00000"/>
                </a:solidFill>
              </a:rPr>
              <a:t>can be used to solve complex problems</a:t>
            </a:r>
            <a:r>
              <a:rPr lang="en-US" dirty="0"/>
              <a:t>. </a:t>
            </a:r>
          </a:p>
          <a:p>
            <a:pPr algn="just"/>
            <a:r>
              <a:rPr lang="en-US" dirty="0"/>
              <a:t>Example: </a:t>
            </a:r>
          </a:p>
          <a:p>
            <a:pPr lvl="1" algn="just"/>
            <a:r>
              <a:rPr lang="en-US" dirty="0"/>
              <a:t>Diagnosing a medical condition or having a dialog in a natural language. </a:t>
            </a:r>
          </a:p>
          <a:p>
            <a:pPr algn="just"/>
            <a:r>
              <a:rPr lang="en-US" dirty="0"/>
              <a:t>KR incorporates findings from psychology about how humans solve problems and represent knowledge in order to design formalisms that will make complex systems easier to design and build. </a:t>
            </a:r>
          </a:p>
        </p:txBody>
      </p:sp>
      <p:sp>
        <p:nvSpPr>
          <p:cNvPr id="4" name="Footer Placeholder 3"/>
          <p:cNvSpPr>
            <a:spLocks noGrp="1"/>
          </p:cNvSpPr>
          <p:nvPr>
            <p:ph type="ftr" sz="quarter" idx="11"/>
          </p:nvPr>
        </p:nvSpPr>
        <p:spPr/>
        <p:txBody>
          <a:bodyPr/>
          <a:lstStyle/>
          <a:p>
            <a:r>
              <a:rPr lang="en-IN"/>
              <a:t>UNIT I</a:t>
            </a:r>
          </a:p>
        </p:txBody>
      </p:sp>
      <p:sp>
        <p:nvSpPr>
          <p:cNvPr id="5" name="Slide Number Placeholder 4"/>
          <p:cNvSpPr>
            <a:spLocks noGrp="1"/>
          </p:cNvSpPr>
          <p:nvPr>
            <p:ph type="sldNum" sz="quarter" idx="12"/>
          </p:nvPr>
        </p:nvSpPr>
        <p:spPr/>
        <p:txBody>
          <a:bodyPr/>
          <a:lstStyle/>
          <a:p>
            <a:fld id="{3467BBCD-0D13-431F-A782-7BE6456130A5}" type="slidenum">
              <a:rPr lang="en-IN" smtClean="0"/>
              <a:t>30</a:t>
            </a:fld>
            <a:endParaRPr lang="en-IN"/>
          </a:p>
        </p:txBody>
      </p:sp>
    </p:spTree>
    <p:extLst>
      <p:ext uri="{BB962C8B-B14F-4D97-AF65-F5344CB8AC3E}">
        <p14:creationId xmlns:p14="http://schemas.microsoft.com/office/powerpoint/2010/main" val="54220025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t>Knowledge representation</a:t>
            </a:r>
          </a:p>
        </p:txBody>
      </p:sp>
      <p:sp>
        <p:nvSpPr>
          <p:cNvPr id="3" name="Content Placeholder 2"/>
          <p:cNvSpPr>
            <a:spLocks noGrp="1"/>
          </p:cNvSpPr>
          <p:nvPr>
            <p:ph idx="1"/>
          </p:nvPr>
        </p:nvSpPr>
        <p:spPr/>
        <p:txBody>
          <a:bodyPr>
            <a:normAutofit/>
          </a:bodyPr>
          <a:lstStyle/>
          <a:p>
            <a:pPr algn="just"/>
            <a:r>
              <a:rPr lang="en-US" dirty="0"/>
              <a:t>Knowledge representation and reasoning also incorporates findings from logic to automate various kinds of reasoning, such as the application of rules or the relations of sets and subsets.</a:t>
            </a:r>
          </a:p>
          <a:p>
            <a:pPr lvl="1" algn="just"/>
            <a:r>
              <a:rPr lang="en-US" dirty="0"/>
              <a:t>Examples of knowledge representation formalisms include </a:t>
            </a:r>
          </a:p>
          <a:p>
            <a:pPr lvl="2" algn="just"/>
            <a:r>
              <a:rPr lang="en-US" dirty="0"/>
              <a:t>Semantic network or Frame network, </a:t>
            </a:r>
          </a:p>
          <a:p>
            <a:pPr lvl="2" algn="just"/>
            <a:r>
              <a:rPr lang="en-US" dirty="0"/>
              <a:t>Systems architecture, </a:t>
            </a:r>
          </a:p>
          <a:p>
            <a:pPr lvl="2" algn="just"/>
            <a:r>
              <a:rPr lang="en-US" dirty="0"/>
              <a:t>Frames, rules, and </a:t>
            </a:r>
          </a:p>
          <a:p>
            <a:pPr lvl="2" algn="just"/>
            <a:r>
              <a:rPr lang="en-US" dirty="0"/>
              <a:t>Ontologies. </a:t>
            </a:r>
          </a:p>
          <a:p>
            <a:pPr lvl="2" algn="just"/>
            <a:r>
              <a:rPr lang="en-US" dirty="0"/>
              <a:t>Examples of automated reasoning engines include inference engines, theorem </a:t>
            </a:r>
            <a:r>
              <a:rPr lang="en-US" dirty="0" err="1"/>
              <a:t>provers</a:t>
            </a:r>
            <a:r>
              <a:rPr lang="en-US" dirty="0"/>
              <a:t>, and classifiers. </a:t>
            </a:r>
          </a:p>
        </p:txBody>
      </p:sp>
      <p:sp>
        <p:nvSpPr>
          <p:cNvPr id="4" name="Footer Placeholder 3"/>
          <p:cNvSpPr>
            <a:spLocks noGrp="1"/>
          </p:cNvSpPr>
          <p:nvPr>
            <p:ph type="ftr" sz="quarter" idx="11"/>
          </p:nvPr>
        </p:nvSpPr>
        <p:spPr/>
        <p:txBody>
          <a:bodyPr/>
          <a:lstStyle/>
          <a:p>
            <a:r>
              <a:rPr lang="en-IN"/>
              <a:t>UNIT I</a:t>
            </a:r>
          </a:p>
        </p:txBody>
      </p:sp>
      <p:sp>
        <p:nvSpPr>
          <p:cNvPr id="5" name="Slide Number Placeholder 4"/>
          <p:cNvSpPr>
            <a:spLocks noGrp="1"/>
          </p:cNvSpPr>
          <p:nvPr>
            <p:ph type="sldNum" sz="quarter" idx="12"/>
          </p:nvPr>
        </p:nvSpPr>
        <p:spPr/>
        <p:txBody>
          <a:bodyPr/>
          <a:lstStyle/>
          <a:p>
            <a:fld id="{3467BBCD-0D13-431F-A782-7BE6456130A5}" type="slidenum">
              <a:rPr lang="en-IN" smtClean="0"/>
              <a:t>31</a:t>
            </a:fld>
            <a:endParaRPr lang="en-IN"/>
          </a:p>
        </p:txBody>
      </p:sp>
    </p:spTree>
    <p:extLst>
      <p:ext uri="{BB962C8B-B14F-4D97-AF65-F5344CB8AC3E}">
        <p14:creationId xmlns:p14="http://schemas.microsoft.com/office/powerpoint/2010/main" val="328676105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IN"/>
              <a:t>UNIT I</a:t>
            </a:r>
          </a:p>
        </p:txBody>
      </p:sp>
      <p:sp>
        <p:nvSpPr>
          <p:cNvPr id="3" name="Slide Number Placeholder 2"/>
          <p:cNvSpPr>
            <a:spLocks noGrp="1"/>
          </p:cNvSpPr>
          <p:nvPr>
            <p:ph type="sldNum" sz="quarter" idx="12"/>
          </p:nvPr>
        </p:nvSpPr>
        <p:spPr/>
        <p:txBody>
          <a:bodyPr/>
          <a:lstStyle/>
          <a:p>
            <a:fld id="{3467BBCD-0D13-431F-A782-7BE6456130A5}" type="slidenum">
              <a:rPr lang="en-IN" smtClean="0"/>
              <a:t>32</a:t>
            </a:fld>
            <a:endParaRPr lang="en-IN"/>
          </a:p>
        </p:txBody>
      </p:sp>
      <p:pic>
        <p:nvPicPr>
          <p:cNvPr id="1026" name="Picture 2" descr="https://upload.wikimedia.org/wikipedia/commons/9/9e/GFO_taxonomy_tree.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79712" y="548680"/>
            <a:ext cx="4467225" cy="4219575"/>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971600" y="5013176"/>
            <a:ext cx="7416824" cy="1200329"/>
          </a:xfrm>
          <a:prstGeom prst="rect">
            <a:avLst/>
          </a:prstGeom>
        </p:spPr>
        <p:txBody>
          <a:bodyPr wrap="square">
            <a:spAutoFit/>
          </a:bodyPr>
          <a:lstStyle/>
          <a:p>
            <a:r>
              <a:rPr lang="en-US" sz="2400" dirty="0">
                <a:solidFill>
                  <a:srgbClr val="0000CC"/>
                </a:solidFill>
                <a:effectLst>
                  <a:outerShdw blurRad="38100" dist="38100" dir="2700000" algn="tl">
                    <a:srgbClr val="000000">
                      <a:alpha val="43137"/>
                    </a:srgbClr>
                  </a:outerShdw>
                </a:effectLst>
              </a:rPr>
              <a:t>An ontology represents knowledge as a set of concepts within a domain and the relationships between those concepts.</a:t>
            </a:r>
          </a:p>
        </p:txBody>
      </p:sp>
    </p:spTree>
    <p:extLst>
      <p:ext uri="{BB962C8B-B14F-4D97-AF65-F5344CB8AC3E}">
        <p14:creationId xmlns:p14="http://schemas.microsoft.com/office/powerpoint/2010/main" val="292709657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t>Planning</a:t>
            </a:r>
          </a:p>
        </p:txBody>
      </p:sp>
      <p:sp>
        <p:nvSpPr>
          <p:cNvPr id="3" name="Content Placeholder 2"/>
          <p:cNvSpPr>
            <a:spLocks noGrp="1"/>
          </p:cNvSpPr>
          <p:nvPr>
            <p:ph idx="1"/>
          </p:nvPr>
        </p:nvSpPr>
        <p:spPr/>
        <p:txBody>
          <a:bodyPr>
            <a:normAutofit/>
          </a:bodyPr>
          <a:lstStyle/>
          <a:p>
            <a:pPr algn="just"/>
            <a:r>
              <a:rPr lang="en-US" dirty="0"/>
              <a:t>Intelligent agents must be able to set goals and achieve them. </a:t>
            </a:r>
          </a:p>
          <a:p>
            <a:pPr algn="just"/>
            <a:r>
              <a:rPr lang="en-US" dirty="0"/>
              <a:t>They need a way to visualize the future—a representation of the state of the world and be able to make predictions about how their actions will change it—and be able to make choices that maximize the utility (or "value") of available choices.</a:t>
            </a:r>
          </a:p>
          <a:p>
            <a:pPr algn="just"/>
            <a:r>
              <a:rPr lang="en-US" dirty="0"/>
              <a:t>In classical planning problems, the agent can assume that it is the only system acting in the world, allowing the agent to be certain of the consequences of its actions.</a:t>
            </a:r>
          </a:p>
        </p:txBody>
      </p:sp>
      <p:sp>
        <p:nvSpPr>
          <p:cNvPr id="4" name="Footer Placeholder 3"/>
          <p:cNvSpPr>
            <a:spLocks noGrp="1"/>
          </p:cNvSpPr>
          <p:nvPr>
            <p:ph type="ftr" sz="quarter" idx="11"/>
          </p:nvPr>
        </p:nvSpPr>
        <p:spPr/>
        <p:txBody>
          <a:bodyPr/>
          <a:lstStyle/>
          <a:p>
            <a:r>
              <a:rPr lang="en-IN"/>
              <a:t>UNIT I</a:t>
            </a:r>
          </a:p>
        </p:txBody>
      </p:sp>
      <p:sp>
        <p:nvSpPr>
          <p:cNvPr id="5" name="Slide Number Placeholder 4"/>
          <p:cNvSpPr>
            <a:spLocks noGrp="1"/>
          </p:cNvSpPr>
          <p:nvPr>
            <p:ph type="sldNum" sz="quarter" idx="12"/>
          </p:nvPr>
        </p:nvSpPr>
        <p:spPr/>
        <p:txBody>
          <a:bodyPr/>
          <a:lstStyle/>
          <a:p>
            <a:fld id="{3467BBCD-0D13-431F-A782-7BE6456130A5}" type="slidenum">
              <a:rPr lang="en-IN" smtClean="0"/>
              <a:t>33</a:t>
            </a:fld>
            <a:endParaRPr lang="en-IN"/>
          </a:p>
        </p:txBody>
      </p:sp>
    </p:spTree>
    <p:extLst>
      <p:ext uri="{BB962C8B-B14F-4D97-AF65-F5344CB8AC3E}">
        <p14:creationId xmlns:p14="http://schemas.microsoft.com/office/powerpoint/2010/main" val="184580199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t>Planning</a:t>
            </a:r>
          </a:p>
        </p:txBody>
      </p:sp>
      <p:sp>
        <p:nvSpPr>
          <p:cNvPr id="3" name="Content Placeholder 2"/>
          <p:cNvSpPr>
            <a:spLocks noGrp="1"/>
          </p:cNvSpPr>
          <p:nvPr>
            <p:ph idx="1"/>
          </p:nvPr>
        </p:nvSpPr>
        <p:spPr/>
        <p:txBody>
          <a:bodyPr>
            <a:normAutofit/>
          </a:bodyPr>
          <a:lstStyle/>
          <a:p>
            <a:pPr algn="just"/>
            <a:r>
              <a:rPr lang="en-US" dirty="0"/>
              <a:t>However, if the agent is not the only actor, then it requires that the agent can reason under uncertainty. </a:t>
            </a:r>
          </a:p>
          <a:p>
            <a:pPr algn="just"/>
            <a:r>
              <a:rPr lang="en-US" dirty="0"/>
              <a:t>This calls for an agent that can not only assess its environment and make predictions, but also evaluate its predictions and adapt based on its assessment.</a:t>
            </a:r>
          </a:p>
          <a:p>
            <a:pPr algn="just"/>
            <a:r>
              <a:rPr lang="en-US" dirty="0"/>
              <a:t>Multi-agent planning uses the cooperation and competition of many agents to achieve a given goal. </a:t>
            </a:r>
          </a:p>
          <a:p>
            <a:pPr algn="just"/>
            <a:r>
              <a:rPr lang="en-US" dirty="0"/>
              <a:t>Emergent behavior such as this is used by evolutionary algorithms and swarm intelligence</a:t>
            </a:r>
          </a:p>
        </p:txBody>
      </p:sp>
      <p:sp>
        <p:nvSpPr>
          <p:cNvPr id="4" name="Footer Placeholder 3"/>
          <p:cNvSpPr>
            <a:spLocks noGrp="1"/>
          </p:cNvSpPr>
          <p:nvPr>
            <p:ph type="ftr" sz="quarter" idx="11"/>
          </p:nvPr>
        </p:nvSpPr>
        <p:spPr/>
        <p:txBody>
          <a:bodyPr/>
          <a:lstStyle/>
          <a:p>
            <a:r>
              <a:rPr lang="en-IN"/>
              <a:t>UNIT I</a:t>
            </a:r>
          </a:p>
        </p:txBody>
      </p:sp>
      <p:sp>
        <p:nvSpPr>
          <p:cNvPr id="5" name="Slide Number Placeholder 4"/>
          <p:cNvSpPr>
            <a:spLocks noGrp="1"/>
          </p:cNvSpPr>
          <p:nvPr>
            <p:ph type="sldNum" sz="quarter" idx="12"/>
          </p:nvPr>
        </p:nvSpPr>
        <p:spPr/>
        <p:txBody>
          <a:bodyPr/>
          <a:lstStyle/>
          <a:p>
            <a:fld id="{3467BBCD-0D13-431F-A782-7BE6456130A5}" type="slidenum">
              <a:rPr lang="en-IN" smtClean="0"/>
              <a:t>34</a:t>
            </a:fld>
            <a:endParaRPr lang="en-IN"/>
          </a:p>
        </p:txBody>
      </p:sp>
    </p:spTree>
    <p:extLst>
      <p:ext uri="{BB962C8B-B14F-4D97-AF65-F5344CB8AC3E}">
        <p14:creationId xmlns:p14="http://schemas.microsoft.com/office/powerpoint/2010/main" val="72361332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t>Machine Learning</a:t>
            </a:r>
          </a:p>
        </p:txBody>
      </p:sp>
      <p:sp>
        <p:nvSpPr>
          <p:cNvPr id="3" name="Content Placeholder 2"/>
          <p:cNvSpPr>
            <a:spLocks noGrp="1"/>
          </p:cNvSpPr>
          <p:nvPr>
            <p:ph idx="1"/>
          </p:nvPr>
        </p:nvSpPr>
        <p:spPr/>
        <p:txBody>
          <a:bodyPr/>
          <a:lstStyle/>
          <a:p>
            <a:pPr algn="just"/>
            <a:r>
              <a:rPr lang="en-US" dirty="0"/>
              <a:t>Machine Learning is the field of study that gives computers the capability to learn without being explicitly programmed</a:t>
            </a:r>
          </a:p>
          <a:p>
            <a:pPr algn="just"/>
            <a:r>
              <a:rPr lang="en-US" dirty="0"/>
              <a:t>ML; it gives the computer that which makes it more similar to humans: The ability to learn.</a:t>
            </a:r>
          </a:p>
          <a:p>
            <a:pPr algn="just"/>
            <a:r>
              <a:rPr lang="en-US" b="1" dirty="0"/>
              <a:t>On basis of the nature of the learning “signal” or “feedback” available to a learning system.</a:t>
            </a:r>
          </a:p>
          <a:p>
            <a:pPr lvl="1" algn="just"/>
            <a:r>
              <a:rPr lang="en-US" dirty="0">
                <a:solidFill>
                  <a:srgbClr val="0000CC"/>
                </a:solidFill>
              </a:rPr>
              <a:t>Supervised learning</a:t>
            </a:r>
          </a:p>
          <a:p>
            <a:pPr lvl="1" algn="just"/>
            <a:r>
              <a:rPr lang="en-US" dirty="0">
                <a:solidFill>
                  <a:srgbClr val="0000CC"/>
                </a:solidFill>
              </a:rPr>
              <a:t>Unsupervised learning</a:t>
            </a:r>
          </a:p>
        </p:txBody>
      </p:sp>
      <p:sp>
        <p:nvSpPr>
          <p:cNvPr id="4" name="Footer Placeholder 3"/>
          <p:cNvSpPr>
            <a:spLocks noGrp="1"/>
          </p:cNvSpPr>
          <p:nvPr>
            <p:ph type="ftr" sz="quarter" idx="11"/>
          </p:nvPr>
        </p:nvSpPr>
        <p:spPr/>
        <p:txBody>
          <a:bodyPr/>
          <a:lstStyle/>
          <a:p>
            <a:r>
              <a:rPr lang="en-IN"/>
              <a:t>UNIT I</a:t>
            </a:r>
          </a:p>
        </p:txBody>
      </p:sp>
      <p:sp>
        <p:nvSpPr>
          <p:cNvPr id="5" name="Slide Number Placeholder 4"/>
          <p:cNvSpPr>
            <a:spLocks noGrp="1"/>
          </p:cNvSpPr>
          <p:nvPr>
            <p:ph type="sldNum" sz="quarter" idx="12"/>
          </p:nvPr>
        </p:nvSpPr>
        <p:spPr/>
        <p:txBody>
          <a:bodyPr/>
          <a:lstStyle/>
          <a:p>
            <a:fld id="{3467BBCD-0D13-431F-A782-7BE6456130A5}" type="slidenum">
              <a:rPr lang="en-IN" smtClean="0"/>
              <a:t>35</a:t>
            </a:fld>
            <a:endParaRPr lang="en-IN"/>
          </a:p>
        </p:txBody>
      </p:sp>
    </p:spTree>
    <p:extLst>
      <p:ext uri="{BB962C8B-B14F-4D97-AF65-F5344CB8AC3E}">
        <p14:creationId xmlns:p14="http://schemas.microsoft.com/office/powerpoint/2010/main" val="388742239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t>Machine Learning</a:t>
            </a:r>
          </a:p>
        </p:txBody>
      </p:sp>
      <p:sp>
        <p:nvSpPr>
          <p:cNvPr id="3" name="Content Placeholder 2"/>
          <p:cNvSpPr>
            <a:spLocks noGrp="1"/>
          </p:cNvSpPr>
          <p:nvPr>
            <p:ph idx="1"/>
          </p:nvPr>
        </p:nvSpPr>
        <p:spPr>
          <a:xfrm>
            <a:off x="457200" y="1412776"/>
            <a:ext cx="7620000" cy="4988024"/>
          </a:xfrm>
        </p:spPr>
        <p:txBody>
          <a:bodyPr/>
          <a:lstStyle/>
          <a:p>
            <a:pPr lvl="0" algn="just"/>
            <a:r>
              <a:rPr lang="en-US" sz="2400" b="1" dirty="0">
                <a:solidFill>
                  <a:srgbClr val="0000CC"/>
                </a:solidFill>
              </a:rPr>
              <a:t>Supervised learning</a:t>
            </a:r>
            <a:r>
              <a:rPr lang="en-US" sz="2400" dirty="0">
                <a:solidFill>
                  <a:srgbClr val="0000CC"/>
                </a:solidFill>
              </a:rPr>
              <a:t>: </a:t>
            </a:r>
            <a:r>
              <a:rPr lang="en-US" sz="2400" dirty="0"/>
              <a:t>The computer is presented with example inputs and their desired outputs, given by a “teacher”, and the </a:t>
            </a:r>
            <a:r>
              <a:rPr lang="en-US" sz="2400" i="1" dirty="0">
                <a:solidFill>
                  <a:srgbClr val="C00000"/>
                </a:solidFill>
                <a:effectLst>
                  <a:outerShdw blurRad="38100" dist="38100" dir="2700000" algn="tl">
                    <a:srgbClr val="000000">
                      <a:alpha val="43137"/>
                    </a:srgbClr>
                  </a:outerShdw>
                </a:effectLst>
              </a:rPr>
              <a:t>goal is to learn a general rule </a:t>
            </a:r>
            <a:r>
              <a:rPr lang="en-US" sz="2400" dirty="0"/>
              <a:t>that maps inputs to outputs. </a:t>
            </a:r>
          </a:p>
          <a:p>
            <a:pPr lvl="0" algn="just"/>
            <a:r>
              <a:rPr lang="en-US" sz="2400" dirty="0"/>
              <a:t>The training process continues until the model achieves the desired level of accuracy on the training data. </a:t>
            </a:r>
          </a:p>
          <a:p>
            <a:pPr lvl="0" algn="just"/>
            <a:r>
              <a:rPr lang="en-US" sz="2400" dirty="0"/>
              <a:t>Some real-life examples are: </a:t>
            </a:r>
            <a:endParaRPr lang="en-US" sz="2000" dirty="0"/>
          </a:p>
          <a:p>
            <a:pPr lvl="1" algn="just"/>
            <a:r>
              <a:rPr lang="en-US" b="1" dirty="0"/>
              <a:t>Image Classification: </a:t>
            </a:r>
            <a:r>
              <a:rPr lang="en-US" dirty="0"/>
              <a:t>You train with images/labels. Then in the future you give a new image expecting that the computer will recognize the new object.</a:t>
            </a:r>
            <a:endParaRPr lang="en-US" sz="1800" dirty="0"/>
          </a:p>
          <a:p>
            <a:pPr lvl="1" algn="just"/>
            <a:r>
              <a:rPr lang="en-US" b="1" dirty="0"/>
              <a:t>Market Prediction/Regression: </a:t>
            </a:r>
            <a:r>
              <a:rPr lang="en-US" dirty="0"/>
              <a:t>You train the computer with historical market data and ask the computer to predict the new price in the future.</a:t>
            </a:r>
            <a:endParaRPr lang="en-US" dirty="0">
              <a:solidFill>
                <a:srgbClr val="0000CC"/>
              </a:solidFill>
            </a:endParaRPr>
          </a:p>
        </p:txBody>
      </p:sp>
      <p:sp>
        <p:nvSpPr>
          <p:cNvPr id="4" name="Footer Placeholder 3"/>
          <p:cNvSpPr>
            <a:spLocks noGrp="1"/>
          </p:cNvSpPr>
          <p:nvPr>
            <p:ph type="ftr" sz="quarter" idx="11"/>
          </p:nvPr>
        </p:nvSpPr>
        <p:spPr/>
        <p:txBody>
          <a:bodyPr/>
          <a:lstStyle/>
          <a:p>
            <a:r>
              <a:rPr lang="en-IN"/>
              <a:t>UNIT I</a:t>
            </a:r>
          </a:p>
        </p:txBody>
      </p:sp>
      <p:sp>
        <p:nvSpPr>
          <p:cNvPr id="5" name="Slide Number Placeholder 4"/>
          <p:cNvSpPr>
            <a:spLocks noGrp="1"/>
          </p:cNvSpPr>
          <p:nvPr>
            <p:ph type="sldNum" sz="quarter" idx="12"/>
          </p:nvPr>
        </p:nvSpPr>
        <p:spPr/>
        <p:txBody>
          <a:bodyPr/>
          <a:lstStyle/>
          <a:p>
            <a:fld id="{3467BBCD-0D13-431F-A782-7BE6456130A5}" type="slidenum">
              <a:rPr lang="en-IN" smtClean="0"/>
              <a:t>36</a:t>
            </a:fld>
            <a:endParaRPr lang="en-IN"/>
          </a:p>
        </p:txBody>
      </p:sp>
    </p:spTree>
    <p:extLst>
      <p:ext uri="{BB962C8B-B14F-4D97-AF65-F5344CB8AC3E}">
        <p14:creationId xmlns:p14="http://schemas.microsoft.com/office/powerpoint/2010/main" val="205697086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t>Machine Learning</a:t>
            </a:r>
          </a:p>
        </p:txBody>
      </p:sp>
      <p:sp>
        <p:nvSpPr>
          <p:cNvPr id="3" name="Content Placeholder 2"/>
          <p:cNvSpPr>
            <a:spLocks noGrp="1"/>
          </p:cNvSpPr>
          <p:nvPr>
            <p:ph idx="1"/>
          </p:nvPr>
        </p:nvSpPr>
        <p:spPr/>
        <p:txBody>
          <a:bodyPr>
            <a:normAutofit lnSpcReduction="10000"/>
          </a:bodyPr>
          <a:lstStyle/>
          <a:p>
            <a:pPr lvl="0" algn="just"/>
            <a:r>
              <a:rPr lang="en-US" sz="2400" b="1" dirty="0">
                <a:solidFill>
                  <a:srgbClr val="0000CC"/>
                </a:solidFill>
              </a:rPr>
              <a:t>Unsupervised learning</a:t>
            </a:r>
            <a:r>
              <a:rPr lang="en-US" sz="2400" dirty="0">
                <a:solidFill>
                  <a:srgbClr val="0000CC"/>
                </a:solidFill>
              </a:rPr>
              <a:t>: </a:t>
            </a:r>
          </a:p>
          <a:p>
            <a:pPr lvl="0" algn="just"/>
            <a:r>
              <a:rPr lang="en-US" sz="2400" dirty="0"/>
              <a:t>No labels are given to the learning algorithm, </a:t>
            </a:r>
            <a:r>
              <a:rPr lang="en-US" sz="2400" i="1" dirty="0">
                <a:solidFill>
                  <a:srgbClr val="C00000"/>
                </a:solidFill>
                <a:effectLst>
                  <a:outerShdw blurRad="38100" dist="38100" dir="2700000" algn="tl">
                    <a:srgbClr val="000000">
                      <a:alpha val="43137"/>
                    </a:srgbClr>
                  </a:outerShdw>
                </a:effectLst>
              </a:rPr>
              <a:t>leaving it on its own to find structure in its input</a:t>
            </a:r>
            <a:r>
              <a:rPr lang="en-US" sz="2400" dirty="0"/>
              <a:t>. </a:t>
            </a:r>
          </a:p>
          <a:p>
            <a:pPr lvl="0" algn="just"/>
            <a:r>
              <a:rPr lang="en-US" sz="2400" dirty="0"/>
              <a:t>It is used for clustering population in different groups. </a:t>
            </a:r>
          </a:p>
          <a:p>
            <a:pPr lvl="0" algn="just"/>
            <a:r>
              <a:rPr lang="en-US" sz="2400" dirty="0"/>
              <a:t>Unsupervised learning can be a goal in itself (discovering hidden patterns in data). </a:t>
            </a:r>
            <a:endParaRPr lang="en-US" sz="2000" dirty="0"/>
          </a:p>
          <a:p>
            <a:pPr lvl="1" algn="just"/>
            <a:r>
              <a:rPr lang="en-US" b="1" dirty="0"/>
              <a:t>Clustering:</a:t>
            </a:r>
            <a:r>
              <a:rPr lang="en-US" dirty="0"/>
              <a:t> You ask the computer to separate similar data into clusters, this is essential in research and science.</a:t>
            </a:r>
            <a:endParaRPr lang="en-US" sz="1800" dirty="0"/>
          </a:p>
          <a:p>
            <a:pPr lvl="1" algn="just"/>
            <a:r>
              <a:rPr lang="en-US" b="1" dirty="0"/>
              <a:t>High Dimension Visualization:</a:t>
            </a:r>
            <a:r>
              <a:rPr lang="en-US" dirty="0"/>
              <a:t> Use the computer to help us visualize high dimension data.</a:t>
            </a:r>
            <a:endParaRPr lang="en-US" sz="1800" dirty="0"/>
          </a:p>
          <a:p>
            <a:pPr lvl="1" algn="just"/>
            <a:r>
              <a:rPr lang="en-US" b="1" dirty="0"/>
              <a:t>Generative Models:</a:t>
            </a:r>
            <a:r>
              <a:rPr lang="en-US" dirty="0"/>
              <a:t> After a model captures the probability distribution of your input data, it will be able to generate more data. This can be very useful to make your classifier more robust.</a:t>
            </a:r>
            <a:endParaRPr lang="en-US" sz="1800" dirty="0"/>
          </a:p>
        </p:txBody>
      </p:sp>
      <p:sp>
        <p:nvSpPr>
          <p:cNvPr id="4" name="Footer Placeholder 3"/>
          <p:cNvSpPr>
            <a:spLocks noGrp="1"/>
          </p:cNvSpPr>
          <p:nvPr>
            <p:ph type="ftr" sz="quarter" idx="11"/>
          </p:nvPr>
        </p:nvSpPr>
        <p:spPr/>
        <p:txBody>
          <a:bodyPr/>
          <a:lstStyle/>
          <a:p>
            <a:r>
              <a:rPr lang="en-IN"/>
              <a:t>UNIT I</a:t>
            </a:r>
          </a:p>
        </p:txBody>
      </p:sp>
      <p:sp>
        <p:nvSpPr>
          <p:cNvPr id="5" name="Slide Number Placeholder 4"/>
          <p:cNvSpPr>
            <a:spLocks noGrp="1"/>
          </p:cNvSpPr>
          <p:nvPr>
            <p:ph type="sldNum" sz="quarter" idx="12"/>
          </p:nvPr>
        </p:nvSpPr>
        <p:spPr/>
        <p:txBody>
          <a:bodyPr/>
          <a:lstStyle/>
          <a:p>
            <a:fld id="{3467BBCD-0D13-431F-A782-7BE6456130A5}" type="slidenum">
              <a:rPr lang="en-IN" smtClean="0"/>
              <a:t>37</a:t>
            </a:fld>
            <a:endParaRPr lang="en-IN"/>
          </a:p>
        </p:txBody>
      </p:sp>
    </p:spTree>
    <p:extLst>
      <p:ext uri="{BB962C8B-B14F-4D97-AF65-F5344CB8AC3E}">
        <p14:creationId xmlns:p14="http://schemas.microsoft.com/office/powerpoint/2010/main" val="393162053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just"/>
            <a:r>
              <a:rPr lang="en-US" sz="2800" dirty="0"/>
              <a:t>Diagram- supervised and unsupervised learning </a:t>
            </a:r>
          </a:p>
        </p:txBody>
      </p:sp>
      <p:sp>
        <p:nvSpPr>
          <p:cNvPr id="3" name="Content Placeholder 2"/>
          <p:cNvSpPr>
            <a:spLocks noGrp="1"/>
          </p:cNvSpPr>
          <p:nvPr>
            <p:ph idx="1"/>
          </p:nvPr>
        </p:nvSpPr>
        <p:spPr/>
        <p:txBody>
          <a:bodyPr/>
          <a:lstStyle/>
          <a:p>
            <a:r>
              <a:rPr lang="en-US" dirty="0"/>
              <a:t>The data in supervised learning is labeled, where as data in unsupervised learning is unlabeled</a:t>
            </a:r>
          </a:p>
        </p:txBody>
      </p:sp>
      <p:sp>
        <p:nvSpPr>
          <p:cNvPr id="4" name="Footer Placeholder 3"/>
          <p:cNvSpPr>
            <a:spLocks noGrp="1"/>
          </p:cNvSpPr>
          <p:nvPr>
            <p:ph type="ftr" sz="quarter" idx="11"/>
          </p:nvPr>
        </p:nvSpPr>
        <p:spPr/>
        <p:txBody>
          <a:bodyPr/>
          <a:lstStyle/>
          <a:p>
            <a:r>
              <a:rPr lang="en-IN"/>
              <a:t>UNIT I</a:t>
            </a:r>
          </a:p>
        </p:txBody>
      </p:sp>
      <p:sp>
        <p:nvSpPr>
          <p:cNvPr id="5" name="Slide Number Placeholder 4"/>
          <p:cNvSpPr>
            <a:spLocks noGrp="1"/>
          </p:cNvSpPr>
          <p:nvPr>
            <p:ph type="sldNum" sz="quarter" idx="12"/>
          </p:nvPr>
        </p:nvSpPr>
        <p:spPr/>
        <p:txBody>
          <a:bodyPr/>
          <a:lstStyle/>
          <a:p>
            <a:fld id="{3467BBCD-0D13-431F-A782-7BE6456130A5}" type="slidenum">
              <a:rPr lang="en-IN" smtClean="0"/>
              <a:t>38</a:t>
            </a:fld>
            <a:endParaRPr lang="en-IN"/>
          </a:p>
        </p:txBody>
      </p:sp>
      <p:pic>
        <p:nvPicPr>
          <p:cNvPr id="6" name="Picture 5" descr="https://media.geeksforgeeks.org/wp-content/uploads/supervised_learning-.png"/>
          <p:cNvPicPr/>
          <p:nvPr/>
        </p:nvPicPr>
        <p:blipFill>
          <a:blip r:embed="rId2">
            <a:extLst>
              <a:ext uri="{28A0092B-C50C-407E-A947-70E740481C1C}">
                <a14:useLocalDpi xmlns:a14="http://schemas.microsoft.com/office/drawing/2010/main" val="0"/>
              </a:ext>
            </a:extLst>
          </a:blip>
          <a:srcRect/>
          <a:stretch>
            <a:fillRect/>
          </a:stretch>
        </p:blipFill>
        <p:spPr bwMode="auto">
          <a:xfrm>
            <a:off x="755576" y="2492896"/>
            <a:ext cx="3168352" cy="3096344"/>
          </a:xfrm>
          <a:prstGeom prst="rect">
            <a:avLst/>
          </a:prstGeom>
          <a:noFill/>
          <a:ln>
            <a:noFill/>
          </a:ln>
        </p:spPr>
      </p:pic>
      <p:pic>
        <p:nvPicPr>
          <p:cNvPr id="7" name="Picture 6" descr="https://media.geeksforgeeks.org/wp-content/uploads/unsupervised_learning-.png"/>
          <p:cNvPicPr/>
          <p:nvPr/>
        </p:nvPicPr>
        <p:blipFill>
          <a:blip r:embed="rId3">
            <a:extLst>
              <a:ext uri="{28A0092B-C50C-407E-A947-70E740481C1C}">
                <a14:useLocalDpi xmlns:a14="http://schemas.microsoft.com/office/drawing/2010/main" val="0"/>
              </a:ext>
            </a:extLst>
          </a:blip>
          <a:srcRect/>
          <a:stretch>
            <a:fillRect/>
          </a:stretch>
        </p:blipFill>
        <p:spPr bwMode="auto">
          <a:xfrm>
            <a:off x="4355976" y="2492896"/>
            <a:ext cx="3073215" cy="2952328"/>
          </a:xfrm>
          <a:prstGeom prst="rect">
            <a:avLst/>
          </a:prstGeom>
          <a:noFill/>
          <a:ln>
            <a:noFill/>
          </a:ln>
        </p:spPr>
      </p:pic>
    </p:spTree>
    <p:extLst>
      <p:ext uri="{BB962C8B-B14F-4D97-AF65-F5344CB8AC3E}">
        <p14:creationId xmlns:p14="http://schemas.microsoft.com/office/powerpoint/2010/main" val="302043498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t>Machine Learning</a:t>
            </a:r>
          </a:p>
        </p:txBody>
      </p:sp>
      <p:sp>
        <p:nvSpPr>
          <p:cNvPr id="3" name="Content Placeholder 2"/>
          <p:cNvSpPr>
            <a:spLocks noGrp="1"/>
          </p:cNvSpPr>
          <p:nvPr>
            <p:ph idx="1"/>
          </p:nvPr>
        </p:nvSpPr>
        <p:spPr/>
        <p:txBody>
          <a:bodyPr>
            <a:normAutofit/>
          </a:bodyPr>
          <a:lstStyle/>
          <a:p>
            <a:pPr lvl="0" algn="just"/>
            <a:r>
              <a:rPr lang="en-US" sz="2800" b="1" dirty="0">
                <a:solidFill>
                  <a:srgbClr val="FF0000"/>
                </a:solidFill>
              </a:rPr>
              <a:t>Semi-supervised learning</a:t>
            </a:r>
            <a:r>
              <a:rPr lang="en-US" sz="2800" dirty="0">
                <a:solidFill>
                  <a:srgbClr val="0000CC"/>
                </a:solidFill>
              </a:rPr>
              <a:t>: </a:t>
            </a:r>
          </a:p>
          <a:p>
            <a:pPr lvl="1" algn="just"/>
            <a:r>
              <a:rPr lang="en-US" sz="2400" dirty="0"/>
              <a:t>Problems where </a:t>
            </a:r>
            <a:r>
              <a:rPr lang="en-US" sz="2400" i="1" dirty="0">
                <a:solidFill>
                  <a:srgbClr val="C00000"/>
                </a:solidFill>
                <a:effectLst>
                  <a:outerShdw blurRad="38100" dist="38100" dir="2700000" algn="tl">
                    <a:srgbClr val="000000">
                      <a:alpha val="43137"/>
                    </a:srgbClr>
                  </a:outerShdw>
                </a:effectLst>
              </a:rPr>
              <a:t>you have a large amount of input data and only some of the data is labeled</a:t>
            </a:r>
            <a:r>
              <a:rPr lang="en-US" sz="2400" dirty="0"/>
              <a:t>, are called semi-supervised learning problems. </a:t>
            </a:r>
          </a:p>
          <a:p>
            <a:pPr lvl="1" algn="just"/>
            <a:r>
              <a:rPr lang="en-US" sz="2400" dirty="0"/>
              <a:t>These problems sit in between both supervised and unsupervised learning. </a:t>
            </a:r>
          </a:p>
          <a:p>
            <a:pPr lvl="2" algn="just"/>
            <a:r>
              <a:rPr lang="en-US" sz="2200" dirty="0"/>
              <a:t>For example, a photo archive where only some of the images are labeled, (e.g. dog, cat, person) and the majority are unlabeled.</a:t>
            </a:r>
            <a:endParaRPr lang="en-US" sz="1600" dirty="0"/>
          </a:p>
        </p:txBody>
      </p:sp>
      <p:sp>
        <p:nvSpPr>
          <p:cNvPr id="4" name="Footer Placeholder 3"/>
          <p:cNvSpPr>
            <a:spLocks noGrp="1"/>
          </p:cNvSpPr>
          <p:nvPr>
            <p:ph type="ftr" sz="quarter" idx="11"/>
          </p:nvPr>
        </p:nvSpPr>
        <p:spPr/>
        <p:txBody>
          <a:bodyPr/>
          <a:lstStyle/>
          <a:p>
            <a:r>
              <a:rPr lang="en-IN"/>
              <a:t>UNIT I</a:t>
            </a:r>
          </a:p>
        </p:txBody>
      </p:sp>
      <p:sp>
        <p:nvSpPr>
          <p:cNvPr id="5" name="Slide Number Placeholder 4"/>
          <p:cNvSpPr>
            <a:spLocks noGrp="1"/>
          </p:cNvSpPr>
          <p:nvPr>
            <p:ph type="sldNum" sz="quarter" idx="12"/>
          </p:nvPr>
        </p:nvSpPr>
        <p:spPr/>
        <p:txBody>
          <a:bodyPr/>
          <a:lstStyle/>
          <a:p>
            <a:fld id="{3467BBCD-0D13-431F-A782-7BE6456130A5}" type="slidenum">
              <a:rPr lang="en-IN" smtClean="0"/>
              <a:t>39</a:t>
            </a:fld>
            <a:endParaRPr lang="en-IN"/>
          </a:p>
        </p:txBody>
      </p:sp>
    </p:spTree>
    <p:extLst>
      <p:ext uri="{BB962C8B-B14F-4D97-AF65-F5344CB8AC3E}">
        <p14:creationId xmlns:p14="http://schemas.microsoft.com/office/powerpoint/2010/main" val="290801946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t>Machine Learning</a:t>
            </a:r>
          </a:p>
        </p:txBody>
      </p:sp>
      <p:sp>
        <p:nvSpPr>
          <p:cNvPr id="3" name="Content Placeholder 2"/>
          <p:cNvSpPr>
            <a:spLocks noGrp="1"/>
          </p:cNvSpPr>
          <p:nvPr>
            <p:ph idx="1"/>
          </p:nvPr>
        </p:nvSpPr>
        <p:spPr/>
        <p:txBody>
          <a:bodyPr>
            <a:normAutofit/>
          </a:bodyPr>
          <a:lstStyle/>
          <a:p>
            <a:pPr lvl="0" algn="just"/>
            <a:r>
              <a:rPr lang="en-US" sz="2800" dirty="0">
                <a:solidFill>
                  <a:srgbClr val="0000CC"/>
                </a:solidFill>
              </a:rPr>
              <a:t>Reinforcement learning</a:t>
            </a:r>
            <a:r>
              <a:rPr lang="en-US" sz="2800" dirty="0"/>
              <a:t> </a:t>
            </a:r>
          </a:p>
          <a:p>
            <a:pPr lvl="1" algn="just"/>
            <a:r>
              <a:rPr lang="en-US" dirty="0"/>
              <a:t>A computer program interacts with a dynamic environment in which it must perform a certain goal (such as driving a vehicle or playing a game against an opponent). </a:t>
            </a:r>
          </a:p>
          <a:p>
            <a:pPr lvl="1" algn="just"/>
            <a:r>
              <a:rPr lang="en-US" dirty="0"/>
              <a:t>The program is provided feedback in terms of rewards and punishments as it navigates its problem space</a:t>
            </a:r>
            <a:endParaRPr lang="en-US" sz="1100" dirty="0"/>
          </a:p>
        </p:txBody>
      </p:sp>
      <p:sp>
        <p:nvSpPr>
          <p:cNvPr id="4" name="Footer Placeholder 3"/>
          <p:cNvSpPr>
            <a:spLocks noGrp="1"/>
          </p:cNvSpPr>
          <p:nvPr>
            <p:ph type="ftr" sz="quarter" idx="11"/>
          </p:nvPr>
        </p:nvSpPr>
        <p:spPr/>
        <p:txBody>
          <a:bodyPr/>
          <a:lstStyle/>
          <a:p>
            <a:r>
              <a:rPr lang="en-IN"/>
              <a:t>UNIT I</a:t>
            </a:r>
          </a:p>
        </p:txBody>
      </p:sp>
      <p:sp>
        <p:nvSpPr>
          <p:cNvPr id="5" name="Slide Number Placeholder 4"/>
          <p:cNvSpPr>
            <a:spLocks noGrp="1"/>
          </p:cNvSpPr>
          <p:nvPr>
            <p:ph type="sldNum" sz="quarter" idx="12"/>
          </p:nvPr>
        </p:nvSpPr>
        <p:spPr/>
        <p:txBody>
          <a:bodyPr/>
          <a:lstStyle/>
          <a:p>
            <a:fld id="{3467BBCD-0D13-431F-A782-7BE6456130A5}" type="slidenum">
              <a:rPr lang="en-IN" smtClean="0"/>
              <a:t>40</a:t>
            </a:fld>
            <a:endParaRPr lang="en-IN"/>
          </a:p>
        </p:txBody>
      </p:sp>
      <p:pic>
        <p:nvPicPr>
          <p:cNvPr id="6" name="Picture 5" descr="https://media.geeksforgeeks.org/wp-content/uploads/reinforcement_learning-1.png"/>
          <p:cNvPicPr/>
          <p:nvPr/>
        </p:nvPicPr>
        <p:blipFill>
          <a:blip r:embed="rId2">
            <a:extLst>
              <a:ext uri="{28A0092B-C50C-407E-A947-70E740481C1C}">
                <a14:useLocalDpi xmlns:a14="http://schemas.microsoft.com/office/drawing/2010/main" val="0"/>
              </a:ext>
            </a:extLst>
          </a:blip>
          <a:srcRect/>
          <a:stretch>
            <a:fillRect/>
          </a:stretch>
        </p:blipFill>
        <p:spPr bwMode="auto">
          <a:xfrm>
            <a:off x="1763688" y="3789040"/>
            <a:ext cx="5338168" cy="2520280"/>
          </a:xfrm>
          <a:prstGeom prst="rect">
            <a:avLst/>
          </a:prstGeom>
          <a:noFill/>
          <a:ln>
            <a:noFill/>
          </a:ln>
        </p:spPr>
      </p:pic>
    </p:spTree>
    <p:extLst>
      <p:ext uri="{BB962C8B-B14F-4D97-AF65-F5344CB8AC3E}">
        <p14:creationId xmlns:p14="http://schemas.microsoft.com/office/powerpoint/2010/main" val="68428359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t>Machine Learning</a:t>
            </a:r>
          </a:p>
        </p:txBody>
      </p:sp>
      <p:sp>
        <p:nvSpPr>
          <p:cNvPr id="3" name="Content Placeholder 2"/>
          <p:cNvSpPr>
            <a:spLocks noGrp="1"/>
          </p:cNvSpPr>
          <p:nvPr>
            <p:ph idx="1"/>
          </p:nvPr>
        </p:nvSpPr>
        <p:spPr>
          <a:xfrm>
            <a:off x="457200" y="1340768"/>
            <a:ext cx="7620000" cy="5060032"/>
          </a:xfrm>
        </p:spPr>
        <p:txBody>
          <a:bodyPr>
            <a:normAutofit/>
          </a:bodyPr>
          <a:lstStyle/>
          <a:p>
            <a:pPr lvl="0" algn="just"/>
            <a:r>
              <a:rPr lang="en-US" sz="2800" dirty="0"/>
              <a:t>Classification: </a:t>
            </a:r>
          </a:p>
          <a:p>
            <a:pPr lvl="1" algn="just"/>
            <a:r>
              <a:rPr lang="en-US" dirty="0"/>
              <a:t>Inputs are divided into two or more classes, and the learner must produce a model that assigns unseen inputs to one or more (multi-label classification) of these classes.</a:t>
            </a:r>
          </a:p>
          <a:p>
            <a:pPr lvl="1" algn="just"/>
            <a:r>
              <a:rPr lang="en-US" dirty="0"/>
              <a:t>This is typically tackled in a supervised way. </a:t>
            </a:r>
          </a:p>
          <a:p>
            <a:pPr lvl="1" algn="just"/>
            <a:r>
              <a:rPr lang="en-US" dirty="0"/>
              <a:t>Spam filtering is an example of classification, where the inputs are email messages and the classes are “spam” and “not spam”.</a:t>
            </a:r>
            <a:endParaRPr lang="en-US" sz="1100" dirty="0"/>
          </a:p>
        </p:txBody>
      </p:sp>
      <p:sp>
        <p:nvSpPr>
          <p:cNvPr id="4" name="Footer Placeholder 3"/>
          <p:cNvSpPr>
            <a:spLocks noGrp="1"/>
          </p:cNvSpPr>
          <p:nvPr>
            <p:ph type="ftr" sz="quarter" idx="11"/>
          </p:nvPr>
        </p:nvSpPr>
        <p:spPr/>
        <p:txBody>
          <a:bodyPr/>
          <a:lstStyle/>
          <a:p>
            <a:r>
              <a:rPr lang="en-IN"/>
              <a:t>UNIT I</a:t>
            </a:r>
          </a:p>
        </p:txBody>
      </p:sp>
      <p:sp>
        <p:nvSpPr>
          <p:cNvPr id="5" name="Slide Number Placeholder 4"/>
          <p:cNvSpPr>
            <a:spLocks noGrp="1"/>
          </p:cNvSpPr>
          <p:nvPr>
            <p:ph type="sldNum" sz="quarter" idx="12"/>
          </p:nvPr>
        </p:nvSpPr>
        <p:spPr/>
        <p:txBody>
          <a:bodyPr/>
          <a:lstStyle/>
          <a:p>
            <a:fld id="{3467BBCD-0D13-431F-A782-7BE6456130A5}" type="slidenum">
              <a:rPr lang="en-IN" smtClean="0"/>
              <a:t>41</a:t>
            </a:fld>
            <a:endParaRPr lang="en-IN"/>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99792" y="3933056"/>
            <a:ext cx="2736304" cy="28229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6468832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t>Machine Learning</a:t>
            </a:r>
          </a:p>
        </p:txBody>
      </p:sp>
      <p:sp>
        <p:nvSpPr>
          <p:cNvPr id="3" name="Content Placeholder 2"/>
          <p:cNvSpPr>
            <a:spLocks noGrp="1"/>
          </p:cNvSpPr>
          <p:nvPr>
            <p:ph idx="1"/>
          </p:nvPr>
        </p:nvSpPr>
        <p:spPr>
          <a:xfrm>
            <a:off x="457200" y="1340768"/>
            <a:ext cx="7620000" cy="5060032"/>
          </a:xfrm>
        </p:spPr>
        <p:txBody>
          <a:bodyPr>
            <a:normAutofit/>
          </a:bodyPr>
          <a:lstStyle/>
          <a:p>
            <a:pPr lvl="0" algn="just"/>
            <a:r>
              <a:rPr lang="en-US" sz="2800" dirty="0">
                <a:solidFill>
                  <a:srgbClr val="0000CC"/>
                </a:solidFill>
              </a:rPr>
              <a:t>Regression: </a:t>
            </a:r>
          </a:p>
          <a:p>
            <a:pPr lvl="0" algn="just"/>
            <a:r>
              <a:rPr lang="en-US" sz="2000" dirty="0"/>
              <a:t>It is also a supervised learning problem, but the </a:t>
            </a:r>
            <a:r>
              <a:rPr lang="en-US" sz="2000" i="1" dirty="0">
                <a:solidFill>
                  <a:srgbClr val="C00000"/>
                </a:solidFill>
                <a:effectLst>
                  <a:outerShdw blurRad="38100" dist="38100" dir="2700000" algn="tl">
                    <a:srgbClr val="000000">
                      <a:alpha val="43137"/>
                    </a:srgbClr>
                  </a:outerShdw>
                </a:effectLst>
              </a:rPr>
              <a:t>outputs are continuous rather than discrete</a:t>
            </a:r>
            <a:r>
              <a:rPr lang="en-US" sz="2000" dirty="0"/>
              <a:t>. For example, predicting the stock prices using historical data.</a:t>
            </a:r>
            <a:endParaRPr lang="en-US" sz="1800" dirty="0"/>
          </a:p>
          <a:p>
            <a:pPr algn="just"/>
            <a:r>
              <a:rPr lang="en-US" sz="2000" dirty="0"/>
              <a:t>An example of classification and regression on two different datasets is shown below</a:t>
            </a:r>
            <a:endParaRPr lang="en-US" sz="1800" dirty="0"/>
          </a:p>
        </p:txBody>
      </p:sp>
      <p:sp>
        <p:nvSpPr>
          <p:cNvPr id="4" name="Footer Placeholder 3"/>
          <p:cNvSpPr>
            <a:spLocks noGrp="1"/>
          </p:cNvSpPr>
          <p:nvPr>
            <p:ph type="ftr" sz="quarter" idx="11"/>
          </p:nvPr>
        </p:nvSpPr>
        <p:spPr/>
        <p:txBody>
          <a:bodyPr/>
          <a:lstStyle/>
          <a:p>
            <a:r>
              <a:rPr lang="en-IN"/>
              <a:t>UNIT I</a:t>
            </a:r>
          </a:p>
        </p:txBody>
      </p:sp>
      <p:sp>
        <p:nvSpPr>
          <p:cNvPr id="5" name="Slide Number Placeholder 4"/>
          <p:cNvSpPr>
            <a:spLocks noGrp="1"/>
          </p:cNvSpPr>
          <p:nvPr>
            <p:ph type="sldNum" sz="quarter" idx="12"/>
          </p:nvPr>
        </p:nvSpPr>
        <p:spPr/>
        <p:txBody>
          <a:bodyPr/>
          <a:lstStyle/>
          <a:p>
            <a:fld id="{3467BBCD-0D13-431F-A782-7BE6456130A5}" type="slidenum">
              <a:rPr lang="en-IN" smtClean="0"/>
              <a:t>42</a:t>
            </a:fld>
            <a:endParaRPr lang="en-IN"/>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47864" y="3284984"/>
            <a:ext cx="3384376" cy="3430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7137199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t>Machine Learning</a:t>
            </a:r>
          </a:p>
        </p:txBody>
      </p:sp>
      <p:sp>
        <p:nvSpPr>
          <p:cNvPr id="3" name="Content Placeholder 2"/>
          <p:cNvSpPr>
            <a:spLocks noGrp="1"/>
          </p:cNvSpPr>
          <p:nvPr>
            <p:ph idx="1"/>
          </p:nvPr>
        </p:nvSpPr>
        <p:spPr>
          <a:xfrm>
            <a:off x="457200" y="1340768"/>
            <a:ext cx="7620000" cy="5060032"/>
          </a:xfrm>
        </p:spPr>
        <p:txBody>
          <a:bodyPr>
            <a:normAutofit/>
          </a:bodyPr>
          <a:lstStyle/>
          <a:p>
            <a:pPr lvl="0" algn="just"/>
            <a:r>
              <a:rPr lang="en-US" sz="2800" dirty="0">
                <a:solidFill>
                  <a:srgbClr val="0000CC"/>
                </a:solidFill>
              </a:rPr>
              <a:t>Clustering: </a:t>
            </a:r>
          </a:p>
          <a:p>
            <a:pPr lvl="0" algn="just"/>
            <a:r>
              <a:rPr lang="en-US" sz="2000" dirty="0"/>
              <a:t>Here, a set of inputs is to be divided into groups. Unlike in classification, the groups are not known beforehand, making this typically an unsupervised task.</a:t>
            </a:r>
          </a:p>
          <a:p>
            <a:pPr lvl="0" algn="just"/>
            <a:r>
              <a:rPr lang="en-US" sz="2000" dirty="0"/>
              <a:t>As you can see in the example below, the given dataset points have been divided into groups identifiable by the colors red, green and blue.</a:t>
            </a:r>
            <a:endParaRPr lang="en-US" sz="1800" dirty="0"/>
          </a:p>
        </p:txBody>
      </p:sp>
      <p:sp>
        <p:nvSpPr>
          <p:cNvPr id="4" name="Footer Placeholder 3"/>
          <p:cNvSpPr>
            <a:spLocks noGrp="1"/>
          </p:cNvSpPr>
          <p:nvPr>
            <p:ph type="ftr" sz="quarter" idx="11"/>
          </p:nvPr>
        </p:nvSpPr>
        <p:spPr/>
        <p:txBody>
          <a:bodyPr/>
          <a:lstStyle/>
          <a:p>
            <a:r>
              <a:rPr lang="en-IN"/>
              <a:t>UNIT I</a:t>
            </a:r>
          </a:p>
        </p:txBody>
      </p:sp>
      <p:sp>
        <p:nvSpPr>
          <p:cNvPr id="5" name="Slide Number Placeholder 4"/>
          <p:cNvSpPr>
            <a:spLocks noGrp="1"/>
          </p:cNvSpPr>
          <p:nvPr>
            <p:ph type="sldNum" sz="quarter" idx="12"/>
          </p:nvPr>
        </p:nvSpPr>
        <p:spPr/>
        <p:txBody>
          <a:bodyPr/>
          <a:lstStyle/>
          <a:p>
            <a:fld id="{3467BBCD-0D13-431F-A782-7BE6456130A5}" type="slidenum">
              <a:rPr lang="en-IN" smtClean="0"/>
              <a:t>43</a:t>
            </a:fld>
            <a:endParaRPr lang="en-IN"/>
          </a:p>
        </p:txBody>
      </p:sp>
      <p:pic>
        <p:nvPicPr>
          <p:cNvPr id="7" name="Picture 6" descr="https://media.geeksforgeeks.org/wp-content/uploads/clustering-1.png"/>
          <p:cNvPicPr/>
          <p:nvPr/>
        </p:nvPicPr>
        <p:blipFill>
          <a:blip r:embed="rId2">
            <a:extLst>
              <a:ext uri="{28A0092B-C50C-407E-A947-70E740481C1C}">
                <a14:useLocalDpi xmlns:a14="http://schemas.microsoft.com/office/drawing/2010/main" val="0"/>
              </a:ext>
            </a:extLst>
          </a:blip>
          <a:srcRect/>
          <a:stretch>
            <a:fillRect/>
          </a:stretch>
        </p:blipFill>
        <p:spPr bwMode="auto">
          <a:xfrm>
            <a:off x="2843808" y="3933056"/>
            <a:ext cx="3384376" cy="2736304"/>
          </a:xfrm>
          <a:prstGeom prst="rect">
            <a:avLst/>
          </a:prstGeom>
          <a:noFill/>
          <a:ln>
            <a:noFill/>
          </a:ln>
        </p:spPr>
      </p:pic>
    </p:spTree>
    <p:extLst>
      <p:ext uri="{BB962C8B-B14F-4D97-AF65-F5344CB8AC3E}">
        <p14:creationId xmlns:p14="http://schemas.microsoft.com/office/powerpoint/2010/main" val="281958426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t>Machine Learning</a:t>
            </a:r>
          </a:p>
        </p:txBody>
      </p:sp>
      <p:sp>
        <p:nvSpPr>
          <p:cNvPr id="3" name="Content Placeholder 2"/>
          <p:cNvSpPr>
            <a:spLocks noGrp="1"/>
          </p:cNvSpPr>
          <p:nvPr>
            <p:ph idx="1"/>
          </p:nvPr>
        </p:nvSpPr>
        <p:spPr>
          <a:xfrm>
            <a:off x="457200" y="1340768"/>
            <a:ext cx="7620000" cy="5060032"/>
          </a:xfrm>
        </p:spPr>
        <p:txBody>
          <a:bodyPr>
            <a:normAutofit/>
          </a:bodyPr>
          <a:lstStyle/>
          <a:p>
            <a:pPr lvl="0" algn="just"/>
            <a:r>
              <a:rPr lang="en-US" sz="2800" dirty="0">
                <a:solidFill>
                  <a:srgbClr val="0000CC"/>
                </a:solidFill>
              </a:rPr>
              <a:t>Density estimation: </a:t>
            </a:r>
          </a:p>
          <a:p>
            <a:pPr lvl="1" algn="just"/>
            <a:r>
              <a:rPr lang="en-US" sz="2600" dirty="0"/>
              <a:t>The task is to find the distribution of inputs in some space.</a:t>
            </a:r>
          </a:p>
          <a:p>
            <a:pPr lvl="0" algn="just"/>
            <a:r>
              <a:rPr lang="en-US" sz="2800" dirty="0">
                <a:solidFill>
                  <a:srgbClr val="0000CC"/>
                </a:solidFill>
              </a:rPr>
              <a:t>Dimensionality reduction: </a:t>
            </a:r>
          </a:p>
          <a:p>
            <a:pPr lvl="1" algn="just"/>
            <a:r>
              <a:rPr lang="en-US" sz="2600" dirty="0"/>
              <a:t>It simplifies inputs by mapping them into a lower-dimensional space. </a:t>
            </a:r>
          </a:p>
          <a:p>
            <a:pPr lvl="1" algn="just"/>
            <a:r>
              <a:rPr lang="en-US" sz="2600" dirty="0"/>
              <a:t>Topic modeling is a related problem, where a program is given a list of human language documents and is tasked to find out which documents cover similar topics.</a:t>
            </a:r>
          </a:p>
        </p:txBody>
      </p:sp>
      <p:sp>
        <p:nvSpPr>
          <p:cNvPr id="4" name="Footer Placeholder 3"/>
          <p:cNvSpPr>
            <a:spLocks noGrp="1"/>
          </p:cNvSpPr>
          <p:nvPr>
            <p:ph type="ftr" sz="quarter" idx="11"/>
          </p:nvPr>
        </p:nvSpPr>
        <p:spPr/>
        <p:txBody>
          <a:bodyPr/>
          <a:lstStyle/>
          <a:p>
            <a:r>
              <a:rPr lang="en-IN"/>
              <a:t>UNIT I</a:t>
            </a:r>
          </a:p>
        </p:txBody>
      </p:sp>
      <p:sp>
        <p:nvSpPr>
          <p:cNvPr id="5" name="Slide Number Placeholder 4"/>
          <p:cNvSpPr>
            <a:spLocks noGrp="1"/>
          </p:cNvSpPr>
          <p:nvPr>
            <p:ph type="sldNum" sz="quarter" idx="12"/>
          </p:nvPr>
        </p:nvSpPr>
        <p:spPr/>
        <p:txBody>
          <a:bodyPr/>
          <a:lstStyle/>
          <a:p>
            <a:fld id="{3467BBCD-0D13-431F-A782-7BE6456130A5}" type="slidenum">
              <a:rPr lang="en-IN" smtClean="0"/>
              <a:t>44</a:t>
            </a:fld>
            <a:endParaRPr lang="en-IN"/>
          </a:p>
        </p:txBody>
      </p:sp>
    </p:spTree>
    <p:extLst>
      <p:ext uri="{BB962C8B-B14F-4D97-AF65-F5344CB8AC3E}">
        <p14:creationId xmlns:p14="http://schemas.microsoft.com/office/powerpoint/2010/main" val="375532364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ML Algorithms</a:t>
            </a:r>
            <a:endParaRPr lang="en-IN" dirty="0"/>
          </a:p>
        </p:txBody>
      </p:sp>
      <p:sp>
        <p:nvSpPr>
          <p:cNvPr id="3" name="Text Placeholder 2"/>
          <p:cNvSpPr>
            <a:spLocks noGrp="1"/>
          </p:cNvSpPr>
          <p:nvPr>
            <p:ph type="body" idx="1"/>
          </p:nvPr>
        </p:nvSpPr>
        <p:spPr/>
        <p:txBody>
          <a:bodyPr/>
          <a:lstStyle/>
          <a:p>
            <a:r>
              <a:rPr lang="en-IN" sz="2400" dirty="0">
                <a:solidFill>
                  <a:srgbClr val="FF0000"/>
                </a:solidFill>
                <a:effectLst>
                  <a:outerShdw blurRad="38100" dist="38100" dir="2700000" algn="tl">
                    <a:srgbClr val="000000">
                      <a:alpha val="43137"/>
                    </a:srgbClr>
                  </a:outerShdw>
                </a:effectLst>
              </a:rPr>
              <a:t>SUPERVISED - Classification</a:t>
            </a:r>
          </a:p>
        </p:txBody>
      </p:sp>
      <p:sp>
        <p:nvSpPr>
          <p:cNvPr id="4" name="Content Placeholder 3"/>
          <p:cNvSpPr>
            <a:spLocks noGrp="1"/>
          </p:cNvSpPr>
          <p:nvPr>
            <p:ph sz="half" idx="2"/>
          </p:nvPr>
        </p:nvSpPr>
        <p:spPr>
          <a:xfrm>
            <a:off x="457200" y="2174875"/>
            <a:ext cx="3898776" cy="3951288"/>
          </a:xfrm>
        </p:spPr>
        <p:txBody>
          <a:bodyPr>
            <a:normAutofit/>
          </a:bodyPr>
          <a:lstStyle/>
          <a:p>
            <a:pPr marL="571500" indent="-457200">
              <a:buFont typeface="+mj-lt"/>
              <a:buAutoNum type="arabicPeriod"/>
            </a:pPr>
            <a:r>
              <a:rPr lang="en-US" dirty="0"/>
              <a:t>Linear Regression</a:t>
            </a:r>
          </a:p>
          <a:p>
            <a:pPr marL="571500" indent="-457200">
              <a:buFont typeface="+mj-lt"/>
              <a:buAutoNum type="arabicPeriod"/>
            </a:pPr>
            <a:r>
              <a:rPr lang="en-US" dirty="0"/>
              <a:t>Logistic Regression</a:t>
            </a:r>
          </a:p>
          <a:p>
            <a:pPr marL="571500" indent="-457200">
              <a:buFont typeface="+mj-lt"/>
              <a:buAutoNum type="arabicPeriod"/>
            </a:pPr>
            <a:r>
              <a:rPr lang="en-US" dirty="0"/>
              <a:t>SVM </a:t>
            </a:r>
            <a:r>
              <a:rPr lang="en-US" sz="1800" dirty="0"/>
              <a:t>(Support Vector Machines)</a:t>
            </a:r>
          </a:p>
          <a:p>
            <a:pPr marL="571500" indent="-457200">
              <a:buFont typeface="+mj-lt"/>
              <a:buAutoNum type="arabicPeriod"/>
            </a:pPr>
            <a:r>
              <a:rPr lang="en-US" dirty="0"/>
              <a:t>Naive Bayes</a:t>
            </a:r>
          </a:p>
          <a:p>
            <a:pPr marL="571500" indent="-457200">
              <a:buFont typeface="+mj-lt"/>
              <a:buAutoNum type="arabicPeriod"/>
            </a:pPr>
            <a:r>
              <a:rPr lang="en-IN" dirty="0"/>
              <a:t>Random Forest </a:t>
            </a:r>
          </a:p>
          <a:p>
            <a:pPr marL="571500" indent="-457200">
              <a:buFont typeface="+mj-lt"/>
              <a:buAutoNum type="arabicPeriod"/>
            </a:pPr>
            <a:r>
              <a:rPr lang="en-IN" dirty="0"/>
              <a:t>Decision Trees</a:t>
            </a:r>
            <a:br>
              <a:rPr lang="en-IN" dirty="0"/>
            </a:br>
            <a:endParaRPr lang="en-IN" dirty="0"/>
          </a:p>
        </p:txBody>
      </p:sp>
      <p:sp>
        <p:nvSpPr>
          <p:cNvPr id="5" name="Text Placeholder 4"/>
          <p:cNvSpPr>
            <a:spLocks noGrp="1"/>
          </p:cNvSpPr>
          <p:nvPr>
            <p:ph type="body" sz="quarter" idx="3"/>
          </p:nvPr>
        </p:nvSpPr>
        <p:spPr>
          <a:xfrm>
            <a:off x="4419600" y="1268760"/>
            <a:ext cx="3657600" cy="906115"/>
          </a:xfrm>
        </p:spPr>
        <p:txBody>
          <a:bodyPr/>
          <a:lstStyle/>
          <a:p>
            <a:r>
              <a:rPr lang="en-IN" sz="2400" i="1" dirty="0">
                <a:solidFill>
                  <a:srgbClr val="C00000"/>
                </a:solidFill>
                <a:effectLst>
                  <a:outerShdw blurRad="38100" dist="38100" dir="2700000" algn="tl">
                    <a:srgbClr val="000000">
                      <a:alpha val="43137"/>
                    </a:srgbClr>
                  </a:outerShdw>
                </a:effectLst>
              </a:rPr>
              <a:t>UNSUPERVISED – Clustering </a:t>
            </a:r>
          </a:p>
        </p:txBody>
      </p:sp>
      <p:sp>
        <p:nvSpPr>
          <p:cNvPr id="6" name="Content Placeholder 5"/>
          <p:cNvSpPr>
            <a:spLocks noGrp="1"/>
          </p:cNvSpPr>
          <p:nvPr>
            <p:ph sz="quarter" idx="4"/>
          </p:nvPr>
        </p:nvSpPr>
        <p:spPr/>
        <p:txBody>
          <a:bodyPr/>
          <a:lstStyle/>
          <a:p>
            <a:pPr marL="571500" indent="-457200">
              <a:buFont typeface="+mj-lt"/>
              <a:buAutoNum type="arabicPeriod"/>
            </a:pPr>
            <a:r>
              <a:rPr lang="en-US" dirty="0"/>
              <a:t>KNN </a:t>
            </a:r>
            <a:r>
              <a:rPr lang="en-US" sz="2000" dirty="0"/>
              <a:t>(K Nearest Neighbors)</a:t>
            </a:r>
            <a:endParaRPr lang="en-US" dirty="0"/>
          </a:p>
          <a:p>
            <a:pPr marL="571500" indent="-457200">
              <a:buFont typeface="+mj-lt"/>
              <a:buAutoNum type="arabicPeriod"/>
            </a:pPr>
            <a:r>
              <a:rPr lang="en-US" dirty="0"/>
              <a:t>K-Means</a:t>
            </a:r>
          </a:p>
          <a:p>
            <a:pPr marL="571500" indent="-457200">
              <a:buFont typeface="+mj-lt"/>
              <a:buAutoNum type="arabicPeriod"/>
            </a:pPr>
            <a:r>
              <a:rPr lang="en-IN" dirty="0"/>
              <a:t>Principal Component Analysis</a:t>
            </a:r>
          </a:p>
          <a:p>
            <a:pPr marL="571500" indent="-457200">
              <a:buFont typeface="+mj-lt"/>
              <a:buAutoNum type="arabicPeriod"/>
            </a:pPr>
            <a:r>
              <a:rPr lang="en-IN" dirty="0"/>
              <a:t>Hierarchical Clustering.</a:t>
            </a:r>
            <a:r>
              <a:rPr lang="en-US" dirty="0"/>
              <a:t> </a:t>
            </a:r>
            <a:endParaRPr lang="en-IN" dirty="0"/>
          </a:p>
        </p:txBody>
      </p:sp>
      <p:sp>
        <p:nvSpPr>
          <p:cNvPr id="7" name="Footer Placeholder 6"/>
          <p:cNvSpPr>
            <a:spLocks noGrp="1"/>
          </p:cNvSpPr>
          <p:nvPr>
            <p:ph type="ftr" sz="quarter" idx="11"/>
          </p:nvPr>
        </p:nvSpPr>
        <p:spPr/>
        <p:txBody>
          <a:bodyPr/>
          <a:lstStyle/>
          <a:p>
            <a:r>
              <a:rPr lang="en-IN"/>
              <a:t>UNIT I</a:t>
            </a:r>
          </a:p>
        </p:txBody>
      </p:sp>
      <p:sp>
        <p:nvSpPr>
          <p:cNvPr id="8" name="Slide Number Placeholder 7"/>
          <p:cNvSpPr>
            <a:spLocks noGrp="1"/>
          </p:cNvSpPr>
          <p:nvPr>
            <p:ph type="sldNum" sz="quarter" idx="12"/>
          </p:nvPr>
        </p:nvSpPr>
        <p:spPr/>
        <p:txBody>
          <a:bodyPr/>
          <a:lstStyle/>
          <a:p>
            <a:fld id="{3467BBCD-0D13-431F-A782-7BE6456130A5}" type="slidenum">
              <a:rPr lang="en-IN" smtClean="0"/>
              <a:t>45</a:t>
            </a:fld>
            <a:endParaRPr lang="en-IN"/>
          </a:p>
        </p:txBody>
      </p:sp>
    </p:spTree>
    <p:extLst>
      <p:ext uri="{BB962C8B-B14F-4D97-AF65-F5344CB8AC3E}">
        <p14:creationId xmlns:p14="http://schemas.microsoft.com/office/powerpoint/2010/main" val="345335628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ML Tools </a:t>
            </a:r>
            <a:r>
              <a:rPr lang="en-IN" dirty="0"/>
              <a:t>and Frameworks</a:t>
            </a:r>
            <a:endParaRPr lang="en-US" dirty="0"/>
          </a:p>
        </p:txBody>
      </p:sp>
      <p:sp>
        <p:nvSpPr>
          <p:cNvPr id="3" name="Content Placeholder 2"/>
          <p:cNvSpPr>
            <a:spLocks noGrp="1"/>
          </p:cNvSpPr>
          <p:nvPr>
            <p:ph idx="1"/>
          </p:nvPr>
        </p:nvSpPr>
        <p:spPr/>
        <p:txBody>
          <a:bodyPr>
            <a:normAutofit fontScale="92500" lnSpcReduction="10000"/>
          </a:bodyPr>
          <a:lstStyle/>
          <a:p>
            <a:r>
              <a:rPr lang="en-IN" sz="2400" dirty="0" err="1"/>
              <a:t>Scikit</a:t>
            </a:r>
            <a:r>
              <a:rPr lang="en-IN" sz="2400" dirty="0"/>
              <a:t> Learn</a:t>
            </a:r>
          </a:p>
          <a:p>
            <a:r>
              <a:rPr lang="en-IN" sz="2400" dirty="0" err="1"/>
              <a:t>TensorFlow</a:t>
            </a:r>
            <a:endParaRPr lang="en-IN" sz="2400" dirty="0"/>
          </a:p>
          <a:p>
            <a:r>
              <a:rPr lang="en-IN" sz="2400" dirty="0"/>
              <a:t>Auto ML</a:t>
            </a:r>
          </a:p>
          <a:p>
            <a:r>
              <a:rPr lang="en-IN" sz="2400" dirty="0" err="1"/>
              <a:t>Theano</a:t>
            </a:r>
            <a:endParaRPr lang="en-IN" sz="2400" dirty="0"/>
          </a:p>
          <a:p>
            <a:r>
              <a:rPr lang="en-IN" sz="2400" dirty="0" err="1"/>
              <a:t>PyTorch</a:t>
            </a:r>
            <a:endParaRPr lang="en-IN" sz="2400" dirty="0"/>
          </a:p>
          <a:p>
            <a:r>
              <a:rPr lang="en-IN" sz="2400" dirty="0" err="1"/>
              <a:t>Caffe</a:t>
            </a:r>
            <a:endParaRPr lang="en-IN" sz="2400" dirty="0"/>
          </a:p>
          <a:p>
            <a:r>
              <a:rPr lang="en-IN" sz="2400" dirty="0" err="1"/>
              <a:t>MxNet</a:t>
            </a:r>
            <a:endParaRPr lang="en-IN" sz="2400" dirty="0"/>
          </a:p>
          <a:p>
            <a:r>
              <a:rPr lang="en-IN" sz="2400" dirty="0"/>
              <a:t>Google ML Kit</a:t>
            </a:r>
          </a:p>
          <a:p>
            <a:r>
              <a:rPr lang="en-IN" sz="2400" dirty="0" err="1"/>
              <a:t>Keras</a:t>
            </a:r>
            <a:endParaRPr lang="en-IN" sz="2400" dirty="0"/>
          </a:p>
          <a:p>
            <a:r>
              <a:rPr lang="en-IN" sz="2400" dirty="0"/>
              <a:t>H20: Open Source AI Platform</a:t>
            </a:r>
          </a:p>
          <a:p>
            <a:r>
              <a:rPr lang="en-IN" sz="2400" dirty="0"/>
              <a:t>CNTK</a:t>
            </a:r>
          </a:p>
          <a:p>
            <a:r>
              <a:rPr lang="en-IN" sz="2400" dirty="0" err="1"/>
              <a:t>OpenNN</a:t>
            </a:r>
            <a:endParaRPr lang="en-IN" sz="2400" dirty="0"/>
          </a:p>
        </p:txBody>
      </p:sp>
      <p:sp>
        <p:nvSpPr>
          <p:cNvPr id="4" name="Footer Placeholder 3"/>
          <p:cNvSpPr>
            <a:spLocks noGrp="1"/>
          </p:cNvSpPr>
          <p:nvPr>
            <p:ph type="ftr" sz="quarter" idx="11"/>
          </p:nvPr>
        </p:nvSpPr>
        <p:spPr/>
        <p:txBody>
          <a:bodyPr/>
          <a:lstStyle/>
          <a:p>
            <a:r>
              <a:rPr lang="en-IN"/>
              <a:t>UNIT I</a:t>
            </a:r>
          </a:p>
        </p:txBody>
      </p:sp>
      <p:sp>
        <p:nvSpPr>
          <p:cNvPr id="5" name="Slide Number Placeholder 4"/>
          <p:cNvSpPr>
            <a:spLocks noGrp="1"/>
          </p:cNvSpPr>
          <p:nvPr>
            <p:ph type="sldNum" sz="quarter" idx="12"/>
          </p:nvPr>
        </p:nvSpPr>
        <p:spPr/>
        <p:txBody>
          <a:bodyPr/>
          <a:lstStyle/>
          <a:p>
            <a:fld id="{3467BBCD-0D13-431F-A782-7BE6456130A5}" type="slidenum">
              <a:rPr lang="en-IN" smtClean="0"/>
              <a:t>46</a:t>
            </a:fld>
            <a:endParaRPr lang="en-IN"/>
          </a:p>
        </p:txBody>
      </p:sp>
    </p:spTree>
    <p:extLst>
      <p:ext uri="{BB962C8B-B14F-4D97-AF65-F5344CB8AC3E}">
        <p14:creationId xmlns:p14="http://schemas.microsoft.com/office/powerpoint/2010/main" val="260520765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90EC18-E5AA-1CDF-A3CC-244BCD4C30FC}"/>
              </a:ext>
            </a:extLst>
          </p:cNvPr>
          <p:cNvSpPr>
            <a:spLocks noGrp="1"/>
          </p:cNvSpPr>
          <p:nvPr>
            <p:ph type="title"/>
          </p:nvPr>
        </p:nvSpPr>
        <p:spPr/>
        <p:txBody>
          <a:bodyPr/>
          <a:lstStyle/>
          <a:p>
            <a:r>
              <a:rPr lang="en-IN" sz="3200" dirty="0"/>
              <a:t>Natural Language Processing (NLP) </a:t>
            </a:r>
          </a:p>
        </p:txBody>
      </p:sp>
      <p:sp>
        <p:nvSpPr>
          <p:cNvPr id="3" name="Content Placeholder 2">
            <a:extLst>
              <a:ext uri="{FF2B5EF4-FFF2-40B4-BE49-F238E27FC236}">
                <a16:creationId xmlns:a16="http://schemas.microsoft.com/office/drawing/2014/main" id="{71C2858F-AD6B-BB1B-B13D-1935E4F93309}"/>
              </a:ext>
            </a:extLst>
          </p:cNvPr>
          <p:cNvSpPr>
            <a:spLocks noGrp="1"/>
          </p:cNvSpPr>
          <p:nvPr>
            <p:ph idx="1"/>
          </p:nvPr>
        </p:nvSpPr>
        <p:spPr>
          <a:xfrm>
            <a:off x="439861" y="1628800"/>
            <a:ext cx="7620000" cy="4800600"/>
          </a:xfrm>
        </p:spPr>
        <p:txBody>
          <a:bodyPr/>
          <a:lstStyle/>
          <a:p>
            <a:pPr algn="just"/>
            <a:r>
              <a:rPr lang="en-US" dirty="0"/>
              <a:t>NLP is an AI field merging computer science, linguistics, and machine learning to help computers understand, interpret, generate, and respond to human language (text and speech). </a:t>
            </a:r>
          </a:p>
          <a:p>
            <a:pPr algn="just"/>
            <a:r>
              <a:rPr lang="en-US" dirty="0"/>
              <a:t>It converts unstructured human language into structured data for computers to process, powering everyday tools like search engines, voice assistants (Siri, Alexa), chatbots, translation apps, and spam filters, making human-computer interaction seamless and automating tasks. </a:t>
            </a:r>
          </a:p>
          <a:p>
            <a:pPr algn="just"/>
            <a:endParaRPr lang="en-IN" dirty="0"/>
          </a:p>
        </p:txBody>
      </p:sp>
      <p:sp>
        <p:nvSpPr>
          <p:cNvPr id="4" name="Footer Placeholder 3">
            <a:extLst>
              <a:ext uri="{FF2B5EF4-FFF2-40B4-BE49-F238E27FC236}">
                <a16:creationId xmlns:a16="http://schemas.microsoft.com/office/drawing/2014/main" id="{FAA318F9-2612-9046-A24F-142B5829BAF7}"/>
              </a:ext>
            </a:extLst>
          </p:cNvPr>
          <p:cNvSpPr>
            <a:spLocks noGrp="1"/>
          </p:cNvSpPr>
          <p:nvPr>
            <p:ph type="ftr" sz="quarter" idx="11"/>
          </p:nvPr>
        </p:nvSpPr>
        <p:spPr/>
        <p:txBody>
          <a:bodyPr/>
          <a:lstStyle/>
          <a:p>
            <a:r>
              <a:rPr lang="en-IN"/>
              <a:t>UNIT I</a:t>
            </a:r>
          </a:p>
        </p:txBody>
      </p:sp>
      <p:sp>
        <p:nvSpPr>
          <p:cNvPr id="5" name="Slide Number Placeholder 4">
            <a:extLst>
              <a:ext uri="{FF2B5EF4-FFF2-40B4-BE49-F238E27FC236}">
                <a16:creationId xmlns:a16="http://schemas.microsoft.com/office/drawing/2014/main" id="{F9C7983B-A838-48E2-DE0C-76D825D04118}"/>
              </a:ext>
            </a:extLst>
          </p:cNvPr>
          <p:cNvSpPr>
            <a:spLocks noGrp="1"/>
          </p:cNvSpPr>
          <p:nvPr>
            <p:ph type="sldNum" sz="quarter" idx="12"/>
          </p:nvPr>
        </p:nvSpPr>
        <p:spPr/>
        <p:txBody>
          <a:bodyPr/>
          <a:lstStyle/>
          <a:p>
            <a:fld id="{3467BBCD-0D13-431F-A782-7BE6456130A5}" type="slidenum">
              <a:rPr lang="en-IN" smtClean="0"/>
              <a:t>47</a:t>
            </a:fld>
            <a:endParaRPr lang="en-IN"/>
          </a:p>
        </p:txBody>
      </p:sp>
    </p:spTree>
    <p:extLst>
      <p:ext uri="{BB962C8B-B14F-4D97-AF65-F5344CB8AC3E}">
        <p14:creationId xmlns:p14="http://schemas.microsoft.com/office/powerpoint/2010/main" val="321977058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6392CC-A2A3-4A37-6DFB-C7FDCF3A33CD}"/>
              </a:ext>
            </a:extLst>
          </p:cNvPr>
          <p:cNvSpPr>
            <a:spLocks noGrp="1"/>
          </p:cNvSpPr>
          <p:nvPr>
            <p:ph type="title"/>
          </p:nvPr>
        </p:nvSpPr>
        <p:spPr/>
        <p:txBody>
          <a:bodyPr/>
          <a:lstStyle/>
          <a:p>
            <a:r>
              <a:rPr lang="en-IN" sz="3200" dirty="0"/>
              <a:t>How it works</a:t>
            </a:r>
          </a:p>
        </p:txBody>
      </p:sp>
      <p:sp>
        <p:nvSpPr>
          <p:cNvPr id="3" name="Content Placeholder 2">
            <a:extLst>
              <a:ext uri="{FF2B5EF4-FFF2-40B4-BE49-F238E27FC236}">
                <a16:creationId xmlns:a16="http://schemas.microsoft.com/office/drawing/2014/main" id="{A35334DD-8A06-0D15-F927-499F1B64B135}"/>
              </a:ext>
            </a:extLst>
          </p:cNvPr>
          <p:cNvSpPr>
            <a:spLocks noGrp="1"/>
          </p:cNvSpPr>
          <p:nvPr>
            <p:ph idx="1"/>
          </p:nvPr>
        </p:nvSpPr>
        <p:spPr/>
        <p:txBody>
          <a:bodyPr/>
          <a:lstStyle/>
          <a:p>
            <a:r>
              <a:rPr lang="en-US" dirty="0">
                <a:solidFill>
                  <a:srgbClr val="7030A0"/>
                </a:solidFill>
              </a:rPr>
              <a:t>Combines disciplines</a:t>
            </a:r>
            <a:r>
              <a:rPr lang="en-US" dirty="0"/>
              <a:t>: Uses linguistics (language rules) with statistical models, machine learning, and deep learning to process language.</a:t>
            </a:r>
          </a:p>
          <a:p>
            <a:r>
              <a:rPr lang="en-US" dirty="0">
                <a:solidFill>
                  <a:srgbClr val="7030A0"/>
                </a:solidFill>
              </a:rPr>
              <a:t>Two main tasks:</a:t>
            </a:r>
          </a:p>
          <a:p>
            <a:pPr lvl="1"/>
            <a:r>
              <a:rPr lang="en-US" dirty="0">
                <a:solidFill>
                  <a:srgbClr val="C00000"/>
                </a:solidFill>
              </a:rPr>
              <a:t>Natural Language Understanding (NLU): </a:t>
            </a:r>
            <a:r>
              <a:rPr lang="en-US" dirty="0"/>
              <a:t>Comprehending input (text/speech) by breaking down meaning and structure.</a:t>
            </a:r>
          </a:p>
          <a:p>
            <a:pPr lvl="1"/>
            <a:r>
              <a:rPr lang="en-US" dirty="0">
                <a:solidFill>
                  <a:srgbClr val="0000CC"/>
                </a:solidFill>
              </a:rPr>
              <a:t>Natural Language Generation (NLG): </a:t>
            </a:r>
            <a:r>
              <a:rPr lang="en-US" dirty="0"/>
              <a:t>Producing human-like text or speech as output.</a:t>
            </a:r>
          </a:p>
          <a:p>
            <a:r>
              <a:rPr lang="en-US" dirty="0">
                <a:solidFill>
                  <a:srgbClr val="7030A0"/>
                </a:solidFill>
              </a:rPr>
              <a:t>Process</a:t>
            </a:r>
            <a:r>
              <a:rPr lang="en-US" dirty="0"/>
              <a:t>: Translates messy human language into organized data for machines, then back again</a:t>
            </a:r>
            <a:endParaRPr lang="en-IN" dirty="0"/>
          </a:p>
        </p:txBody>
      </p:sp>
      <p:sp>
        <p:nvSpPr>
          <p:cNvPr id="4" name="Footer Placeholder 3">
            <a:extLst>
              <a:ext uri="{FF2B5EF4-FFF2-40B4-BE49-F238E27FC236}">
                <a16:creationId xmlns:a16="http://schemas.microsoft.com/office/drawing/2014/main" id="{96D0D4C2-A8AD-D189-5E8D-21217804E213}"/>
              </a:ext>
            </a:extLst>
          </p:cNvPr>
          <p:cNvSpPr>
            <a:spLocks noGrp="1"/>
          </p:cNvSpPr>
          <p:nvPr>
            <p:ph type="ftr" sz="quarter" idx="11"/>
          </p:nvPr>
        </p:nvSpPr>
        <p:spPr/>
        <p:txBody>
          <a:bodyPr/>
          <a:lstStyle/>
          <a:p>
            <a:r>
              <a:rPr lang="en-IN"/>
              <a:t>UNIT I</a:t>
            </a:r>
          </a:p>
        </p:txBody>
      </p:sp>
      <p:sp>
        <p:nvSpPr>
          <p:cNvPr id="5" name="Slide Number Placeholder 4">
            <a:extLst>
              <a:ext uri="{FF2B5EF4-FFF2-40B4-BE49-F238E27FC236}">
                <a16:creationId xmlns:a16="http://schemas.microsoft.com/office/drawing/2014/main" id="{0675BEB0-D01B-BE8D-93E2-C05DEFAFE578}"/>
              </a:ext>
            </a:extLst>
          </p:cNvPr>
          <p:cNvSpPr>
            <a:spLocks noGrp="1"/>
          </p:cNvSpPr>
          <p:nvPr>
            <p:ph type="sldNum" sz="quarter" idx="12"/>
          </p:nvPr>
        </p:nvSpPr>
        <p:spPr/>
        <p:txBody>
          <a:bodyPr/>
          <a:lstStyle/>
          <a:p>
            <a:fld id="{3467BBCD-0D13-431F-A782-7BE6456130A5}" type="slidenum">
              <a:rPr lang="en-IN" smtClean="0"/>
              <a:t>48</a:t>
            </a:fld>
            <a:endParaRPr lang="en-IN"/>
          </a:p>
        </p:txBody>
      </p:sp>
    </p:spTree>
    <p:extLst>
      <p:ext uri="{BB962C8B-B14F-4D97-AF65-F5344CB8AC3E}">
        <p14:creationId xmlns:p14="http://schemas.microsoft.com/office/powerpoint/2010/main" val="206336838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F057BA-0BA7-CF92-D39D-8F454506D3F8}"/>
              </a:ext>
            </a:extLst>
          </p:cNvPr>
          <p:cNvSpPr>
            <a:spLocks noGrp="1"/>
          </p:cNvSpPr>
          <p:nvPr>
            <p:ph type="title"/>
          </p:nvPr>
        </p:nvSpPr>
        <p:spPr/>
        <p:txBody>
          <a:bodyPr/>
          <a:lstStyle/>
          <a:p>
            <a:r>
              <a:rPr lang="en-IN" sz="3200" dirty="0"/>
              <a:t>Applications</a:t>
            </a:r>
          </a:p>
        </p:txBody>
      </p:sp>
      <p:sp>
        <p:nvSpPr>
          <p:cNvPr id="3" name="Content Placeholder 2">
            <a:extLst>
              <a:ext uri="{FF2B5EF4-FFF2-40B4-BE49-F238E27FC236}">
                <a16:creationId xmlns:a16="http://schemas.microsoft.com/office/drawing/2014/main" id="{29DDC118-4E97-2BA5-B422-A7AC87E8FC33}"/>
              </a:ext>
            </a:extLst>
          </p:cNvPr>
          <p:cNvSpPr>
            <a:spLocks noGrp="1"/>
          </p:cNvSpPr>
          <p:nvPr>
            <p:ph idx="1"/>
          </p:nvPr>
        </p:nvSpPr>
        <p:spPr/>
        <p:txBody>
          <a:bodyPr/>
          <a:lstStyle/>
          <a:p>
            <a:pPr algn="just"/>
            <a:r>
              <a:rPr lang="en-IN" dirty="0">
                <a:solidFill>
                  <a:srgbClr val="7030A0"/>
                </a:solidFill>
              </a:rPr>
              <a:t>Voice Assistants: </a:t>
            </a:r>
            <a:r>
              <a:rPr lang="en-IN" dirty="0"/>
              <a:t>Siri, Alexa, Google Assistant.</a:t>
            </a:r>
          </a:p>
          <a:p>
            <a:pPr algn="just"/>
            <a:r>
              <a:rPr lang="en-IN" dirty="0">
                <a:solidFill>
                  <a:srgbClr val="7030A0"/>
                </a:solidFill>
              </a:rPr>
              <a:t>Search Engines:</a:t>
            </a:r>
            <a:r>
              <a:rPr lang="en-IN" dirty="0"/>
              <a:t> Understanding queries and providing relevant results.</a:t>
            </a:r>
          </a:p>
          <a:p>
            <a:pPr algn="just"/>
            <a:r>
              <a:rPr lang="en-IN" dirty="0">
                <a:solidFill>
                  <a:srgbClr val="7030A0"/>
                </a:solidFill>
              </a:rPr>
              <a:t>Chatbots &amp; Virtual Agents</a:t>
            </a:r>
            <a:r>
              <a:rPr lang="en-IN" dirty="0"/>
              <a:t>: Customer service, AI assistants.</a:t>
            </a:r>
          </a:p>
          <a:p>
            <a:pPr algn="just"/>
            <a:r>
              <a:rPr lang="en-IN" dirty="0">
                <a:solidFill>
                  <a:srgbClr val="7030A0"/>
                </a:solidFill>
              </a:rPr>
              <a:t>Translation</a:t>
            </a:r>
            <a:r>
              <a:rPr lang="en-IN" dirty="0"/>
              <a:t>: Google Translate.</a:t>
            </a:r>
          </a:p>
          <a:p>
            <a:pPr algn="just"/>
            <a:r>
              <a:rPr lang="en-IN" dirty="0">
                <a:solidFill>
                  <a:srgbClr val="7030A0"/>
                </a:solidFill>
              </a:rPr>
              <a:t>Text Analysis</a:t>
            </a:r>
            <a:r>
              <a:rPr lang="en-IN" dirty="0"/>
              <a:t>: Sentiment analysis, spam detection, autocorrect, plagiarism checks.</a:t>
            </a:r>
          </a:p>
          <a:p>
            <a:pPr algn="just"/>
            <a:r>
              <a:rPr lang="en-IN" dirty="0">
                <a:solidFill>
                  <a:srgbClr val="7030A0"/>
                </a:solidFill>
              </a:rPr>
              <a:t>Enterprise Automation</a:t>
            </a:r>
            <a:r>
              <a:rPr lang="en-IN" dirty="0"/>
              <a:t>: Streamlining business processes, productivity tools</a:t>
            </a:r>
          </a:p>
        </p:txBody>
      </p:sp>
      <p:sp>
        <p:nvSpPr>
          <p:cNvPr id="4" name="Footer Placeholder 3">
            <a:extLst>
              <a:ext uri="{FF2B5EF4-FFF2-40B4-BE49-F238E27FC236}">
                <a16:creationId xmlns:a16="http://schemas.microsoft.com/office/drawing/2014/main" id="{7C7AEE62-CE73-D3C4-F0F9-60AFB6030F91}"/>
              </a:ext>
            </a:extLst>
          </p:cNvPr>
          <p:cNvSpPr>
            <a:spLocks noGrp="1"/>
          </p:cNvSpPr>
          <p:nvPr>
            <p:ph type="ftr" sz="quarter" idx="11"/>
          </p:nvPr>
        </p:nvSpPr>
        <p:spPr/>
        <p:txBody>
          <a:bodyPr/>
          <a:lstStyle/>
          <a:p>
            <a:r>
              <a:rPr lang="en-IN"/>
              <a:t>UNIT I</a:t>
            </a:r>
          </a:p>
        </p:txBody>
      </p:sp>
      <p:sp>
        <p:nvSpPr>
          <p:cNvPr id="5" name="Slide Number Placeholder 4">
            <a:extLst>
              <a:ext uri="{FF2B5EF4-FFF2-40B4-BE49-F238E27FC236}">
                <a16:creationId xmlns:a16="http://schemas.microsoft.com/office/drawing/2014/main" id="{67F22A6D-163A-7FC1-88E8-756253619926}"/>
              </a:ext>
            </a:extLst>
          </p:cNvPr>
          <p:cNvSpPr>
            <a:spLocks noGrp="1"/>
          </p:cNvSpPr>
          <p:nvPr>
            <p:ph type="sldNum" sz="quarter" idx="12"/>
          </p:nvPr>
        </p:nvSpPr>
        <p:spPr/>
        <p:txBody>
          <a:bodyPr/>
          <a:lstStyle/>
          <a:p>
            <a:fld id="{3467BBCD-0D13-431F-A782-7BE6456130A5}" type="slidenum">
              <a:rPr lang="en-IN" smtClean="0"/>
              <a:t>49</a:t>
            </a:fld>
            <a:endParaRPr lang="en-IN"/>
          </a:p>
        </p:txBody>
      </p:sp>
    </p:spTree>
    <p:extLst>
      <p:ext uri="{BB962C8B-B14F-4D97-AF65-F5344CB8AC3E}">
        <p14:creationId xmlns:p14="http://schemas.microsoft.com/office/powerpoint/2010/main" val="80337945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ML - Terminologies</a:t>
            </a:r>
          </a:p>
        </p:txBody>
      </p:sp>
      <p:sp>
        <p:nvSpPr>
          <p:cNvPr id="3" name="Content Placeholder 2"/>
          <p:cNvSpPr>
            <a:spLocks noGrp="1"/>
          </p:cNvSpPr>
          <p:nvPr>
            <p:ph idx="1"/>
          </p:nvPr>
        </p:nvSpPr>
        <p:spPr/>
        <p:txBody>
          <a:bodyPr>
            <a:normAutofit/>
          </a:bodyPr>
          <a:lstStyle/>
          <a:p>
            <a:pPr lvl="0" algn="just"/>
            <a:r>
              <a:rPr lang="en-US" b="1" i="1" dirty="0">
                <a:solidFill>
                  <a:srgbClr val="008000"/>
                </a:solidFill>
                <a:effectLst>
                  <a:outerShdw blurRad="38100" dist="38100" dir="2700000" algn="tl">
                    <a:srgbClr val="000000">
                      <a:alpha val="43137"/>
                    </a:srgbClr>
                  </a:outerShdw>
                </a:effectLst>
              </a:rPr>
              <a:t>Model</a:t>
            </a:r>
          </a:p>
          <a:p>
            <a:pPr lvl="1" algn="just"/>
            <a:r>
              <a:rPr lang="en-US" dirty="0"/>
              <a:t>A model is a </a:t>
            </a:r>
            <a:r>
              <a:rPr lang="en-US" b="1" dirty="0"/>
              <a:t>specific representation</a:t>
            </a:r>
            <a:r>
              <a:rPr lang="en-US" dirty="0"/>
              <a:t> learned from data by applying some machine learning algorithm. A model is also called </a:t>
            </a:r>
            <a:r>
              <a:rPr lang="en-US" b="1" dirty="0"/>
              <a:t>hypothesis</a:t>
            </a:r>
            <a:r>
              <a:rPr lang="en-US" dirty="0"/>
              <a:t>.</a:t>
            </a:r>
          </a:p>
          <a:p>
            <a:pPr lvl="0" algn="just"/>
            <a:r>
              <a:rPr lang="en-US" b="1" i="1" dirty="0">
                <a:solidFill>
                  <a:srgbClr val="0000CC"/>
                </a:solidFill>
                <a:effectLst>
                  <a:outerShdw blurRad="38100" dist="38100" dir="2700000" algn="tl">
                    <a:srgbClr val="000000">
                      <a:alpha val="43137"/>
                    </a:srgbClr>
                  </a:outerShdw>
                </a:effectLst>
              </a:rPr>
              <a:t>Feature</a:t>
            </a:r>
          </a:p>
          <a:p>
            <a:pPr lvl="1" algn="just"/>
            <a:r>
              <a:rPr lang="en-US" dirty="0"/>
              <a:t>A feature is an individual measurable property of our data. A set of numeric features can be conveniently described by a </a:t>
            </a:r>
            <a:r>
              <a:rPr lang="en-US" b="1" dirty="0"/>
              <a:t>feature vector</a:t>
            </a:r>
            <a:r>
              <a:rPr lang="en-US" dirty="0"/>
              <a:t>. </a:t>
            </a:r>
          </a:p>
          <a:p>
            <a:pPr lvl="1" algn="just"/>
            <a:r>
              <a:rPr lang="en-US" dirty="0"/>
              <a:t>Feature vectors are fed as input to the model. For example, in order to predict a fruit, there may be features like color, smell, taste, </a:t>
            </a:r>
            <a:r>
              <a:rPr lang="en-US" b="1" dirty="0"/>
              <a:t>etc.</a:t>
            </a:r>
          </a:p>
          <a:p>
            <a:pPr lvl="2" algn="just"/>
            <a:r>
              <a:rPr lang="en-US" sz="1800" b="1" i="1" dirty="0"/>
              <a:t>Note:</a:t>
            </a:r>
            <a:r>
              <a:rPr lang="en-US" sz="1800" i="1" dirty="0"/>
              <a:t> Choosing informative, discriminating and independent features is a crucial step for effective algorithms. We generally employ a </a:t>
            </a:r>
            <a:r>
              <a:rPr lang="en-US" sz="1800" b="1" i="1" dirty="0"/>
              <a:t>feature extractor</a:t>
            </a:r>
            <a:r>
              <a:rPr lang="en-US" sz="1800" i="1" dirty="0"/>
              <a:t> to extract the relevant features from the raw data.</a:t>
            </a:r>
          </a:p>
        </p:txBody>
      </p:sp>
      <p:sp>
        <p:nvSpPr>
          <p:cNvPr id="4" name="Footer Placeholder 3"/>
          <p:cNvSpPr>
            <a:spLocks noGrp="1"/>
          </p:cNvSpPr>
          <p:nvPr>
            <p:ph type="ftr" sz="quarter" idx="11"/>
          </p:nvPr>
        </p:nvSpPr>
        <p:spPr/>
        <p:txBody>
          <a:bodyPr/>
          <a:lstStyle/>
          <a:p>
            <a:r>
              <a:rPr lang="en-IN"/>
              <a:t>UNIT I</a:t>
            </a:r>
          </a:p>
        </p:txBody>
      </p:sp>
      <p:sp>
        <p:nvSpPr>
          <p:cNvPr id="5" name="Slide Number Placeholder 4"/>
          <p:cNvSpPr>
            <a:spLocks noGrp="1"/>
          </p:cNvSpPr>
          <p:nvPr>
            <p:ph type="sldNum" sz="quarter" idx="12"/>
          </p:nvPr>
        </p:nvSpPr>
        <p:spPr/>
        <p:txBody>
          <a:bodyPr/>
          <a:lstStyle/>
          <a:p>
            <a:fld id="{3467BBCD-0D13-431F-A782-7BE6456130A5}" type="slidenum">
              <a:rPr lang="en-IN" smtClean="0"/>
              <a:t>50</a:t>
            </a:fld>
            <a:endParaRPr lang="en-IN"/>
          </a:p>
        </p:txBody>
      </p:sp>
    </p:spTree>
    <p:extLst>
      <p:ext uri="{BB962C8B-B14F-4D97-AF65-F5344CB8AC3E}">
        <p14:creationId xmlns:p14="http://schemas.microsoft.com/office/powerpoint/2010/main" val="132187311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ML - Terminologies</a:t>
            </a:r>
          </a:p>
        </p:txBody>
      </p:sp>
      <p:sp>
        <p:nvSpPr>
          <p:cNvPr id="3" name="Content Placeholder 2"/>
          <p:cNvSpPr>
            <a:spLocks noGrp="1"/>
          </p:cNvSpPr>
          <p:nvPr>
            <p:ph idx="1"/>
          </p:nvPr>
        </p:nvSpPr>
        <p:spPr/>
        <p:txBody>
          <a:bodyPr>
            <a:noAutofit/>
          </a:bodyPr>
          <a:lstStyle/>
          <a:p>
            <a:pPr algn="just"/>
            <a:r>
              <a:rPr lang="en-US" b="1" i="1" dirty="0">
                <a:solidFill>
                  <a:srgbClr val="FF0000"/>
                </a:solidFill>
                <a:effectLst>
                  <a:outerShdw blurRad="38100" dist="38100" dir="2700000" algn="tl">
                    <a:srgbClr val="000000">
                      <a:alpha val="43137"/>
                    </a:srgbClr>
                  </a:outerShdw>
                </a:effectLst>
              </a:rPr>
              <a:t>Target (Label)</a:t>
            </a:r>
          </a:p>
          <a:p>
            <a:pPr lvl="1" algn="just"/>
            <a:r>
              <a:rPr lang="en-US" sz="2200" dirty="0"/>
              <a:t>A target variable or label is the value to be predicted by our model. For the fruit example discussed in the features section, the label with each set of input would be the name of the fruit like apple, orange, banana, etc.</a:t>
            </a:r>
          </a:p>
          <a:p>
            <a:pPr algn="just"/>
            <a:r>
              <a:rPr lang="en-US" b="1" i="1" dirty="0">
                <a:solidFill>
                  <a:srgbClr val="0000CC"/>
                </a:solidFill>
                <a:effectLst>
                  <a:outerShdw blurRad="38100" dist="38100" dir="2700000" algn="tl">
                    <a:srgbClr val="000000">
                      <a:alpha val="43137"/>
                    </a:srgbClr>
                  </a:outerShdw>
                </a:effectLst>
              </a:rPr>
              <a:t>Training</a:t>
            </a:r>
          </a:p>
          <a:p>
            <a:pPr lvl="1" algn="just"/>
            <a:r>
              <a:rPr lang="en-US" sz="2200" dirty="0"/>
              <a:t>The idea is to give a set of inputs (features) and it’s expected outputs(labels), so after training, we will have a model (hypothesis) that will then map new data to one of the categories trained on.</a:t>
            </a:r>
          </a:p>
          <a:p>
            <a:pPr algn="just"/>
            <a:r>
              <a:rPr lang="en-US" b="1" i="1" dirty="0">
                <a:solidFill>
                  <a:srgbClr val="008000"/>
                </a:solidFill>
                <a:effectLst>
                  <a:outerShdw blurRad="38100" dist="38100" dir="2700000" algn="tl">
                    <a:srgbClr val="000000">
                      <a:alpha val="43137"/>
                    </a:srgbClr>
                  </a:outerShdw>
                </a:effectLst>
              </a:rPr>
              <a:t>Prediction</a:t>
            </a:r>
          </a:p>
          <a:p>
            <a:pPr lvl="1" algn="just"/>
            <a:r>
              <a:rPr lang="en-US" sz="2200" dirty="0"/>
              <a:t>Once our model is ready, it can be fed a set of inputs to which it will provide a predicted output (label).</a:t>
            </a:r>
          </a:p>
          <a:p>
            <a:pPr algn="just"/>
            <a:endParaRPr lang="en-US" dirty="0"/>
          </a:p>
        </p:txBody>
      </p:sp>
      <p:sp>
        <p:nvSpPr>
          <p:cNvPr id="4" name="Footer Placeholder 3"/>
          <p:cNvSpPr>
            <a:spLocks noGrp="1"/>
          </p:cNvSpPr>
          <p:nvPr>
            <p:ph type="ftr" sz="quarter" idx="11"/>
          </p:nvPr>
        </p:nvSpPr>
        <p:spPr/>
        <p:txBody>
          <a:bodyPr/>
          <a:lstStyle/>
          <a:p>
            <a:r>
              <a:rPr lang="en-IN"/>
              <a:t>UNIT I</a:t>
            </a:r>
          </a:p>
        </p:txBody>
      </p:sp>
      <p:sp>
        <p:nvSpPr>
          <p:cNvPr id="5" name="Slide Number Placeholder 4"/>
          <p:cNvSpPr>
            <a:spLocks noGrp="1"/>
          </p:cNvSpPr>
          <p:nvPr>
            <p:ph type="sldNum" sz="quarter" idx="12"/>
          </p:nvPr>
        </p:nvSpPr>
        <p:spPr/>
        <p:txBody>
          <a:bodyPr/>
          <a:lstStyle/>
          <a:p>
            <a:fld id="{3467BBCD-0D13-431F-A782-7BE6456130A5}" type="slidenum">
              <a:rPr lang="en-IN" smtClean="0"/>
              <a:t>51</a:t>
            </a:fld>
            <a:endParaRPr lang="en-IN"/>
          </a:p>
        </p:txBody>
      </p:sp>
    </p:spTree>
    <p:extLst>
      <p:ext uri="{BB962C8B-B14F-4D97-AF65-F5344CB8AC3E}">
        <p14:creationId xmlns:p14="http://schemas.microsoft.com/office/powerpoint/2010/main" val="255342237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IN"/>
              <a:t>UNIT I</a:t>
            </a:r>
          </a:p>
        </p:txBody>
      </p:sp>
      <p:sp>
        <p:nvSpPr>
          <p:cNvPr id="3" name="Slide Number Placeholder 2"/>
          <p:cNvSpPr>
            <a:spLocks noGrp="1"/>
          </p:cNvSpPr>
          <p:nvPr>
            <p:ph type="sldNum" sz="quarter" idx="12"/>
          </p:nvPr>
        </p:nvSpPr>
        <p:spPr/>
        <p:txBody>
          <a:bodyPr/>
          <a:lstStyle/>
          <a:p>
            <a:fld id="{3467BBCD-0D13-431F-A782-7BE6456130A5}" type="slidenum">
              <a:rPr lang="en-IN" smtClean="0"/>
              <a:t>52</a:t>
            </a:fld>
            <a:endParaRPr lang="en-IN"/>
          </a:p>
        </p:txBody>
      </p:sp>
      <p:pic>
        <p:nvPicPr>
          <p:cNvPr id="4" name="Picture 3" descr="https://media.geeksforgeeks.org/wp-content/uploads/training.png"/>
          <p:cNvPicPr/>
          <p:nvPr/>
        </p:nvPicPr>
        <p:blipFill>
          <a:blip r:embed="rId2">
            <a:extLst>
              <a:ext uri="{28A0092B-C50C-407E-A947-70E740481C1C}">
                <a14:useLocalDpi xmlns:a14="http://schemas.microsoft.com/office/drawing/2010/main" val="0"/>
              </a:ext>
            </a:extLst>
          </a:blip>
          <a:srcRect/>
          <a:stretch>
            <a:fillRect/>
          </a:stretch>
        </p:blipFill>
        <p:spPr bwMode="auto">
          <a:xfrm>
            <a:off x="179512" y="620688"/>
            <a:ext cx="8136904" cy="5328592"/>
          </a:xfrm>
          <a:prstGeom prst="rect">
            <a:avLst/>
          </a:prstGeom>
          <a:noFill/>
          <a:ln>
            <a:noFill/>
          </a:ln>
        </p:spPr>
      </p:pic>
    </p:spTree>
    <p:extLst>
      <p:ext uri="{BB962C8B-B14F-4D97-AF65-F5344CB8AC3E}">
        <p14:creationId xmlns:p14="http://schemas.microsoft.com/office/powerpoint/2010/main" val="205534465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sz="4000" dirty="0"/>
              <a:t>Agents in Artificial Intelligence</a:t>
            </a:r>
          </a:p>
        </p:txBody>
      </p:sp>
      <p:sp>
        <p:nvSpPr>
          <p:cNvPr id="3" name="Content Placeholder 2"/>
          <p:cNvSpPr>
            <a:spLocks noGrp="1"/>
          </p:cNvSpPr>
          <p:nvPr>
            <p:ph idx="1"/>
          </p:nvPr>
        </p:nvSpPr>
        <p:spPr/>
        <p:txBody>
          <a:bodyPr>
            <a:noAutofit/>
          </a:bodyPr>
          <a:lstStyle/>
          <a:p>
            <a:pPr algn="just"/>
            <a:r>
              <a:rPr lang="en-US" sz="2000" dirty="0"/>
              <a:t>Artificial intelligence is defined as a study of </a:t>
            </a:r>
            <a:r>
              <a:rPr lang="en-US" sz="2000" b="1" i="1" dirty="0">
                <a:solidFill>
                  <a:srgbClr val="0000CC"/>
                </a:solidFill>
              </a:rPr>
              <a:t>Rational agents</a:t>
            </a:r>
            <a:r>
              <a:rPr lang="en-US" sz="2000" dirty="0"/>
              <a:t>. </a:t>
            </a:r>
          </a:p>
          <a:p>
            <a:pPr lvl="1" algn="just"/>
            <a:r>
              <a:rPr lang="en-US" dirty="0"/>
              <a:t>A rational agent could be anything </a:t>
            </a:r>
            <a:r>
              <a:rPr lang="en-US" i="1" dirty="0">
                <a:solidFill>
                  <a:srgbClr val="C00000"/>
                </a:solidFill>
              </a:rPr>
              <a:t>which makes decisions</a:t>
            </a:r>
            <a:r>
              <a:rPr lang="en-US" dirty="0"/>
              <a:t>, as a person, firm, machine, or software. </a:t>
            </a:r>
          </a:p>
          <a:p>
            <a:pPr lvl="1" algn="just"/>
            <a:r>
              <a:rPr lang="en-US" dirty="0"/>
              <a:t>It </a:t>
            </a:r>
            <a:r>
              <a:rPr lang="en-US" i="1" dirty="0">
                <a:solidFill>
                  <a:srgbClr val="00B050"/>
                </a:solidFill>
                <a:effectLst>
                  <a:outerShdw blurRad="38100" dist="38100" dir="2700000" algn="tl">
                    <a:srgbClr val="000000">
                      <a:alpha val="43137"/>
                    </a:srgbClr>
                  </a:outerShdw>
                </a:effectLst>
              </a:rPr>
              <a:t>carries out an action with the best outcome after considering past and current percepts </a:t>
            </a:r>
            <a:r>
              <a:rPr lang="en-US" dirty="0"/>
              <a:t>(agent’s perceptual inputs at a given instance). </a:t>
            </a:r>
          </a:p>
          <a:p>
            <a:pPr lvl="1" algn="just"/>
            <a:r>
              <a:rPr lang="en-US" dirty="0"/>
              <a:t>An AI system is composed of an </a:t>
            </a:r>
            <a:r>
              <a:rPr lang="en-US" b="1" i="1" dirty="0">
                <a:solidFill>
                  <a:srgbClr val="7030A0"/>
                </a:solidFill>
                <a:effectLst>
                  <a:outerShdw blurRad="38100" dist="38100" dir="2700000" algn="tl">
                    <a:srgbClr val="000000">
                      <a:alpha val="43137"/>
                    </a:srgbClr>
                  </a:outerShdw>
                </a:effectLst>
              </a:rPr>
              <a:t>agent and its environment</a:t>
            </a:r>
            <a:r>
              <a:rPr lang="en-US" dirty="0"/>
              <a:t>. The agents act in their environment. The environment may contain other agents. An agent is anything that can be viewed as:</a:t>
            </a:r>
          </a:p>
          <a:p>
            <a:pPr lvl="2" algn="just"/>
            <a:r>
              <a:rPr lang="en-US" u="sng" dirty="0">
                <a:solidFill>
                  <a:schemeClr val="tx2">
                    <a:lumMod val="75000"/>
                  </a:schemeClr>
                </a:solidFill>
              </a:rPr>
              <a:t>Perceiving its environment through </a:t>
            </a:r>
            <a:r>
              <a:rPr lang="en-US" b="1" u="sng" dirty="0">
                <a:solidFill>
                  <a:srgbClr val="0000CC"/>
                </a:solidFill>
              </a:rPr>
              <a:t>sensors</a:t>
            </a:r>
            <a:r>
              <a:rPr lang="en-US" u="sng" dirty="0">
                <a:solidFill>
                  <a:schemeClr val="tx2">
                    <a:lumMod val="75000"/>
                  </a:schemeClr>
                </a:solidFill>
              </a:rPr>
              <a:t> and</a:t>
            </a:r>
          </a:p>
          <a:p>
            <a:pPr lvl="2" algn="just"/>
            <a:r>
              <a:rPr lang="en-US" u="sng" dirty="0">
                <a:solidFill>
                  <a:schemeClr val="tx2">
                    <a:lumMod val="75000"/>
                  </a:schemeClr>
                </a:solidFill>
              </a:rPr>
              <a:t>Acting upon that environment through </a:t>
            </a:r>
            <a:r>
              <a:rPr lang="en-US" b="1" u="sng" dirty="0">
                <a:solidFill>
                  <a:srgbClr val="FF0000"/>
                </a:solidFill>
              </a:rPr>
              <a:t>actuators</a:t>
            </a:r>
            <a:endParaRPr lang="en-US" u="sng" dirty="0">
              <a:solidFill>
                <a:srgbClr val="FF0000"/>
              </a:solidFill>
            </a:endParaRPr>
          </a:p>
          <a:p>
            <a:pPr algn="just"/>
            <a:endParaRPr lang="en-US" sz="2000" dirty="0"/>
          </a:p>
        </p:txBody>
      </p:sp>
      <p:sp>
        <p:nvSpPr>
          <p:cNvPr id="4" name="Footer Placeholder 3"/>
          <p:cNvSpPr>
            <a:spLocks noGrp="1"/>
          </p:cNvSpPr>
          <p:nvPr>
            <p:ph type="ftr" sz="quarter" idx="11"/>
          </p:nvPr>
        </p:nvSpPr>
        <p:spPr/>
        <p:txBody>
          <a:bodyPr/>
          <a:lstStyle/>
          <a:p>
            <a:r>
              <a:rPr lang="en-IN"/>
              <a:t>UNIT I</a:t>
            </a:r>
          </a:p>
        </p:txBody>
      </p:sp>
      <p:sp>
        <p:nvSpPr>
          <p:cNvPr id="5" name="Slide Number Placeholder 4"/>
          <p:cNvSpPr>
            <a:spLocks noGrp="1"/>
          </p:cNvSpPr>
          <p:nvPr>
            <p:ph type="sldNum" sz="quarter" idx="12"/>
          </p:nvPr>
        </p:nvSpPr>
        <p:spPr/>
        <p:txBody>
          <a:bodyPr/>
          <a:lstStyle/>
          <a:p>
            <a:fld id="{3467BBCD-0D13-431F-A782-7BE6456130A5}" type="slidenum">
              <a:rPr lang="en-IN" smtClean="0"/>
              <a:t>53</a:t>
            </a:fld>
            <a:endParaRPr lang="en-IN"/>
          </a:p>
        </p:txBody>
      </p:sp>
    </p:spTree>
    <p:extLst>
      <p:ext uri="{BB962C8B-B14F-4D97-AF65-F5344CB8AC3E}">
        <p14:creationId xmlns:p14="http://schemas.microsoft.com/office/powerpoint/2010/main" val="205291269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IN"/>
              <a:t>UNIT I</a:t>
            </a:r>
          </a:p>
        </p:txBody>
      </p:sp>
      <p:sp>
        <p:nvSpPr>
          <p:cNvPr id="3" name="Slide Number Placeholder 2"/>
          <p:cNvSpPr>
            <a:spLocks noGrp="1"/>
          </p:cNvSpPr>
          <p:nvPr>
            <p:ph type="sldNum" sz="quarter" idx="12"/>
          </p:nvPr>
        </p:nvSpPr>
        <p:spPr/>
        <p:txBody>
          <a:bodyPr/>
          <a:lstStyle/>
          <a:p>
            <a:fld id="{3467BBCD-0D13-431F-A782-7BE6456130A5}" type="slidenum">
              <a:rPr lang="en-IN" smtClean="0"/>
              <a:t>54</a:t>
            </a:fld>
            <a:endParaRPr lang="en-IN"/>
          </a:p>
        </p:txBody>
      </p:sp>
      <p:pic>
        <p:nvPicPr>
          <p:cNvPr id="4" name="Picture 3" descr="https://media.geeksforgeeks.org/wp-content/cdn-uploads/AI1.png"/>
          <p:cNvPicPr/>
          <p:nvPr/>
        </p:nvPicPr>
        <p:blipFill>
          <a:blip r:embed="rId2">
            <a:extLst>
              <a:ext uri="{28A0092B-C50C-407E-A947-70E740481C1C}">
                <a14:useLocalDpi xmlns:a14="http://schemas.microsoft.com/office/drawing/2010/main" val="0"/>
              </a:ext>
            </a:extLst>
          </a:blip>
          <a:srcRect/>
          <a:stretch>
            <a:fillRect/>
          </a:stretch>
        </p:blipFill>
        <p:spPr bwMode="auto">
          <a:xfrm>
            <a:off x="395536" y="188640"/>
            <a:ext cx="3865245" cy="3105150"/>
          </a:xfrm>
          <a:prstGeom prst="rect">
            <a:avLst/>
          </a:prstGeom>
          <a:noFill/>
          <a:ln>
            <a:noFill/>
          </a:ln>
        </p:spPr>
      </p:pic>
      <p:sp>
        <p:nvSpPr>
          <p:cNvPr id="5" name="Rectangle 4"/>
          <p:cNvSpPr/>
          <p:nvPr/>
        </p:nvSpPr>
        <p:spPr>
          <a:xfrm>
            <a:off x="4549227" y="404664"/>
            <a:ext cx="3741922" cy="369332"/>
          </a:xfrm>
          <a:prstGeom prst="rect">
            <a:avLst/>
          </a:prstGeom>
        </p:spPr>
        <p:txBody>
          <a:bodyPr wrap="none">
            <a:spAutoFit/>
          </a:bodyPr>
          <a:lstStyle/>
          <a:p>
            <a:r>
              <a:rPr lang="en-US" i="1" dirty="0">
                <a:solidFill>
                  <a:srgbClr val="0000CC"/>
                </a:solidFill>
                <a:effectLst>
                  <a:outerShdw blurRad="38100" dist="38100" dir="2700000" algn="tl">
                    <a:srgbClr val="000000">
                      <a:alpha val="43137"/>
                    </a:srgbClr>
                  </a:outerShdw>
                </a:effectLst>
              </a:rPr>
              <a:t>Agent = </a:t>
            </a:r>
            <a:r>
              <a:rPr lang="en-US" i="1" dirty="0">
                <a:solidFill>
                  <a:srgbClr val="C00000"/>
                </a:solidFill>
                <a:effectLst>
                  <a:outerShdw blurRad="38100" dist="38100" dir="2700000" algn="tl">
                    <a:srgbClr val="000000">
                      <a:alpha val="43137"/>
                    </a:srgbClr>
                  </a:outerShdw>
                </a:effectLst>
              </a:rPr>
              <a:t>Architecture</a:t>
            </a:r>
            <a:r>
              <a:rPr lang="en-US" i="1" dirty="0">
                <a:solidFill>
                  <a:srgbClr val="0000CC"/>
                </a:solidFill>
                <a:effectLst>
                  <a:outerShdw blurRad="38100" dist="38100" dir="2700000" algn="tl">
                    <a:srgbClr val="000000">
                      <a:alpha val="43137"/>
                    </a:srgbClr>
                  </a:outerShdw>
                </a:effectLst>
              </a:rPr>
              <a:t> + </a:t>
            </a:r>
            <a:r>
              <a:rPr lang="en-US" i="1" dirty="0">
                <a:solidFill>
                  <a:srgbClr val="008000"/>
                </a:solidFill>
                <a:effectLst>
                  <a:outerShdw blurRad="38100" dist="38100" dir="2700000" algn="tl">
                    <a:srgbClr val="000000">
                      <a:alpha val="43137"/>
                    </a:srgbClr>
                  </a:outerShdw>
                </a:effectLst>
              </a:rPr>
              <a:t>Agent Program</a:t>
            </a:r>
          </a:p>
        </p:txBody>
      </p:sp>
      <p:sp>
        <p:nvSpPr>
          <p:cNvPr id="6" name="Rectangle 5"/>
          <p:cNvSpPr/>
          <p:nvPr/>
        </p:nvSpPr>
        <p:spPr>
          <a:xfrm>
            <a:off x="4260781" y="1124744"/>
            <a:ext cx="4824536" cy="2862322"/>
          </a:xfrm>
          <a:prstGeom prst="rect">
            <a:avLst/>
          </a:prstGeom>
        </p:spPr>
        <p:txBody>
          <a:bodyPr wrap="square">
            <a:spAutoFit/>
          </a:bodyPr>
          <a:lstStyle/>
          <a:p>
            <a:pPr marL="285750" indent="-285750" algn="just">
              <a:buFont typeface="Arial" pitchFamily="34" charset="0"/>
              <a:buChar char="•"/>
            </a:pPr>
            <a:r>
              <a:rPr lang="en-US" b="1" dirty="0"/>
              <a:t>Architecture</a:t>
            </a:r>
            <a:r>
              <a:rPr lang="en-US" dirty="0"/>
              <a:t> is the machinery that the agent executes on. </a:t>
            </a:r>
          </a:p>
          <a:p>
            <a:pPr marL="285750" indent="-285750" algn="just">
              <a:buFont typeface="Arial" pitchFamily="34" charset="0"/>
              <a:buChar char="•"/>
            </a:pPr>
            <a:r>
              <a:rPr lang="en-US" dirty="0"/>
              <a:t>It is a device with sensors and actuators, for example : </a:t>
            </a:r>
          </a:p>
          <a:p>
            <a:pPr marL="742950" lvl="1" indent="-285750" algn="just">
              <a:buFont typeface="Arial" pitchFamily="34" charset="0"/>
              <a:buChar char="•"/>
            </a:pPr>
            <a:r>
              <a:rPr lang="en-US" i="1" dirty="0">
                <a:solidFill>
                  <a:schemeClr val="accent4">
                    <a:lumMod val="75000"/>
                  </a:schemeClr>
                </a:solidFill>
              </a:rPr>
              <a:t>Robotic car, Camera, PC</a:t>
            </a:r>
            <a:r>
              <a:rPr lang="en-US" dirty="0"/>
              <a:t>. </a:t>
            </a:r>
          </a:p>
          <a:p>
            <a:pPr marL="285750" indent="-285750" algn="just">
              <a:buFont typeface="Arial" pitchFamily="34" charset="0"/>
              <a:buChar char="•"/>
            </a:pPr>
            <a:r>
              <a:rPr lang="en-US" b="1" dirty="0"/>
              <a:t>Agent program</a:t>
            </a:r>
            <a:r>
              <a:rPr lang="en-US" dirty="0"/>
              <a:t> is an implementation of an agent function. </a:t>
            </a:r>
          </a:p>
          <a:p>
            <a:pPr marL="285750" indent="-285750" algn="just">
              <a:buFont typeface="Arial" pitchFamily="34" charset="0"/>
              <a:buChar char="•"/>
            </a:pPr>
            <a:r>
              <a:rPr lang="en-US" dirty="0"/>
              <a:t>An </a:t>
            </a:r>
            <a:r>
              <a:rPr lang="en-US" b="1" dirty="0"/>
              <a:t>agent function</a:t>
            </a:r>
            <a:r>
              <a:rPr lang="en-US" dirty="0"/>
              <a:t> is a map from the percept sequence (history of all that an agent has perceived till date) to an action.</a:t>
            </a:r>
          </a:p>
        </p:txBody>
      </p:sp>
      <p:sp>
        <p:nvSpPr>
          <p:cNvPr id="7" name="Rectangle 6"/>
          <p:cNvSpPr/>
          <p:nvPr/>
        </p:nvSpPr>
        <p:spPr>
          <a:xfrm>
            <a:off x="539552" y="3779748"/>
            <a:ext cx="2103268" cy="369332"/>
          </a:xfrm>
          <a:prstGeom prst="rect">
            <a:avLst/>
          </a:prstGeom>
        </p:spPr>
        <p:txBody>
          <a:bodyPr wrap="none">
            <a:spAutoFit/>
          </a:bodyPr>
          <a:lstStyle/>
          <a:p>
            <a:r>
              <a:rPr lang="en-US" i="1" dirty="0">
                <a:solidFill>
                  <a:srgbClr val="C00000"/>
                </a:solidFill>
                <a:effectLst>
                  <a:outerShdw blurRad="38100" dist="38100" dir="2700000" algn="tl">
                    <a:srgbClr val="000000">
                      <a:alpha val="43137"/>
                    </a:srgbClr>
                  </a:outerShdw>
                </a:effectLst>
              </a:rPr>
              <a:t>Examples of Agent:- </a:t>
            </a:r>
          </a:p>
        </p:txBody>
      </p:sp>
      <p:sp>
        <p:nvSpPr>
          <p:cNvPr id="8" name="Rectangle 7"/>
          <p:cNvSpPr/>
          <p:nvPr/>
        </p:nvSpPr>
        <p:spPr>
          <a:xfrm>
            <a:off x="179512" y="4338970"/>
            <a:ext cx="8784976" cy="1754326"/>
          </a:xfrm>
          <a:prstGeom prst="rect">
            <a:avLst/>
          </a:prstGeom>
        </p:spPr>
        <p:txBody>
          <a:bodyPr wrap="square">
            <a:spAutoFit/>
          </a:bodyPr>
          <a:lstStyle/>
          <a:p>
            <a:pPr marL="285750" indent="-285750" algn="just">
              <a:buFont typeface="Arial" pitchFamily="34" charset="0"/>
              <a:buChar char="•"/>
            </a:pPr>
            <a:r>
              <a:rPr lang="en-US" dirty="0"/>
              <a:t>A </a:t>
            </a:r>
            <a:r>
              <a:rPr lang="en-US" b="1" dirty="0"/>
              <a:t>software agent</a:t>
            </a:r>
            <a:r>
              <a:rPr lang="en-US" dirty="0"/>
              <a:t> has Keystrokes, file contents, received network packages which act as sensors and displays on the screen, files, sent network packets acting as actuators. </a:t>
            </a:r>
          </a:p>
          <a:p>
            <a:pPr marL="285750" indent="-285750" algn="just">
              <a:buFont typeface="Arial" pitchFamily="34" charset="0"/>
              <a:buChar char="•"/>
            </a:pPr>
            <a:r>
              <a:rPr lang="en-US" dirty="0"/>
              <a:t>A </a:t>
            </a:r>
            <a:r>
              <a:rPr lang="en-US" b="1" dirty="0"/>
              <a:t>Human agent</a:t>
            </a:r>
            <a:r>
              <a:rPr lang="en-US" dirty="0"/>
              <a:t> has eyes, ears, and other organs which act as sensors and hands, legs, mouth, and other body parts acting as actuators. </a:t>
            </a:r>
          </a:p>
          <a:p>
            <a:pPr marL="285750" indent="-285750" algn="just">
              <a:buFont typeface="Arial" pitchFamily="34" charset="0"/>
              <a:buChar char="•"/>
            </a:pPr>
            <a:r>
              <a:rPr lang="en-US" dirty="0"/>
              <a:t>A </a:t>
            </a:r>
            <a:r>
              <a:rPr lang="en-US" b="1" dirty="0"/>
              <a:t>Robotic agent</a:t>
            </a:r>
            <a:r>
              <a:rPr lang="en-US" dirty="0"/>
              <a:t> has Cameras and infrared range finders which act as sensors and various motors acting as actuators. </a:t>
            </a:r>
          </a:p>
        </p:txBody>
      </p:sp>
    </p:spTree>
    <p:extLst>
      <p:ext uri="{BB962C8B-B14F-4D97-AF65-F5344CB8AC3E}">
        <p14:creationId xmlns:p14="http://schemas.microsoft.com/office/powerpoint/2010/main" val="234757429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IN"/>
              <a:t>UNIT I</a:t>
            </a:r>
          </a:p>
        </p:txBody>
      </p:sp>
      <p:sp>
        <p:nvSpPr>
          <p:cNvPr id="3" name="Slide Number Placeholder 2"/>
          <p:cNvSpPr>
            <a:spLocks noGrp="1"/>
          </p:cNvSpPr>
          <p:nvPr>
            <p:ph type="sldNum" sz="quarter" idx="12"/>
          </p:nvPr>
        </p:nvSpPr>
        <p:spPr/>
        <p:txBody>
          <a:bodyPr/>
          <a:lstStyle/>
          <a:p>
            <a:fld id="{3467BBCD-0D13-431F-A782-7BE6456130A5}" type="slidenum">
              <a:rPr lang="en-IN" smtClean="0"/>
              <a:t>55</a:t>
            </a:fld>
            <a:endParaRPr lang="en-IN"/>
          </a:p>
        </p:txBody>
      </p:sp>
      <p:pic>
        <p:nvPicPr>
          <p:cNvPr id="4" name="Picture 3"/>
          <p:cNvPicPr/>
          <p:nvPr/>
        </p:nvPicPr>
        <p:blipFill>
          <a:blip r:embed="rId2">
            <a:extLst>
              <a:ext uri="{28A0092B-C50C-407E-A947-70E740481C1C}">
                <a14:useLocalDpi xmlns:a14="http://schemas.microsoft.com/office/drawing/2010/main" val="0"/>
              </a:ext>
            </a:extLst>
          </a:blip>
          <a:srcRect/>
          <a:stretch>
            <a:fillRect/>
          </a:stretch>
        </p:blipFill>
        <p:spPr bwMode="auto">
          <a:xfrm>
            <a:off x="755576" y="692696"/>
            <a:ext cx="7344816" cy="5112568"/>
          </a:xfrm>
          <a:prstGeom prst="rect">
            <a:avLst/>
          </a:prstGeom>
          <a:noFill/>
          <a:ln>
            <a:noFill/>
          </a:ln>
        </p:spPr>
      </p:pic>
    </p:spTree>
    <p:extLst>
      <p:ext uri="{BB962C8B-B14F-4D97-AF65-F5344CB8AC3E}">
        <p14:creationId xmlns:p14="http://schemas.microsoft.com/office/powerpoint/2010/main" val="184203346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Types of Agents </a:t>
            </a:r>
          </a:p>
        </p:txBody>
      </p:sp>
      <p:sp>
        <p:nvSpPr>
          <p:cNvPr id="3" name="Content Placeholder 2"/>
          <p:cNvSpPr>
            <a:spLocks noGrp="1"/>
          </p:cNvSpPr>
          <p:nvPr>
            <p:ph idx="1"/>
          </p:nvPr>
        </p:nvSpPr>
        <p:spPr/>
        <p:txBody>
          <a:bodyPr>
            <a:normAutofit/>
          </a:bodyPr>
          <a:lstStyle/>
          <a:p>
            <a:pPr lvl="0"/>
            <a:r>
              <a:rPr lang="en-US" sz="2400" dirty="0">
                <a:solidFill>
                  <a:srgbClr val="0000CC"/>
                </a:solidFill>
              </a:rPr>
              <a:t>Simple Reflex Agents</a:t>
            </a:r>
          </a:p>
          <a:p>
            <a:pPr lvl="0"/>
            <a:r>
              <a:rPr lang="en-US" sz="2400" dirty="0">
                <a:solidFill>
                  <a:srgbClr val="C00000"/>
                </a:solidFill>
              </a:rPr>
              <a:t>Model-Based Reflex Agents</a:t>
            </a:r>
          </a:p>
          <a:p>
            <a:pPr lvl="0"/>
            <a:r>
              <a:rPr lang="en-US" sz="2400" dirty="0">
                <a:solidFill>
                  <a:srgbClr val="008000"/>
                </a:solidFill>
              </a:rPr>
              <a:t>Goal-Based Agents</a:t>
            </a:r>
          </a:p>
          <a:p>
            <a:pPr lvl="0"/>
            <a:r>
              <a:rPr lang="en-US" sz="2400" dirty="0">
                <a:solidFill>
                  <a:srgbClr val="7030A0"/>
                </a:solidFill>
              </a:rPr>
              <a:t>Utility-Based Agents</a:t>
            </a:r>
          </a:p>
          <a:p>
            <a:pPr lvl="0"/>
            <a:r>
              <a:rPr lang="en-US" sz="2400" dirty="0">
                <a:solidFill>
                  <a:schemeClr val="accent2">
                    <a:lumMod val="50000"/>
                  </a:schemeClr>
                </a:solidFill>
              </a:rPr>
              <a:t>Learning Agent</a:t>
            </a:r>
          </a:p>
        </p:txBody>
      </p:sp>
      <p:sp>
        <p:nvSpPr>
          <p:cNvPr id="4" name="Footer Placeholder 3"/>
          <p:cNvSpPr>
            <a:spLocks noGrp="1"/>
          </p:cNvSpPr>
          <p:nvPr>
            <p:ph type="ftr" sz="quarter" idx="11"/>
          </p:nvPr>
        </p:nvSpPr>
        <p:spPr/>
        <p:txBody>
          <a:bodyPr/>
          <a:lstStyle/>
          <a:p>
            <a:r>
              <a:rPr lang="en-IN"/>
              <a:t>UNIT I</a:t>
            </a:r>
          </a:p>
        </p:txBody>
      </p:sp>
      <p:sp>
        <p:nvSpPr>
          <p:cNvPr id="5" name="Slide Number Placeholder 4"/>
          <p:cNvSpPr>
            <a:spLocks noGrp="1"/>
          </p:cNvSpPr>
          <p:nvPr>
            <p:ph type="sldNum" sz="quarter" idx="12"/>
          </p:nvPr>
        </p:nvSpPr>
        <p:spPr/>
        <p:txBody>
          <a:bodyPr/>
          <a:lstStyle/>
          <a:p>
            <a:fld id="{3467BBCD-0D13-431F-A782-7BE6456130A5}" type="slidenum">
              <a:rPr lang="en-IN" smtClean="0"/>
              <a:t>56</a:t>
            </a:fld>
            <a:endParaRPr lang="en-IN"/>
          </a:p>
        </p:txBody>
      </p:sp>
    </p:spTree>
    <p:extLst>
      <p:ext uri="{BB962C8B-B14F-4D97-AF65-F5344CB8AC3E}">
        <p14:creationId xmlns:p14="http://schemas.microsoft.com/office/powerpoint/2010/main" val="153939433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Simple reflex agents</a:t>
            </a:r>
          </a:p>
        </p:txBody>
      </p:sp>
      <p:sp>
        <p:nvSpPr>
          <p:cNvPr id="3" name="Content Placeholder 2"/>
          <p:cNvSpPr>
            <a:spLocks noGrp="1"/>
          </p:cNvSpPr>
          <p:nvPr>
            <p:ph idx="1"/>
          </p:nvPr>
        </p:nvSpPr>
        <p:spPr/>
        <p:txBody>
          <a:bodyPr/>
          <a:lstStyle/>
          <a:p>
            <a:pPr algn="just"/>
            <a:r>
              <a:rPr lang="en-US" dirty="0">
                <a:solidFill>
                  <a:srgbClr val="C00000"/>
                </a:solidFill>
              </a:rPr>
              <a:t>Simple reflex agents ignore the rest of the percept history and act only on the basis of the </a:t>
            </a:r>
            <a:r>
              <a:rPr lang="en-US" i="1" dirty="0">
                <a:solidFill>
                  <a:srgbClr val="00B050"/>
                </a:solidFill>
              </a:rPr>
              <a:t>current percept</a:t>
            </a:r>
            <a:r>
              <a:rPr lang="en-US" dirty="0">
                <a:solidFill>
                  <a:srgbClr val="C00000"/>
                </a:solidFill>
              </a:rPr>
              <a:t>. </a:t>
            </a:r>
          </a:p>
          <a:p>
            <a:pPr lvl="1" algn="just"/>
            <a:r>
              <a:rPr lang="en-US" dirty="0"/>
              <a:t>Percept history is the history of all that an agent has perceived till date. </a:t>
            </a:r>
          </a:p>
          <a:p>
            <a:pPr algn="just"/>
            <a:r>
              <a:rPr lang="en-US" dirty="0"/>
              <a:t>The agent function is based on the </a:t>
            </a:r>
            <a:r>
              <a:rPr lang="en-US" b="1" dirty="0"/>
              <a:t>condition-action rule</a:t>
            </a:r>
            <a:r>
              <a:rPr lang="en-US" dirty="0"/>
              <a:t>. </a:t>
            </a:r>
          </a:p>
          <a:p>
            <a:pPr lvl="1" algn="just"/>
            <a:r>
              <a:rPr lang="en-US" dirty="0"/>
              <a:t>A condition-action rule is a rule that maps a state i.e., condition to an action. </a:t>
            </a:r>
          </a:p>
          <a:p>
            <a:pPr lvl="1" algn="just"/>
            <a:r>
              <a:rPr lang="en-US" dirty="0"/>
              <a:t>If the condition is true, then the action is taken, else not. </a:t>
            </a:r>
          </a:p>
          <a:p>
            <a:pPr lvl="1" algn="just"/>
            <a:r>
              <a:rPr lang="en-US" dirty="0"/>
              <a:t>This agent function only succeeds when the environment is fully observable. </a:t>
            </a:r>
          </a:p>
        </p:txBody>
      </p:sp>
      <p:sp>
        <p:nvSpPr>
          <p:cNvPr id="4" name="Footer Placeholder 3"/>
          <p:cNvSpPr>
            <a:spLocks noGrp="1"/>
          </p:cNvSpPr>
          <p:nvPr>
            <p:ph type="ftr" sz="quarter" idx="11"/>
          </p:nvPr>
        </p:nvSpPr>
        <p:spPr/>
        <p:txBody>
          <a:bodyPr/>
          <a:lstStyle/>
          <a:p>
            <a:r>
              <a:rPr lang="en-IN"/>
              <a:t>UNIT I</a:t>
            </a:r>
          </a:p>
        </p:txBody>
      </p:sp>
      <p:sp>
        <p:nvSpPr>
          <p:cNvPr id="5" name="Slide Number Placeholder 4"/>
          <p:cNvSpPr>
            <a:spLocks noGrp="1"/>
          </p:cNvSpPr>
          <p:nvPr>
            <p:ph type="sldNum" sz="quarter" idx="12"/>
          </p:nvPr>
        </p:nvSpPr>
        <p:spPr/>
        <p:txBody>
          <a:bodyPr/>
          <a:lstStyle/>
          <a:p>
            <a:fld id="{3467BBCD-0D13-431F-A782-7BE6456130A5}" type="slidenum">
              <a:rPr lang="en-IN" smtClean="0"/>
              <a:t>57</a:t>
            </a:fld>
            <a:endParaRPr lang="en-IN"/>
          </a:p>
        </p:txBody>
      </p:sp>
    </p:spTree>
    <p:extLst>
      <p:ext uri="{BB962C8B-B14F-4D97-AF65-F5344CB8AC3E}">
        <p14:creationId xmlns:p14="http://schemas.microsoft.com/office/powerpoint/2010/main" val="300781541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IN"/>
              <a:t>UNIT I</a:t>
            </a:r>
          </a:p>
        </p:txBody>
      </p:sp>
      <p:sp>
        <p:nvSpPr>
          <p:cNvPr id="3" name="Slide Number Placeholder 2"/>
          <p:cNvSpPr>
            <a:spLocks noGrp="1"/>
          </p:cNvSpPr>
          <p:nvPr>
            <p:ph type="sldNum" sz="quarter" idx="12"/>
          </p:nvPr>
        </p:nvSpPr>
        <p:spPr/>
        <p:txBody>
          <a:bodyPr/>
          <a:lstStyle/>
          <a:p>
            <a:fld id="{3467BBCD-0D13-431F-A782-7BE6456130A5}" type="slidenum">
              <a:rPr lang="en-IN" smtClean="0"/>
              <a:t>58</a:t>
            </a:fld>
            <a:endParaRPr lang="en-IN"/>
          </a:p>
        </p:txBody>
      </p:sp>
      <p:pic>
        <p:nvPicPr>
          <p:cNvPr id="4" name="Picture 3" descr="https://media.geeksforgeeks.org/wp-content/cdn-uploads/ai3-1.png"/>
          <p:cNvPicPr/>
          <p:nvPr/>
        </p:nvPicPr>
        <p:blipFill>
          <a:blip r:embed="rId2">
            <a:extLst>
              <a:ext uri="{28A0092B-C50C-407E-A947-70E740481C1C}">
                <a14:useLocalDpi xmlns:a14="http://schemas.microsoft.com/office/drawing/2010/main" val="0"/>
              </a:ext>
            </a:extLst>
          </a:blip>
          <a:srcRect/>
          <a:stretch>
            <a:fillRect/>
          </a:stretch>
        </p:blipFill>
        <p:spPr bwMode="auto">
          <a:xfrm>
            <a:off x="683568" y="1124744"/>
            <a:ext cx="7992888" cy="4608512"/>
          </a:xfrm>
          <a:prstGeom prst="rect">
            <a:avLst/>
          </a:prstGeom>
          <a:noFill/>
          <a:ln>
            <a:noFill/>
          </a:ln>
        </p:spPr>
      </p:pic>
    </p:spTree>
    <p:extLst>
      <p:ext uri="{BB962C8B-B14F-4D97-AF65-F5344CB8AC3E}">
        <p14:creationId xmlns:p14="http://schemas.microsoft.com/office/powerpoint/2010/main" val="129692292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Model-based reflex agents</a:t>
            </a:r>
          </a:p>
        </p:txBody>
      </p:sp>
      <p:sp>
        <p:nvSpPr>
          <p:cNvPr id="3" name="Content Placeholder 2"/>
          <p:cNvSpPr>
            <a:spLocks noGrp="1"/>
          </p:cNvSpPr>
          <p:nvPr>
            <p:ph idx="1"/>
          </p:nvPr>
        </p:nvSpPr>
        <p:spPr/>
        <p:txBody>
          <a:bodyPr/>
          <a:lstStyle/>
          <a:p>
            <a:pPr algn="just"/>
            <a:r>
              <a:rPr lang="en-US" dirty="0"/>
              <a:t>It works by finding a rule whose condition matches the current situation. </a:t>
            </a:r>
          </a:p>
          <a:p>
            <a:pPr algn="just"/>
            <a:r>
              <a:rPr lang="en-US" i="1" dirty="0">
                <a:solidFill>
                  <a:srgbClr val="C00000"/>
                </a:solidFill>
              </a:rPr>
              <a:t>A model-based agent can handle </a:t>
            </a:r>
            <a:r>
              <a:rPr lang="en-US" i="1" dirty="0">
                <a:solidFill>
                  <a:srgbClr val="0000CC"/>
                </a:solidFill>
              </a:rPr>
              <a:t>partially observable environments</a:t>
            </a:r>
            <a:r>
              <a:rPr lang="en-US" i="1" dirty="0">
                <a:solidFill>
                  <a:srgbClr val="C00000"/>
                </a:solidFill>
              </a:rPr>
              <a:t> by use of model about the world</a:t>
            </a:r>
            <a:r>
              <a:rPr lang="en-US" dirty="0"/>
              <a:t>. </a:t>
            </a:r>
          </a:p>
          <a:p>
            <a:pPr algn="just"/>
            <a:r>
              <a:rPr lang="en-US" dirty="0"/>
              <a:t>The agent has to keep track of </a:t>
            </a:r>
            <a:r>
              <a:rPr lang="en-US" b="1" dirty="0"/>
              <a:t>internal state</a:t>
            </a:r>
            <a:r>
              <a:rPr lang="en-US" dirty="0"/>
              <a:t> which is adjusted by each percept and that depends on the percept history. </a:t>
            </a:r>
          </a:p>
          <a:p>
            <a:pPr algn="just"/>
            <a:r>
              <a:rPr lang="en-US" dirty="0"/>
              <a:t>The current state is stored inside the agent which maintains some kind of structure describing the part of the world which cannot be seen. </a:t>
            </a:r>
          </a:p>
          <a:p>
            <a:pPr algn="just"/>
            <a:r>
              <a:rPr lang="en-US" dirty="0"/>
              <a:t>Updating the state requires information about :</a:t>
            </a:r>
          </a:p>
          <a:p>
            <a:pPr lvl="1" algn="just"/>
            <a:r>
              <a:rPr lang="en-US" i="1" dirty="0">
                <a:solidFill>
                  <a:srgbClr val="00B050"/>
                </a:solidFill>
              </a:rPr>
              <a:t>How the world evolves in-dependently from the agent, and</a:t>
            </a:r>
          </a:p>
          <a:p>
            <a:pPr lvl="1" algn="just"/>
            <a:r>
              <a:rPr lang="en-US" i="1" dirty="0">
                <a:solidFill>
                  <a:srgbClr val="00B050"/>
                </a:solidFill>
              </a:rPr>
              <a:t>How the agent actions affects the world.</a:t>
            </a:r>
          </a:p>
          <a:p>
            <a:pPr algn="just"/>
            <a:endParaRPr lang="en-US" dirty="0"/>
          </a:p>
        </p:txBody>
      </p:sp>
      <p:sp>
        <p:nvSpPr>
          <p:cNvPr id="4" name="Footer Placeholder 3"/>
          <p:cNvSpPr>
            <a:spLocks noGrp="1"/>
          </p:cNvSpPr>
          <p:nvPr>
            <p:ph type="ftr" sz="quarter" idx="11"/>
          </p:nvPr>
        </p:nvSpPr>
        <p:spPr/>
        <p:txBody>
          <a:bodyPr/>
          <a:lstStyle/>
          <a:p>
            <a:r>
              <a:rPr lang="en-IN"/>
              <a:t>UNIT I</a:t>
            </a:r>
          </a:p>
        </p:txBody>
      </p:sp>
      <p:sp>
        <p:nvSpPr>
          <p:cNvPr id="5" name="Slide Number Placeholder 4"/>
          <p:cNvSpPr>
            <a:spLocks noGrp="1"/>
          </p:cNvSpPr>
          <p:nvPr>
            <p:ph type="sldNum" sz="quarter" idx="12"/>
          </p:nvPr>
        </p:nvSpPr>
        <p:spPr/>
        <p:txBody>
          <a:bodyPr/>
          <a:lstStyle/>
          <a:p>
            <a:fld id="{3467BBCD-0D13-431F-A782-7BE6456130A5}" type="slidenum">
              <a:rPr lang="en-IN" smtClean="0"/>
              <a:t>59</a:t>
            </a:fld>
            <a:endParaRPr lang="en-IN"/>
          </a:p>
        </p:txBody>
      </p:sp>
    </p:spTree>
    <p:extLst>
      <p:ext uri="{BB962C8B-B14F-4D97-AF65-F5344CB8AC3E}">
        <p14:creationId xmlns:p14="http://schemas.microsoft.com/office/powerpoint/2010/main" val="16694169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IN"/>
              <a:t>UNIT I</a:t>
            </a:r>
          </a:p>
        </p:txBody>
      </p:sp>
      <p:sp>
        <p:nvSpPr>
          <p:cNvPr id="3" name="Slide Number Placeholder 2"/>
          <p:cNvSpPr>
            <a:spLocks noGrp="1"/>
          </p:cNvSpPr>
          <p:nvPr>
            <p:ph type="sldNum" sz="quarter" idx="12"/>
          </p:nvPr>
        </p:nvSpPr>
        <p:spPr/>
        <p:txBody>
          <a:bodyPr/>
          <a:lstStyle/>
          <a:p>
            <a:fld id="{3467BBCD-0D13-431F-A782-7BE6456130A5}" type="slidenum">
              <a:rPr lang="en-IN" smtClean="0"/>
              <a:t>60</a:t>
            </a:fld>
            <a:endParaRPr lang="en-IN"/>
          </a:p>
        </p:txBody>
      </p:sp>
      <p:pic>
        <p:nvPicPr>
          <p:cNvPr id="4" name="Picture 3" descr="https://media.geeksforgeeks.org/wp-content/uploads/art1.png"/>
          <p:cNvPicPr/>
          <p:nvPr/>
        </p:nvPicPr>
        <p:blipFill>
          <a:blip r:embed="rId2">
            <a:extLst>
              <a:ext uri="{28A0092B-C50C-407E-A947-70E740481C1C}">
                <a14:useLocalDpi xmlns:a14="http://schemas.microsoft.com/office/drawing/2010/main" val="0"/>
              </a:ext>
            </a:extLst>
          </a:blip>
          <a:srcRect/>
          <a:stretch>
            <a:fillRect/>
          </a:stretch>
        </p:blipFill>
        <p:spPr bwMode="auto">
          <a:xfrm>
            <a:off x="971600" y="764704"/>
            <a:ext cx="6414268" cy="4504392"/>
          </a:xfrm>
          <a:prstGeom prst="rect">
            <a:avLst/>
          </a:prstGeom>
          <a:noFill/>
          <a:ln>
            <a:noFill/>
          </a:ln>
        </p:spPr>
      </p:pic>
    </p:spTree>
    <p:extLst>
      <p:ext uri="{BB962C8B-B14F-4D97-AF65-F5344CB8AC3E}">
        <p14:creationId xmlns:p14="http://schemas.microsoft.com/office/powerpoint/2010/main" val="86319632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Goal-based agents</a:t>
            </a:r>
          </a:p>
        </p:txBody>
      </p:sp>
      <p:sp>
        <p:nvSpPr>
          <p:cNvPr id="3" name="Content Placeholder 2"/>
          <p:cNvSpPr>
            <a:spLocks noGrp="1"/>
          </p:cNvSpPr>
          <p:nvPr>
            <p:ph idx="1"/>
          </p:nvPr>
        </p:nvSpPr>
        <p:spPr/>
        <p:txBody>
          <a:bodyPr/>
          <a:lstStyle/>
          <a:p>
            <a:pPr algn="just"/>
            <a:r>
              <a:rPr lang="en-US" dirty="0"/>
              <a:t>These kind of agents take decision based on how far they are currently from their </a:t>
            </a:r>
            <a:r>
              <a:rPr lang="en-US" b="1" dirty="0"/>
              <a:t>goal</a:t>
            </a:r>
            <a:r>
              <a:rPr lang="en-US" dirty="0"/>
              <a:t>(description of desirable situations). </a:t>
            </a:r>
          </a:p>
          <a:p>
            <a:pPr algn="just"/>
            <a:r>
              <a:rPr lang="en-US" dirty="0"/>
              <a:t>Their every action is intended to reduce its distance from the goal. </a:t>
            </a:r>
          </a:p>
          <a:p>
            <a:pPr algn="just"/>
            <a:r>
              <a:rPr lang="en-US" dirty="0"/>
              <a:t>This allows the agent a way to choose among multiple possibilities, selecting the one which reaches a goal state. </a:t>
            </a:r>
          </a:p>
          <a:p>
            <a:pPr algn="just"/>
            <a:r>
              <a:rPr lang="en-US" dirty="0"/>
              <a:t>The knowledge that supports its decisions is represented explicitly and can be modified, which makes these agents more flexible. </a:t>
            </a:r>
          </a:p>
          <a:p>
            <a:pPr algn="just"/>
            <a:r>
              <a:rPr lang="en-US" dirty="0"/>
              <a:t>They usually require search and planning. </a:t>
            </a:r>
          </a:p>
          <a:p>
            <a:pPr algn="just"/>
            <a:r>
              <a:rPr lang="en-US" dirty="0"/>
              <a:t>The goal-based agent’s behavior can easily be changed.</a:t>
            </a:r>
            <a:br>
              <a:rPr lang="en-US" dirty="0"/>
            </a:br>
            <a:endParaRPr lang="en-US" dirty="0"/>
          </a:p>
        </p:txBody>
      </p:sp>
      <p:sp>
        <p:nvSpPr>
          <p:cNvPr id="4" name="Footer Placeholder 3"/>
          <p:cNvSpPr>
            <a:spLocks noGrp="1"/>
          </p:cNvSpPr>
          <p:nvPr>
            <p:ph type="ftr" sz="quarter" idx="11"/>
          </p:nvPr>
        </p:nvSpPr>
        <p:spPr/>
        <p:txBody>
          <a:bodyPr/>
          <a:lstStyle/>
          <a:p>
            <a:r>
              <a:rPr lang="en-IN"/>
              <a:t>UNIT I</a:t>
            </a:r>
          </a:p>
        </p:txBody>
      </p:sp>
      <p:sp>
        <p:nvSpPr>
          <p:cNvPr id="5" name="Slide Number Placeholder 4"/>
          <p:cNvSpPr>
            <a:spLocks noGrp="1"/>
          </p:cNvSpPr>
          <p:nvPr>
            <p:ph type="sldNum" sz="quarter" idx="12"/>
          </p:nvPr>
        </p:nvSpPr>
        <p:spPr/>
        <p:txBody>
          <a:bodyPr/>
          <a:lstStyle/>
          <a:p>
            <a:fld id="{3467BBCD-0D13-431F-A782-7BE6456130A5}" type="slidenum">
              <a:rPr lang="en-IN" smtClean="0"/>
              <a:t>61</a:t>
            </a:fld>
            <a:endParaRPr lang="en-IN"/>
          </a:p>
        </p:txBody>
      </p:sp>
    </p:spTree>
    <p:extLst>
      <p:ext uri="{BB962C8B-B14F-4D97-AF65-F5344CB8AC3E}">
        <p14:creationId xmlns:p14="http://schemas.microsoft.com/office/powerpoint/2010/main" val="34915324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IN"/>
              <a:t>UNIT I</a:t>
            </a:r>
          </a:p>
        </p:txBody>
      </p:sp>
      <p:sp>
        <p:nvSpPr>
          <p:cNvPr id="3" name="Slide Number Placeholder 2"/>
          <p:cNvSpPr>
            <a:spLocks noGrp="1"/>
          </p:cNvSpPr>
          <p:nvPr>
            <p:ph type="sldNum" sz="quarter" idx="12"/>
          </p:nvPr>
        </p:nvSpPr>
        <p:spPr/>
        <p:txBody>
          <a:bodyPr/>
          <a:lstStyle/>
          <a:p>
            <a:fld id="{3467BBCD-0D13-431F-A782-7BE6456130A5}" type="slidenum">
              <a:rPr lang="en-IN" smtClean="0"/>
              <a:t>62</a:t>
            </a:fld>
            <a:endParaRPr lang="en-IN"/>
          </a:p>
        </p:txBody>
      </p:sp>
      <p:pic>
        <p:nvPicPr>
          <p:cNvPr id="4" name="Picture 3" descr="https://media.geeksforgeeks.org/wp-content/uploads/art2.png"/>
          <p:cNvPicPr/>
          <p:nvPr/>
        </p:nvPicPr>
        <p:blipFill>
          <a:blip r:embed="rId2">
            <a:extLst>
              <a:ext uri="{28A0092B-C50C-407E-A947-70E740481C1C}">
                <a14:useLocalDpi xmlns:a14="http://schemas.microsoft.com/office/drawing/2010/main" val="0"/>
              </a:ext>
            </a:extLst>
          </a:blip>
          <a:srcRect/>
          <a:stretch>
            <a:fillRect/>
          </a:stretch>
        </p:blipFill>
        <p:spPr bwMode="auto">
          <a:xfrm>
            <a:off x="539552" y="836712"/>
            <a:ext cx="7811194" cy="4638252"/>
          </a:xfrm>
          <a:prstGeom prst="rect">
            <a:avLst/>
          </a:prstGeom>
          <a:noFill/>
          <a:ln>
            <a:noFill/>
          </a:ln>
        </p:spPr>
      </p:pic>
    </p:spTree>
    <p:extLst>
      <p:ext uri="{BB962C8B-B14F-4D97-AF65-F5344CB8AC3E}">
        <p14:creationId xmlns:p14="http://schemas.microsoft.com/office/powerpoint/2010/main" val="354589266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Utility-based agents</a:t>
            </a:r>
          </a:p>
        </p:txBody>
      </p:sp>
      <p:sp>
        <p:nvSpPr>
          <p:cNvPr id="3" name="Content Placeholder 2"/>
          <p:cNvSpPr>
            <a:spLocks noGrp="1"/>
          </p:cNvSpPr>
          <p:nvPr>
            <p:ph idx="1"/>
          </p:nvPr>
        </p:nvSpPr>
        <p:spPr/>
        <p:txBody>
          <a:bodyPr>
            <a:normAutofit fontScale="92500"/>
          </a:bodyPr>
          <a:lstStyle/>
          <a:p>
            <a:pPr algn="just"/>
            <a:r>
              <a:rPr lang="en-US" dirty="0"/>
              <a:t>The agents which are developed having their end uses as building blocks are called utility based agents. </a:t>
            </a:r>
          </a:p>
          <a:p>
            <a:pPr algn="just"/>
            <a:r>
              <a:rPr lang="en-US" dirty="0"/>
              <a:t>When there are multiple possible alternatives, then to decide which one is best, utility-based agents are used.</a:t>
            </a:r>
          </a:p>
          <a:p>
            <a:pPr algn="just"/>
            <a:r>
              <a:rPr lang="en-US" dirty="0"/>
              <a:t>They choose actions based on a </a:t>
            </a:r>
            <a:r>
              <a:rPr lang="en-US" b="1" dirty="0"/>
              <a:t>preference (utility)</a:t>
            </a:r>
            <a:r>
              <a:rPr lang="en-US" dirty="0"/>
              <a:t> for each state. </a:t>
            </a:r>
          </a:p>
          <a:p>
            <a:pPr algn="just"/>
            <a:r>
              <a:rPr lang="en-US" dirty="0"/>
              <a:t>Sometimes achieving the desired goal is not enough. </a:t>
            </a:r>
          </a:p>
          <a:p>
            <a:pPr algn="just"/>
            <a:r>
              <a:rPr lang="en-US" dirty="0"/>
              <a:t>We may look for a quicker, safer, cheaper trip to reach a destination. </a:t>
            </a:r>
          </a:p>
          <a:p>
            <a:pPr algn="just"/>
            <a:r>
              <a:rPr lang="en-US" dirty="0"/>
              <a:t>Agent happiness should be taken into consideration. </a:t>
            </a:r>
          </a:p>
          <a:p>
            <a:pPr algn="just"/>
            <a:r>
              <a:rPr lang="en-US" dirty="0"/>
              <a:t>Utility describes how </a:t>
            </a:r>
            <a:r>
              <a:rPr lang="en-US" b="1" dirty="0"/>
              <a:t>“happy”</a:t>
            </a:r>
            <a:r>
              <a:rPr lang="en-US" dirty="0"/>
              <a:t> the agent is. </a:t>
            </a:r>
          </a:p>
          <a:p>
            <a:pPr algn="just"/>
            <a:r>
              <a:rPr lang="en-US" dirty="0"/>
              <a:t>Because of the uncertainty in the world, a utility agent chooses the action that maximizes the expected utility. </a:t>
            </a:r>
          </a:p>
          <a:p>
            <a:pPr algn="just"/>
            <a:r>
              <a:rPr lang="en-US" dirty="0"/>
              <a:t>A utility function maps a state onto a real number which describes the associated degree of happiness. </a:t>
            </a:r>
          </a:p>
          <a:p>
            <a:pPr algn="just"/>
            <a:endParaRPr lang="en-US" dirty="0"/>
          </a:p>
        </p:txBody>
      </p:sp>
      <p:sp>
        <p:nvSpPr>
          <p:cNvPr id="4" name="Footer Placeholder 3"/>
          <p:cNvSpPr>
            <a:spLocks noGrp="1"/>
          </p:cNvSpPr>
          <p:nvPr>
            <p:ph type="ftr" sz="quarter" idx="11"/>
          </p:nvPr>
        </p:nvSpPr>
        <p:spPr/>
        <p:txBody>
          <a:bodyPr/>
          <a:lstStyle/>
          <a:p>
            <a:r>
              <a:rPr lang="en-IN"/>
              <a:t>UNIT I</a:t>
            </a:r>
          </a:p>
        </p:txBody>
      </p:sp>
      <p:sp>
        <p:nvSpPr>
          <p:cNvPr id="5" name="Slide Number Placeholder 4"/>
          <p:cNvSpPr>
            <a:spLocks noGrp="1"/>
          </p:cNvSpPr>
          <p:nvPr>
            <p:ph type="sldNum" sz="quarter" idx="12"/>
          </p:nvPr>
        </p:nvSpPr>
        <p:spPr/>
        <p:txBody>
          <a:bodyPr/>
          <a:lstStyle/>
          <a:p>
            <a:fld id="{3467BBCD-0D13-431F-A782-7BE6456130A5}" type="slidenum">
              <a:rPr lang="en-IN" smtClean="0"/>
              <a:t>63</a:t>
            </a:fld>
            <a:endParaRPr lang="en-IN"/>
          </a:p>
        </p:txBody>
      </p:sp>
    </p:spTree>
    <p:extLst>
      <p:ext uri="{BB962C8B-B14F-4D97-AF65-F5344CB8AC3E}">
        <p14:creationId xmlns:p14="http://schemas.microsoft.com/office/powerpoint/2010/main" val="182575321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IN"/>
              <a:t>UNIT I</a:t>
            </a:r>
          </a:p>
        </p:txBody>
      </p:sp>
      <p:sp>
        <p:nvSpPr>
          <p:cNvPr id="3" name="Slide Number Placeholder 2"/>
          <p:cNvSpPr>
            <a:spLocks noGrp="1"/>
          </p:cNvSpPr>
          <p:nvPr>
            <p:ph type="sldNum" sz="quarter" idx="12"/>
          </p:nvPr>
        </p:nvSpPr>
        <p:spPr/>
        <p:txBody>
          <a:bodyPr/>
          <a:lstStyle/>
          <a:p>
            <a:fld id="{3467BBCD-0D13-431F-A782-7BE6456130A5}" type="slidenum">
              <a:rPr lang="en-IN" smtClean="0"/>
              <a:t>64</a:t>
            </a:fld>
            <a:endParaRPr lang="en-IN"/>
          </a:p>
        </p:txBody>
      </p:sp>
      <p:pic>
        <p:nvPicPr>
          <p:cNvPr id="4" name="Picture 3" descr="https://media.geeksforgeeks.org/wp-content/uploads/art3.png"/>
          <p:cNvPicPr/>
          <p:nvPr/>
        </p:nvPicPr>
        <p:blipFill>
          <a:blip r:embed="rId2">
            <a:extLst>
              <a:ext uri="{28A0092B-C50C-407E-A947-70E740481C1C}">
                <a14:useLocalDpi xmlns:a14="http://schemas.microsoft.com/office/drawing/2010/main" val="0"/>
              </a:ext>
            </a:extLst>
          </a:blip>
          <a:srcRect/>
          <a:stretch>
            <a:fillRect/>
          </a:stretch>
        </p:blipFill>
        <p:spPr bwMode="auto">
          <a:xfrm>
            <a:off x="755576" y="548680"/>
            <a:ext cx="7707361" cy="5616624"/>
          </a:xfrm>
          <a:prstGeom prst="rect">
            <a:avLst/>
          </a:prstGeom>
          <a:noFill/>
          <a:ln>
            <a:noFill/>
          </a:ln>
        </p:spPr>
      </p:pic>
    </p:spTree>
    <p:extLst>
      <p:ext uri="{BB962C8B-B14F-4D97-AF65-F5344CB8AC3E}">
        <p14:creationId xmlns:p14="http://schemas.microsoft.com/office/powerpoint/2010/main" val="78311213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Learning Agent</a:t>
            </a:r>
          </a:p>
        </p:txBody>
      </p:sp>
      <p:sp>
        <p:nvSpPr>
          <p:cNvPr id="3" name="Content Placeholder 2"/>
          <p:cNvSpPr>
            <a:spLocks noGrp="1"/>
          </p:cNvSpPr>
          <p:nvPr>
            <p:ph idx="1"/>
          </p:nvPr>
        </p:nvSpPr>
        <p:spPr/>
        <p:txBody>
          <a:bodyPr>
            <a:normAutofit fontScale="92500" lnSpcReduction="10000"/>
          </a:bodyPr>
          <a:lstStyle/>
          <a:p>
            <a:pPr algn="just"/>
            <a:r>
              <a:rPr lang="en-US" dirty="0"/>
              <a:t>A learning agent in AI is the type of agent which can learn from its past experiences or it has learning capabilities.</a:t>
            </a:r>
          </a:p>
          <a:p>
            <a:pPr algn="just"/>
            <a:r>
              <a:rPr lang="en-US" dirty="0"/>
              <a:t>It starts to act with basic knowledge and then able to act and adapt automatically through learning.</a:t>
            </a:r>
          </a:p>
          <a:p>
            <a:pPr algn="just"/>
            <a:r>
              <a:rPr lang="en-US" dirty="0"/>
              <a:t>A learning agent has mainly four conceptual components, which are:</a:t>
            </a:r>
          </a:p>
          <a:p>
            <a:pPr lvl="1" algn="just"/>
            <a:r>
              <a:rPr lang="en-US" b="1" i="1" dirty="0">
                <a:solidFill>
                  <a:srgbClr val="0000CC"/>
                </a:solidFill>
              </a:rPr>
              <a:t>Learning element </a:t>
            </a:r>
            <a:r>
              <a:rPr lang="en-US" b="1" dirty="0"/>
              <a:t>:</a:t>
            </a:r>
          </a:p>
          <a:p>
            <a:pPr lvl="2" algn="just"/>
            <a:r>
              <a:rPr lang="en-US" dirty="0"/>
              <a:t>It is responsible for making improvements by learning from the environment </a:t>
            </a:r>
          </a:p>
          <a:p>
            <a:pPr lvl="1" algn="just"/>
            <a:r>
              <a:rPr lang="en-US" b="1" i="1" dirty="0">
                <a:solidFill>
                  <a:srgbClr val="0000CC"/>
                </a:solidFill>
              </a:rPr>
              <a:t>Critic</a:t>
            </a:r>
            <a:r>
              <a:rPr lang="en-US" b="1" dirty="0"/>
              <a:t>: </a:t>
            </a:r>
          </a:p>
          <a:p>
            <a:pPr lvl="2" algn="just"/>
            <a:r>
              <a:rPr lang="en-US" dirty="0"/>
              <a:t>Learning element takes feedback from critic which describes how well the agent is doing with respect to a fixed performance standard.</a:t>
            </a:r>
          </a:p>
          <a:p>
            <a:pPr lvl="1" algn="just"/>
            <a:r>
              <a:rPr lang="en-US" b="1" i="1" dirty="0">
                <a:solidFill>
                  <a:srgbClr val="0000CC"/>
                </a:solidFill>
              </a:rPr>
              <a:t>Performance element</a:t>
            </a:r>
            <a:r>
              <a:rPr lang="en-US" b="1" dirty="0"/>
              <a:t>:</a:t>
            </a:r>
            <a:r>
              <a:rPr lang="en-US" dirty="0"/>
              <a:t> </a:t>
            </a:r>
          </a:p>
          <a:p>
            <a:pPr lvl="2" algn="just"/>
            <a:r>
              <a:rPr lang="en-US" dirty="0"/>
              <a:t>It is responsible for selecting external action</a:t>
            </a:r>
          </a:p>
          <a:p>
            <a:pPr lvl="1" algn="just"/>
            <a:r>
              <a:rPr lang="en-US" b="1" i="1" dirty="0">
                <a:solidFill>
                  <a:srgbClr val="0000CC"/>
                </a:solidFill>
              </a:rPr>
              <a:t>Problem Generator</a:t>
            </a:r>
            <a:r>
              <a:rPr lang="en-US" b="1" dirty="0"/>
              <a:t>:</a:t>
            </a:r>
            <a:r>
              <a:rPr lang="en-US" dirty="0"/>
              <a:t> </a:t>
            </a:r>
          </a:p>
          <a:p>
            <a:pPr lvl="2" algn="just"/>
            <a:r>
              <a:rPr lang="en-US" dirty="0"/>
              <a:t>This component is responsible for suggesting actions that will lead to new and informative experiences.</a:t>
            </a:r>
          </a:p>
          <a:p>
            <a:pPr algn="just"/>
            <a:endParaRPr lang="en-US" dirty="0"/>
          </a:p>
        </p:txBody>
      </p:sp>
      <p:sp>
        <p:nvSpPr>
          <p:cNvPr id="4" name="Footer Placeholder 3"/>
          <p:cNvSpPr>
            <a:spLocks noGrp="1"/>
          </p:cNvSpPr>
          <p:nvPr>
            <p:ph type="ftr" sz="quarter" idx="11"/>
          </p:nvPr>
        </p:nvSpPr>
        <p:spPr/>
        <p:txBody>
          <a:bodyPr/>
          <a:lstStyle/>
          <a:p>
            <a:r>
              <a:rPr lang="en-IN"/>
              <a:t>UNIT I</a:t>
            </a:r>
          </a:p>
        </p:txBody>
      </p:sp>
      <p:sp>
        <p:nvSpPr>
          <p:cNvPr id="5" name="Slide Number Placeholder 4"/>
          <p:cNvSpPr>
            <a:spLocks noGrp="1"/>
          </p:cNvSpPr>
          <p:nvPr>
            <p:ph type="sldNum" sz="quarter" idx="12"/>
          </p:nvPr>
        </p:nvSpPr>
        <p:spPr/>
        <p:txBody>
          <a:bodyPr/>
          <a:lstStyle/>
          <a:p>
            <a:fld id="{3467BBCD-0D13-431F-A782-7BE6456130A5}" type="slidenum">
              <a:rPr lang="en-IN" smtClean="0"/>
              <a:t>65</a:t>
            </a:fld>
            <a:endParaRPr lang="en-IN"/>
          </a:p>
        </p:txBody>
      </p:sp>
    </p:spTree>
    <p:extLst>
      <p:ext uri="{BB962C8B-B14F-4D97-AF65-F5344CB8AC3E}">
        <p14:creationId xmlns:p14="http://schemas.microsoft.com/office/powerpoint/2010/main" val="181363698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IN"/>
              <a:t>UNIT I</a:t>
            </a:r>
          </a:p>
        </p:txBody>
      </p:sp>
      <p:sp>
        <p:nvSpPr>
          <p:cNvPr id="3" name="Slide Number Placeholder 2"/>
          <p:cNvSpPr>
            <a:spLocks noGrp="1"/>
          </p:cNvSpPr>
          <p:nvPr>
            <p:ph type="sldNum" sz="quarter" idx="12"/>
          </p:nvPr>
        </p:nvSpPr>
        <p:spPr/>
        <p:txBody>
          <a:bodyPr/>
          <a:lstStyle/>
          <a:p>
            <a:fld id="{3467BBCD-0D13-431F-A782-7BE6456130A5}" type="slidenum">
              <a:rPr lang="en-IN" smtClean="0"/>
              <a:t>66</a:t>
            </a:fld>
            <a:endParaRPr lang="en-IN"/>
          </a:p>
        </p:txBody>
      </p:sp>
      <p:pic>
        <p:nvPicPr>
          <p:cNvPr id="4" name="Picture 3" descr="https://media.geeksforgeeks.org/wp-content/uploads/20190704232940/learning-agent-300x215.png"/>
          <p:cNvPicPr/>
          <p:nvPr/>
        </p:nvPicPr>
        <p:blipFill>
          <a:blip r:embed="rId2">
            <a:extLst>
              <a:ext uri="{28A0092B-C50C-407E-A947-70E740481C1C}">
                <a14:useLocalDpi xmlns:a14="http://schemas.microsoft.com/office/drawing/2010/main" val="0"/>
              </a:ext>
            </a:extLst>
          </a:blip>
          <a:srcRect/>
          <a:stretch>
            <a:fillRect/>
          </a:stretch>
        </p:blipFill>
        <p:spPr bwMode="auto">
          <a:xfrm>
            <a:off x="2051720" y="1772816"/>
            <a:ext cx="4392488" cy="2952328"/>
          </a:xfrm>
          <a:prstGeom prst="rect">
            <a:avLst/>
          </a:prstGeom>
          <a:noFill/>
          <a:ln>
            <a:noFill/>
          </a:ln>
        </p:spPr>
      </p:pic>
    </p:spTree>
    <p:extLst>
      <p:ext uri="{BB962C8B-B14F-4D97-AF65-F5344CB8AC3E}">
        <p14:creationId xmlns:p14="http://schemas.microsoft.com/office/powerpoint/2010/main" val="97327900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djacency">
  <a:themeElements>
    <a:clrScheme name="Adjacency">
      <a:dk1>
        <a:srgbClr val="2F2B20"/>
      </a:dk1>
      <a:lt1>
        <a:srgbClr val="FFFFFF"/>
      </a:lt1>
      <a:dk2>
        <a:srgbClr val="675E47"/>
      </a:dk2>
      <a:lt2>
        <a:srgbClr val="DFDCB7"/>
      </a:lt2>
      <a:accent1>
        <a:srgbClr val="A9A57C"/>
      </a:accent1>
      <a:accent2>
        <a:srgbClr val="9CBEBD"/>
      </a:accent2>
      <a:accent3>
        <a:srgbClr val="D2CB6C"/>
      </a:accent3>
      <a:accent4>
        <a:srgbClr val="95A39D"/>
      </a:accent4>
      <a:accent5>
        <a:srgbClr val="C89F5D"/>
      </a:accent5>
      <a:accent6>
        <a:srgbClr val="B1A089"/>
      </a:accent6>
      <a:hlink>
        <a:srgbClr val="D25814"/>
      </a:hlink>
      <a:folHlink>
        <a:srgbClr val="849A0A"/>
      </a:folHlink>
    </a:clrScheme>
    <a:fontScheme name="Office">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djacency">
      <a:fillStyleLst>
        <a:solidFill>
          <a:schemeClr val="phClr"/>
        </a:solidFill>
        <a:solidFill>
          <a:schemeClr val="phClr">
            <a:tint val="55000"/>
          </a:schemeClr>
        </a:solidFill>
        <a:solidFill>
          <a:schemeClr val="phClr"/>
        </a:soli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50800" dist="25400" algn="bl" rotWithShape="0">
              <a:srgbClr val="000000">
                <a:alpha val="60000"/>
              </a:srgbClr>
            </a:outerShdw>
          </a:effectLst>
        </a:effectStyle>
        <a:effectStyle>
          <a:effectLst/>
          <a:scene3d>
            <a:camera prst="orthographicFront">
              <a:rot lat="0" lon="0" rev="0"/>
            </a:camera>
            <a:lightRig rig="brightRoom" dir="tl">
              <a:rot lat="0" lon="0" rev="1800000"/>
            </a:lightRig>
          </a:scene3d>
          <a:sp3d contourW="10160" prstMaterial="dkEdge">
            <a:bevelT w="38100" h="50800" prst="angle"/>
            <a:contourClr>
              <a:schemeClr val="phClr">
                <a:shade val="40000"/>
                <a:satMod val="150000"/>
              </a:schemeClr>
            </a:contourClr>
          </a:sp3d>
        </a:effectStyle>
      </a:effectStyleLst>
      <a:bgFillStyleLst>
        <a:solidFill>
          <a:schemeClr val="phClr"/>
        </a:solidFill>
        <a:gradFill rotWithShape="1">
          <a:gsLst>
            <a:gs pos="0">
              <a:schemeClr val="phClr">
                <a:tint val="90000"/>
              </a:schemeClr>
            </a:gs>
            <a:gs pos="75000">
              <a:schemeClr val="phClr">
                <a:shade val="100000"/>
                <a:satMod val="115000"/>
              </a:schemeClr>
            </a:gs>
            <a:gs pos="100000">
              <a:schemeClr val="phClr">
                <a:shade val="70000"/>
                <a:satMod val="130000"/>
              </a:schemeClr>
            </a:gs>
          </a:gsLst>
          <a:path path="circle">
            <a:fillToRect l="20000" t="50000" r="100000" b="50000"/>
          </a:path>
        </a:gradFill>
        <a:blipFill rotWithShape="1">
          <a:blip xmlns:r="http://schemas.openxmlformats.org/officeDocument/2006/relationships" r:embed="rId1">
            <a:duotone>
              <a:schemeClr val="phClr">
                <a:tint val="97000"/>
              </a:schemeClr>
              <a:schemeClr val="phClr">
                <a:shade val="96000"/>
              </a:schemeClr>
            </a:duotone>
          </a:blip>
          <a:tile tx="0" ty="0" sx="32000" sy="32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Adjacency</Template>
  <TotalTime>1094</TotalTime>
  <Words>5027</Words>
  <Application>Microsoft Office PowerPoint</Application>
  <PresentationFormat>On-screen Show (4:3)</PresentationFormat>
  <Paragraphs>562</Paragraphs>
  <Slides>66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66</vt:i4>
      </vt:variant>
    </vt:vector>
  </HeadingPairs>
  <TitlesOfParts>
    <vt:vector size="70" baseType="lpstr">
      <vt:lpstr>Arial</vt:lpstr>
      <vt:lpstr>Calibri</vt:lpstr>
      <vt:lpstr>Cambria</vt:lpstr>
      <vt:lpstr>Adjacency</vt:lpstr>
      <vt:lpstr> CSEN2031 -  ARTIFICIAL INTELLIGENCE UNIT I INTRODUCTION</vt:lpstr>
      <vt:lpstr>  Course Educational Objectives</vt:lpstr>
      <vt:lpstr>UNIT – I</vt:lpstr>
      <vt:lpstr>Artificial Intelligence </vt:lpstr>
      <vt:lpstr>Artificial Intelligence - Classification</vt:lpstr>
      <vt:lpstr>Intelligence is composed of</vt:lpstr>
      <vt:lpstr>Intelligence is composed of</vt:lpstr>
      <vt:lpstr>Intelligence is composed of</vt:lpstr>
      <vt:lpstr>Major tools &amp; methods used in AI</vt:lpstr>
      <vt:lpstr>Mathematical optimization</vt:lpstr>
      <vt:lpstr>Mathematical optimization</vt:lpstr>
      <vt:lpstr>Major tools &amp; methods used in AI</vt:lpstr>
      <vt:lpstr>Major tools &amp; methods used in AI</vt:lpstr>
      <vt:lpstr>Major tools &amp; methods used in AI</vt:lpstr>
      <vt:lpstr>Disciplines AI draws upon — what each brings</vt:lpstr>
      <vt:lpstr>Disciplines AI draws upon — what each brings</vt:lpstr>
      <vt:lpstr>Disciplines AI draws upon — what each brings</vt:lpstr>
      <vt:lpstr>Need for Artificial Intelligence</vt:lpstr>
      <vt:lpstr>Approaches to AI</vt:lpstr>
      <vt:lpstr>Rationalist Approach (Rationalism)</vt:lpstr>
      <vt:lpstr>Rationalist Approach</vt:lpstr>
      <vt:lpstr>Empiricist Approach (Empiricism)</vt:lpstr>
      <vt:lpstr>Empiricist Approach (Empiricism)</vt:lpstr>
      <vt:lpstr>Applications of AI</vt:lpstr>
      <vt:lpstr>Artificial Intelligence</vt:lpstr>
      <vt:lpstr>Artificial Intelligence</vt:lpstr>
      <vt:lpstr>Goals of AI Research</vt:lpstr>
      <vt:lpstr>Challenges of AI</vt:lpstr>
      <vt:lpstr>Reasoning, problem solving</vt:lpstr>
      <vt:lpstr>Knowledge representation</vt:lpstr>
      <vt:lpstr>Knowledge representation</vt:lpstr>
      <vt:lpstr>PowerPoint Presentation</vt:lpstr>
      <vt:lpstr>Planning</vt:lpstr>
      <vt:lpstr>Planning</vt:lpstr>
      <vt:lpstr>Machine Learning</vt:lpstr>
      <vt:lpstr>Machine Learning</vt:lpstr>
      <vt:lpstr>Machine Learning</vt:lpstr>
      <vt:lpstr>Diagram- supervised and unsupervised learning </vt:lpstr>
      <vt:lpstr>Machine Learning</vt:lpstr>
      <vt:lpstr>Machine Learning</vt:lpstr>
      <vt:lpstr>Machine Learning</vt:lpstr>
      <vt:lpstr>Machine Learning</vt:lpstr>
      <vt:lpstr>Machine Learning</vt:lpstr>
      <vt:lpstr>Machine Learning</vt:lpstr>
      <vt:lpstr>ML Algorithms</vt:lpstr>
      <vt:lpstr>ML Tools and Frameworks</vt:lpstr>
      <vt:lpstr>Natural Language Processing (NLP) </vt:lpstr>
      <vt:lpstr>How it works</vt:lpstr>
      <vt:lpstr>Applications</vt:lpstr>
      <vt:lpstr>ML - Terminologies</vt:lpstr>
      <vt:lpstr>ML - Terminologies</vt:lpstr>
      <vt:lpstr>PowerPoint Presentation</vt:lpstr>
      <vt:lpstr>Agents in Artificial Intelligence</vt:lpstr>
      <vt:lpstr>PowerPoint Presentation</vt:lpstr>
      <vt:lpstr>PowerPoint Presentation</vt:lpstr>
      <vt:lpstr>Types of Agents </vt:lpstr>
      <vt:lpstr>Simple reflex agents</vt:lpstr>
      <vt:lpstr>PowerPoint Presentation</vt:lpstr>
      <vt:lpstr>Model-based reflex agents</vt:lpstr>
      <vt:lpstr>PowerPoint Presentation</vt:lpstr>
      <vt:lpstr>Goal-based agents</vt:lpstr>
      <vt:lpstr>PowerPoint Presentation</vt:lpstr>
      <vt:lpstr>Utility-based agents</vt:lpstr>
      <vt:lpstr>PowerPoint Presentation</vt:lpstr>
      <vt:lpstr>Learning Agent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IT2032 SOFTWARE TESTING UNIT I INTRODUCTION</dc:title>
  <dc:creator>drms</dc:creator>
  <cp:lastModifiedBy>Subramaniam Muthusamy</cp:lastModifiedBy>
  <cp:revision>113</cp:revision>
  <dcterms:created xsi:type="dcterms:W3CDTF">2014-06-22T13:11:46Z</dcterms:created>
  <dcterms:modified xsi:type="dcterms:W3CDTF">2025-12-08T03:56:39Z</dcterms:modified>
</cp:coreProperties>
</file>